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59E4C"/>
                </a:solidFill>
                <a:latin typeface="Calibri"/>
              </a:defRPr>
            </a:pPr>
            <a:r>
              <a:t>TIÊN PHONG CDS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>
                <a:solidFill>
                  <a:srgbClr val="C59E4C"/>
                </a:solidFill>
                <a:latin typeface="Calibri"/>
              </a:defRPr>
            </a:pPr>
            <a:r>
              <a:t>NOVAGROUP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1371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59E4C"/>
                </a:solidFill>
                <a:latin typeface="Calibri"/>
              </a:defRPr>
            </a:pPr>
            <a:r>
              <a:t>ĐỀ XUẤT GIẢI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HUB INTEGRATION</a:t>
            </a:r>
            <a:br/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Nền tảng Tích hợp Hệ thống Tập trung cho Tập đoàn Novagroup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852160"/>
            <a:ext cx="10362895" cy="1371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603504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Tháng 03/2026   |   Phiên bản 2.0   |   Tài liệu Mật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Tóm tắt Điều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474720" cy="54864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66344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64545"/>
                </a:solidFill>
                <a:latin typeface="Calibri"/>
              </a:defRPr>
            </a:pPr>
            <a:r>
              <a:t>Thách thức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2148840"/>
            <a:ext cx="1097280" cy="13716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8+ nền tảng quản lý dữ liệu rời rạc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52928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Kết nối point-to-point phức tạp, khó bảo trì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284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Thiếu chuẩn hóa dữ liệu &amp; nghiệp vụ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03904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Không có monitoring/alert tập trung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79392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Khó mở rộng khi thêm hệ thống mới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474720" cy="54864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474720" cy="466344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6916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B82B6"/>
                </a:solidFill>
                <a:latin typeface="Calibri"/>
              </a:defRPr>
            </a:pPr>
            <a:r>
              <a:t>Giải pháp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148840"/>
            <a:ext cx="1097280" cy="13716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23774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Hub Integration Platform tập trung: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52928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1.  API Gateway (Kong/APISIX)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3284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2.  Event Streaming (Apache Kafka)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03904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3.  Workflow Engine (n8n)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79392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4.  Observability tập trung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9B8C"/>
                </a:solidFill>
                <a:latin typeface="Calibri"/>
              </a:defRPr>
            </a:pPr>
            <a:r>
              <a:rPr dirty="0"/>
              <a:t>★ 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Novator SSO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có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8229600" y="1417320"/>
            <a:ext cx="3474720" cy="54864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0" y="1463040"/>
            <a:ext cx="3474720" cy="466344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16916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8A5C"/>
                </a:solidFill>
                <a:latin typeface="Calibri"/>
              </a:defRPr>
            </a:pPr>
            <a:r>
              <a:t>Lợi ích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148840"/>
            <a:ext cx="1097280" cy="13716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3774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Giảm 70% chi phí tích hợp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852928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Tích hợp hệ thống mới: tháng → tuần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284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Monitoring &amp; alert tập trung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803904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Tiết kiệm $300K–1M USD/năm license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279392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Tận dụng Novator SSO sẵn có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BỐI CẢNH &amp;</a:t>
            </a:r>
            <a:br/>
            <a:r>
              <a:t>THÁCH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Hiện trạng hệ thống và nhu cầu tích hợp tại Novagroup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Bản đồ Hệ thống Novagroup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System Landscape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383280" cy="41148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CORE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ONENOVA (Unified Portal)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95728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CRM (Customer Mgmt)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79776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ERP (Finance &amp; 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63824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NMS (Nova Mgmt System)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3383280" cy="41148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52704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DIGITAL &amp;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eSales (E-commerce)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95728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GMS (Group Mgmt)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Voucher &amp; 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63824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Bán hàng tập trung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383280" cy="4114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152704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HR &amp; COMMS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SAP SuccessFactors (HR)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95728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ICS (Internal Comms)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79776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Training &amp; Gamification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163824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Đào tạo trực tuyến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4206240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45920" y="4206240"/>
            <a:ext cx="4023360" cy="41148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4270248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NGHIỆP VỤ CHÍNH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54879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Lead Mgmt &amp; SOP (AI)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138927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Tracking &amp; Tương tác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522975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Hợp đồng &amp; Công nợ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907023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CSKH &amp; Case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206240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0" y="4206240"/>
            <a:ext cx="4023360" cy="4114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4270248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&amp;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754879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Lead Scoring (AI)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38927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FaceID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22975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Chatbot &amp; Voice 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907023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 Dashboard Quản trị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Thách thức Tích hợp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Challenges with Current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733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Dữ liệu phân tán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8+ nền tảng quản lý dữ liệu riêng biệt,</a:t>
            </a:r>
            <a:br/>
            <a:r>
              <a:t>thiếu master data thống nhất.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6733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Kết nối Point-to-Point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Hàng trăm kết nối riêng lẻ.</a:t>
            </a:r>
            <a:br/>
            <a:r>
              <a:t>Mỗi thay đổi ảnh hưởng dây chuyền.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6733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Đồng bộ phức tạp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Lead từ CRM, hợp đồng từ ONENOVA,</a:t>
            </a:r>
            <a:br/>
            <a:r>
              <a:t>tài chính từ ERP — thiếu chuẩn hóa.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3367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Khó mở rộng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8920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Thêm hệ thống mới phải kết nối tất cả</a:t>
            </a:r>
            <a:br/>
            <a:r>
              <a:t>platform hiện có. Chi phí tăng tuyến tính.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6280" y="420624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23367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Thiếu giám sát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8920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Không có visibility về data flow.</a:t>
            </a:r>
            <a:br/>
            <a:r>
              <a:t>Lỗi phát hiện chậm, debug phức tạp.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23367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Nghiệp vụ chồng chéo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920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Voucher, Loyalty, quản lý KH ở nhiều nơi.</a:t>
            </a:r>
            <a:br/>
            <a:r>
              <a:t>Cần Hub thống nhất luồng dữ liệu.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GIẢI PHÁP</a:t>
            </a:r>
            <a:br/>
            <a:r>
              <a:t>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Nền tảng tích hợp tập trung, hiện đại, mở rộng linh hoạt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Mục tiêu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Aligned with Novagroup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Giảm kết nối chằng chịt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89888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Chuyển từ point-to-point sang hub-and-spoke.</a:t>
            </a:r>
            <a:br/>
            <a:r>
              <a:t>Mỗi hệ thống chỉ cần 1 kết nối duy nhất tới Hub.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12848"/>
            <a:ext cx="11064240" cy="731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4864" cy="64008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Dễ mở rộng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50008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Thêm hệ thống mới chỉ cần tạo 1 connector tới Hub</a:t>
            </a:r>
            <a:br/>
            <a:r>
              <a:t>thay vì N kết nối tới tất cả hệ thống hiện có.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72968"/>
            <a:ext cx="11064240" cy="731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Chuẩn hóa dữ liệu &amp; nghiệp vụ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Định nghĩa data format chuẩn, transformation rules,</a:t>
            </a:r>
            <a:br/>
            <a:r>
              <a:t>và business logic tập trung tại 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33088"/>
            <a:ext cx="11064240" cy="731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4864" cy="64008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Giám sát, logging, retry, alert tập trung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270248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Một dashboard duy nhất theo dõi toàn bộ integration flows.</a:t>
            </a:r>
            <a:br/>
            <a:r>
              <a:t>Phát hiện và xử lý lỗi trong phút thay vì ngày.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93208"/>
            <a:ext cx="11064240" cy="731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54864" cy="64008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Phù hợp chiến lược dài hạn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230368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Kiến trúc mở, cloud-native, tận dụng Novator SSO sẵn có.</a:t>
            </a:r>
            <a:br/>
            <a:r>
              <a:t>Sẵn sàng mở rộng theo chiến lược chuyển đổi số Tập đoàn.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NGUỒN DỮ LIỆU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ONENOVA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2316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46887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1752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06323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1188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0624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eSales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80060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SuccessFactors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394960"/>
            <a:ext cx="2011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54406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GMS / 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474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C59E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1280160"/>
            <a:ext cx="5760720" cy="5029200"/>
          </a:xfrm>
          <a:prstGeom prst="roundRect">
            <a:avLst/>
          </a:prstGeom>
          <a:solidFill>
            <a:srgbClr val="FAFBFD"/>
          </a:solidFill>
          <a:ln w="19050">
            <a:solidFill>
              <a:srgbClr val="3B8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13716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NVG HUB INTEGRATION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920240"/>
            <a:ext cx="5212080" cy="68580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19659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 Gateway (Kong)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286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E0E0E0"/>
                </a:solidFill>
                <a:latin typeface="Calibri"/>
              </a:defRPr>
            </a:pPr>
            <a:r>
              <a:t>Auth | Rate Limit | Routing | Transform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743200"/>
            <a:ext cx="5212080" cy="6858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2788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Event Streaming (Kafka)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1089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E0E0E0"/>
                </a:solidFill>
                <a:latin typeface="Calibri"/>
              </a:defRPr>
            </a:pPr>
            <a:r>
              <a:t>Pub/Sub | CDC | Stream 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566160"/>
            <a:ext cx="5212080" cy="68580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611879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Workflow Engine (n8n)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319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E0E0E0"/>
                </a:solidFill>
                <a:latin typeface="Calibri"/>
              </a:defRPr>
            </a:pPr>
            <a:r>
              <a:t>Orchestration | Business Logic | Retry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389120"/>
            <a:ext cx="5212080" cy="6858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44348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SSO Integration (Novator)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7548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E0E0E0"/>
                </a:solidFill>
                <a:latin typeface="Calibri"/>
              </a:defRPr>
            </a:pPr>
            <a:r>
              <a:t>OAuth2/OIDC | Token Validation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212080"/>
            <a:ext cx="5212080" cy="68580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5257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Monitoring (Prometheus + ELK)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577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E0E0E0"/>
                </a:solidFill>
                <a:latin typeface="Calibri"/>
              </a:defRPr>
            </a:pPr>
            <a:r>
              <a:t>Metrics | Logs | Tracing |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474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C59E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13716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ĐÍCH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1828800"/>
            <a:ext cx="2468880" cy="457200"/>
          </a:xfrm>
          <a:prstGeom prst="roundRect">
            <a:avLst/>
          </a:prstGeom>
          <a:solidFill>
            <a:srgbClr val="F0F9F0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Data Warehouse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2423160"/>
            <a:ext cx="2468880" cy="457200"/>
          </a:xfrm>
          <a:prstGeom prst="roundRect">
            <a:avLst/>
          </a:prstGeom>
          <a:solidFill>
            <a:srgbClr val="F0F9F0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09760" y="24688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BI Dashboard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3017520"/>
            <a:ext cx="2468880" cy="457200"/>
          </a:xfrm>
          <a:prstGeom prst="roundRect">
            <a:avLst/>
          </a:prstGeom>
          <a:solidFill>
            <a:srgbClr val="F0F9F0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09760" y="306323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3611880"/>
            <a:ext cx="2468880" cy="457200"/>
          </a:xfrm>
          <a:prstGeom prst="roundRect">
            <a:avLst/>
          </a:prstGeom>
          <a:solidFill>
            <a:srgbClr val="F0F9F0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3657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Notification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4206240"/>
            <a:ext cx="2468880" cy="457200"/>
          </a:xfrm>
          <a:prstGeom prst="roundRect">
            <a:avLst/>
          </a:prstGeom>
          <a:solidFill>
            <a:srgbClr val="F0F9F0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4251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Audit 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60350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64545"/>
                </a:solidFill>
                <a:latin typeface="Calibri"/>
              </a:defRPr>
            </a:pPr>
            <a:r>
              <a:t>* Auth delegate sang Novator SSO — không triển khai Keycloak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Thành phần Công nghệ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API Gateway &amp; Event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 API Gateway  —  Kong / APISIX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Routing &amp; Load Balancing giữa các 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Authentication delegate sang Novator SSO (OAuth2/JWT)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36976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Rate Limiting — bảo vệ backend khỏi quá tải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03904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Request/Response Transformation (XML ↔ 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1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Circuit Breaker — tự ngắt khi backend lỗi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100+ plugins mở rộng sẵn có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 Event Streaming  —  Apache 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Pub/Sub Messaging — real-time event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70048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Kafka Connect — 200+ connectors có sẵn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6976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Debezium CDC — capture thay đổi DB tự động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03904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ksqlDB — stream processing &amp; 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70831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Throughput hàng triệu message/giây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9377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Message persist trên disk, replay khi cần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Thành phần Công nghệ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Workflow Engine &amp; Observability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 Workflow Engine  —  n8n (Self-hosted)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Visual Workflow Builder — kéo thả, trực quan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400+ integrations có sẵn (HTTP, DB, email...)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36976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Custom Node (TypeScript) cho nghiệp vụ NVG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03904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Error Handling &amp; Retry — Dead Letter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1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Scheduling &amp; Webhooks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Self-hosted — dữ liệu nằm trên infra NVG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 Observability  —  Prometheus + Grafana + ELK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Prometheus — thu thập metrics tự động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70048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Grafana — dashboard real-time theo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6976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ELK Stack — centralized logging, full-text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03904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Jaeger — distributed tracing xuyên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70831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Alerting qua email, Slack, SMS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9377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  On-call rotation cho đội vận hành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Tích hợp Novator 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rPr dirty="0" err="1"/>
              <a:t>Tận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Single Sign-On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Novagroup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822960"/>
          </a:xfrm>
          <a:prstGeom prst="roundRect">
            <a:avLst/>
          </a:prstGeom>
          <a:solidFill>
            <a:srgbClr val="FEF3CD"/>
          </a:solidFill>
          <a:ln w="1270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rPr dirty="0"/>
              <a:t>Thay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Keycloak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, Hub Integration </a:t>
            </a:r>
            <a:r>
              <a:rPr dirty="0" err="1"/>
              <a:t>sẽ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Novator SSO —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đang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Novagroup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Phương thức tích hợp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2286000" cy="1371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OAuth2/OIDC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2743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Kong validate JWT token từ Novator,</a:t>
            </a:r>
            <a:br/>
            <a:r>
              <a:t>không cần user login lại.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Token Forwarding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22191"/>
            <a:ext cx="2743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Request từ client mang token Novator →</a:t>
            </a:r>
            <a:br/>
            <a:r>
              <a:t>Kong validate → forward tới backends.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2686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Role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626864"/>
            <a:ext cx="2743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Map roles từ Novator sang permission</a:t>
            </a:r>
            <a:br/>
            <a:r>
              <a:t>levels trong Hub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Service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431536"/>
            <a:ext cx="2743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Giao tiếp nội bộ giữa services</a:t>
            </a:r>
            <a:br/>
            <a:r>
              <a:t>qua API Key hoặc mTLS.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So sánh phương án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834640"/>
            <a:ext cx="2286000" cy="1371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017520"/>
            <a:ext cx="173736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3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173736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3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Keycloak mới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017520"/>
            <a:ext cx="192024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3063239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Novator 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47872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593591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Chi phí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547872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593591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Cao (setup, migration)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3547872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49840" y="3593591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A8A5C"/>
                </a:solidFill>
                <a:latin typeface="Calibri"/>
              </a:defRPr>
            </a:pPr>
            <a:r>
              <a:t>Thấp (chỉ build connector)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78224"/>
            <a:ext cx="173736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12394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Thời gian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078224"/>
            <a:ext cx="173736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412394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4–6 tuần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4078224"/>
            <a:ext cx="1920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4123944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A8A5C"/>
                </a:solidFill>
                <a:latin typeface="Calibri"/>
              </a:defRPr>
            </a:pPr>
            <a:r>
              <a:t>1–2 tuần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608575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654295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Trải nghiệm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608575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4654295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User đăng nhập 2 lần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4608575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4654295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A8A5C"/>
                </a:solidFill>
                <a:latin typeface="Calibri"/>
              </a:defRPr>
            </a:pPr>
            <a:r>
              <a:t>Seamless, dùng account có sẵn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138927"/>
            <a:ext cx="173736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5184647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Bảo trì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138927"/>
            <a:ext cx="173736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5184647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Thêm 1 hệ thống maintain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5138927"/>
            <a:ext cx="1920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49840" y="5184647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A8A5C"/>
                </a:solidFill>
                <a:latin typeface="Calibri"/>
              </a:defRPr>
            </a:pPr>
            <a:r>
              <a:t>Không thêm hệ thống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669279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71499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Rủi 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669279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571499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Migration user, downtime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669279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5714999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A8A5C"/>
                </a:solidFill>
                <a:latin typeface="Calibri"/>
              </a:defRPr>
            </a:pPr>
            <a:r>
              <a:t>Rủi ro thấp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Các mẫu tích hợp phù hợp nhu cầu Novagroup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474720" cy="4572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B82B6"/>
                </a:solidFill>
                <a:latin typeface="Calibri"/>
              </a:defRPr>
            </a:pPr>
            <a:r>
              <a:t>Data Synchronization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1371600" cy="10972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CRM ↔ ERP,</a:t>
            </a:r>
            <a:br>
              <a:rPr dirty="0"/>
            </a:br>
            <a:r>
              <a:rPr dirty="0"/>
              <a:t>ONENOVA ↔ CRM, SuccessFactors → ERP</a:t>
            </a:r>
            <a:r>
              <a:rPr lang="en-AU" dirty="0"/>
              <a:t> </a:t>
            </a:r>
            <a:r>
              <a:rPr dirty="0"/>
              <a:t>qua CDC (</a:t>
            </a:r>
            <a:r>
              <a:rPr dirty="0" err="1"/>
              <a:t>Debezium</a:t>
            </a:r>
            <a:r>
              <a:rPr dirty="0"/>
              <a:t>) &amp; Kafka.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3474720" cy="4572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9B8C"/>
                </a:solidFill>
                <a:latin typeface="Calibri"/>
              </a:defRPr>
            </a:pPr>
            <a:r>
              <a:t>Business Orchestration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057400"/>
            <a:ext cx="1371600" cy="1097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logic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:</a:t>
            </a:r>
            <a:br>
              <a:rPr dirty="0"/>
            </a:br>
            <a:r>
              <a:rPr dirty="0"/>
              <a:t>Lead</a:t>
            </a:r>
            <a:r>
              <a:rPr lang="en-AU" dirty="0"/>
              <a:t> </a:t>
            </a:r>
            <a:r>
              <a:rPr dirty="0"/>
              <a:t>→</a:t>
            </a:r>
            <a:r>
              <a:rPr lang="en-AU" dirty="0"/>
              <a:t> </a:t>
            </a:r>
            <a:r>
              <a:rPr dirty="0"/>
              <a:t>Contract, Voucher &amp; Loyalty,</a:t>
            </a:r>
            <a:br>
              <a:rPr dirty="0"/>
            </a:br>
            <a:r>
              <a:rPr dirty="0"/>
              <a:t>CSKH routing qua n8n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474720" cy="4572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6459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8A5C"/>
                </a:solidFill>
                <a:latin typeface="Calibri"/>
              </a:defRPr>
            </a:pPr>
            <a:r>
              <a:t>Event Broadcasting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057400"/>
            <a:ext cx="1371600" cy="10972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24028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kiện</a:t>
            </a:r>
            <a:r>
              <a:rPr dirty="0"/>
              <a:t> real-time </a:t>
            </a:r>
            <a:r>
              <a:rPr dirty="0" err="1"/>
              <a:t>tới</a:t>
            </a:r>
            <a:r>
              <a:rPr dirty="0"/>
              <a:t> subscribers:</a:t>
            </a:r>
            <a:br>
              <a:rPr dirty="0"/>
            </a:br>
            <a:r>
              <a:rPr dirty="0"/>
              <a:t>KH </a:t>
            </a:r>
            <a:r>
              <a:rPr dirty="0" err="1"/>
              <a:t>mới</a:t>
            </a:r>
            <a:r>
              <a:rPr dirty="0"/>
              <a:t>,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HĐ,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br>
              <a:rPr dirty="0"/>
            </a:br>
            <a:r>
              <a:rPr dirty="0"/>
              <a:t>qua Kafka Topics.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3474720" cy="4572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8D2A"/>
                </a:solidFill>
                <a:latin typeface="Calibri"/>
              </a:defRPr>
            </a:pPr>
            <a:r>
              <a:t>Master Data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17720"/>
            <a:ext cx="1371600" cy="10972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/>
              <a:t>Golden record Customer, Product, Employee</a:t>
            </a:r>
            <a:r>
              <a:rPr lang="en-AU" dirty="0"/>
              <a:t> </a:t>
            </a:r>
            <a:r>
              <a:rPr dirty="0" err="1"/>
              <a:t>xuyên</a:t>
            </a:r>
            <a:r>
              <a:rPr dirty="0"/>
              <a:t> </a:t>
            </a:r>
            <a:r>
              <a:rPr dirty="0" err="1"/>
              <a:t>suốt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đoàn</a:t>
            </a:r>
            <a:r>
              <a:rPr dirty="0"/>
              <a:t>.</a:t>
            </a:r>
            <a:r>
              <a:rPr lang="en-AU" dirty="0"/>
              <a:t> </a:t>
            </a:r>
            <a:r>
              <a:rPr dirty="0"/>
              <a:t>Hub </a:t>
            </a:r>
            <a:r>
              <a:rPr dirty="0" err="1"/>
              <a:t>là</a:t>
            </a:r>
            <a:r>
              <a:rPr dirty="0"/>
              <a:t> MDM broker.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977639"/>
            <a:ext cx="3474720" cy="4572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4206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64545"/>
                </a:solidFill>
                <a:latin typeface="Calibri"/>
              </a:defRPr>
            </a:pPr>
            <a:r>
              <a:t>Centralized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617720"/>
            <a:ext cx="1371600" cy="10972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80060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/>
              <a:t>Track flow real-time, auto-retry</a:t>
            </a:r>
            <a:br>
              <a:rPr dirty="0"/>
            </a:br>
            <a:r>
              <a:rPr dirty="0" err="1"/>
              <a:t>với</a:t>
            </a:r>
            <a:r>
              <a:rPr dirty="0"/>
              <a:t> exponential backoff, Dead Letter Queue,</a:t>
            </a:r>
            <a:r>
              <a:rPr lang="en-AU" dirty="0"/>
              <a:t> </a:t>
            </a:r>
            <a:r>
              <a:rPr dirty="0"/>
              <a:t>audit trail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dịch</a:t>
            </a:r>
            <a:r>
              <a:rPr dirty="0"/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977639"/>
            <a:ext cx="3474720" cy="45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4206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Compliance &amp; Audit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4617720"/>
            <a:ext cx="1371600" cy="109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4800600"/>
            <a:ext cx="3017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/>
              <a:t>Tuân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Luật</a:t>
            </a:r>
            <a:r>
              <a:rPr dirty="0"/>
              <a:t> An </a:t>
            </a:r>
            <a:r>
              <a:rPr dirty="0" err="1"/>
              <a:t>ninh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VN,</a:t>
            </a:r>
            <a:br>
              <a:rPr dirty="0"/>
            </a:br>
            <a:r>
              <a:rPr dirty="0"/>
              <a:t>e-invoice,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thuế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.</a:t>
            </a:r>
            <a:r>
              <a:rPr lang="en-AU"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on-premise.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QUY TRÌNH</a:t>
            </a:r>
            <a:br/>
            <a:r>
              <a:t>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Roadmap 4 giai đoạn — Tổng thời gian 12 tháng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Lộ trình Triển khai 4 Giai đoạn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12 Months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10972800" cy="3657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560320" cy="73152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2011680" cy="34747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5000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B6"/>
                </a:solidFill>
                <a:latin typeface="Calibri"/>
              </a:defRPr>
            </a:pPr>
            <a:r>
              <a:t>Tháng 1–3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2560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Setup Kubernetes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Deploy Kong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 dirty="0"/>
              <a:t>•  Build Novator SSO Connector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2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Setup monitoring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CI/CD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Pilot: 2 hệ thống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15727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59E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417320"/>
            <a:ext cx="2560320" cy="73152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6642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Core 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331720"/>
            <a:ext cx="2011680" cy="34747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235000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B6"/>
                </a:solidFill>
                <a:latin typeface="Calibri"/>
              </a:defRPr>
            </a:pPr>
            <a:r>
              <a:t>Tháng 4–6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926080"/>
            <a:ext cx="2560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3383280" y="310896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Deploy Kafka cluster + CDC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29584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Deploy n8n workflow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50208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Chuẩn hóa data 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370832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Tích hợp ONENOVA, eSales,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791456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    SuccessFactors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21208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Service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15727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59E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417320"/>
            <a:ext cx="2560320" cy="73152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16642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Full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2331720"/>
            <a:ext cx="2011680" cy="34747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35000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B6"/>
                </a:solidFill>
                <a:latin typeface="Calibri"/>
              </a:defRPr>
            </a:pPr>
            <a:r>
              <a:t>Tháng 7–9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2926080"/>
            <a:ext cx="2560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217920" y="310896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Tích hợp GMS, ICS, NMS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29584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Event-driven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50208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Master Data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70832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Centralized alerting &amp; retry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791456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Connector library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59" y="15727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59E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1417320"/>
            <a:ext cx="2560320" cy="73152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4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16642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Stabilize &amp; Optimize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331720"/>
            <a:ext cx="2011680" cy="34747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235000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B6"/>
                </a:solidFill>
                <a:latin typeface="Calibri"/>
              </a:defRPr>
            </a:pPr>
            <a:r>
              <a:t>Tháng 10–12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2926080"/>
            <a:ext cx="25603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9052559" y="3108960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Performance tuning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59" y="3529584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Disaster Recovery setup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59" y="3950208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Security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59" y="4370832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Knowledge transfer NVG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59" y="4791456"/>
            <a:ext cx="2194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sz="1400"/>
              <a:t>•  Documentation hoàn chỉnh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Mô hình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On-Premise Primary + Cloud Optional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57200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B8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NVG ON-PREMISE  (Primary)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3200400" cy="10972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Core Integration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API Gateway (Kong)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4553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Kafka Cluster (3+ brokers)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75304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n8n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Novator SSO (đã có sẵn)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Core Databases (PostgreSQL HA)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6460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ELK Stack &amp;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9437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Dữ liệu nhạy cảm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463040"/>
            <a:ext cx="5120640" cy="4572000"/>
          </a:xfrm>
          <a:prstGeom prst="roundRect">
            <a:avLst/>
          </a:prstGeom>
          <a:solidFill>
            <a:srgbClr val="FFF9F0"/>
          </a:solidFill>
          <a:ln w="1905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600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88D2A"/>
                </a:solidFill>
                <a:latin typeface="Calibri"/>
              </a:defRPr>
            </a:pPr>
            <a:r>
              <a:t>PUBLIC CLOUD  (Optional / DR)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011680"/>
            <a:ext cx="3200400" cy="10972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286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CDN, WAF, DDoS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71576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DR / Backup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4553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Dev/Staging Environment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575304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Object Storage (archival)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0507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✓   Burst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291840"/>
            <a:ext cx="2103120" cy="457200"/>
          </a:xfrm>
          <a:prstGeom prst="round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3310128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VPN / Direct Connect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GIÁ TRỊ</a:t>
            </a:r>
            <a:br/>
            <a:r>
              <a:t>MANG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Lợi ích kinh doanh và kỹ thuật cho Novagroup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Giá trị Mang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Business &amp; Technical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Giảm 70% chi phí</a:t>
            </a:r>
            <a:br/>
            <a:r>
              <a:t>tích hợp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Hub thay thế point-to-point.</a:t>
            </a:r>
            <a:br/>
            <a:r>
              <a:t>Thêm HT mới chỉ 1 kết nối.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002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Tích hợp nhanh</a:t>
            </a:r>
            <a:br/>
            <a:r>
              <a:t>gấp 10 lần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Từ 2–3 tháng xuống 1–2 tuần</a:t>
            </a:r>
            <a:br/>
            <a:r>
              <a:t>nhờ pre-built connectors.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600200"/>
            <a:ext cx="502920" cy="502920"/>
          </a:xfrm>
          <a:prstGeom prst="ellipse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002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Monitoring</a:t>
            </a:r>
            <a:br/>
            <a:r>
              <a:t>tập trung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1460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1 dashboard cho toàn bộ flows.</a:t>
            </a:r>
            <a:br/>
            <a:r>
              <a:t>Phát hiện lỗi trong phút.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605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Tiết kiệm</a:t>
            </a:r>
            <a:br/>
            <a:r>
              <a:t>$300K–1M/năm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Open source stack. Chi phí</a:t>
            </a:r>
            <a:br/>
            <a:r>
              <a:t>20–30% so với MuleSoft/TIBCO.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1605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Bảo mật</a:t>
            </a:r>
            <a:br/>
            <a:r>
              <a:t>&amp; tuân thủ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07492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Novator SSO, audit trail,</a:t>
            </a:r>
            <a:br/>
            <a:r>
              <a:t>on-premise, Luật ANMVN.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77639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80" y="416052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1605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Dễ mở rộng</a:t>
            </a:r>
            <a:br/>
            <a:r>
              <a:t>không giới hạn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074920"/>
            <a:ext cx="3017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Cloud-native, horizontal scaling.</a:t>
            </a:r>
            <a:br/>
            <a:r>
              <a:t>Connector library sẵn sàng.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 sánh với Giải pháp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Cost &amp; Capability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0175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Tiêu chí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63040"/>
            <a:ext cx="384048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40" y="1508760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Enterprise Platform</a:t>
            </a:r>
            <a:br/>
            <a:r>
              <a:t>(MuleSoft / TIBCO / IBM)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63040"/>
            <a:ext cx="384048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508760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CDS Hub Integration</a:t>
            </a:r>
            <a:br/>
            <a:r>
              <a:t>(Open Source + Custom)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301752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7627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License cost/năm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103120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40" y="217627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$300K – $1M USD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03120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217627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~$0 (Open Source)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15184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68833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Customization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61518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7640" y="268833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Giới hạn theo vendor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61518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68833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Toàn quyền kiểm soát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27248"/>
            <a:ext cx="301752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127248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7640" y="320040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127248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320040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Thấp (open standards)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639312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712463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Tích hợp Novator SSO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63931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7640" y="3712463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Custom connector (phức tạp)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63931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3712463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Direct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51376"/>
            <a:ext cx="301752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2245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Hỗ trợ tại VN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151376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77640" y="4224528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Qua partner (Deloitte, PwC)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151376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4224528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Trực tiếp từ CDS team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66344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473659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Time to 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663440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40" y="473659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6–12 tháng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4663440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09560" y="473659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3–6 tháng (Phase 1–2)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175504"/>
            <a:ext cx="301752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24865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Phù hợp context VN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5175504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77640" y="524865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Trung bình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5175504"/>
            <a:ext cx="3840480" cy="512064"/>
          </a:xfrm>
          <a:prstGeom prst="rect">
            <a:avLst/>
          </a:prstGeom>
          <a:solidFill>
            <a:srgbClr val="F2F4F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09560" y="524865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Cao (hiểu thị trường)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687568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5760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Tổng chi phí 3 năm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5687568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77640" y="57607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$1 – $3M USD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5687568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9560" y="57607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8A5C"/>
                </a:solidFill>
                <a:latin typeface="Calibri"/>
              </a:defRPr>
            </a:pPr>
            <a:r>
              <a:t>$200K – $500K USD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Đội ngũ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Project Team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Solution Architect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36192"/>
            <a:ext cx="7315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572768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Thiết kế kiến trúc tổng thể, technical decisions,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21408"/>
            <a:ext cx="11064240" cy="548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212848"/>
            <a:ext cx="64008" cy="548640"/>
          </a:xfrm>
          <a:prstGeom prst="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Integration Developer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731520" cy="411480"/>
          </a:xfrm>
          <a:prstGeom prst="roundRect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304288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22576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Kafka connectors, API services, data transformation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11064240" cy="548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962656"/>
            <a:ext cx="64008" cy="5486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35808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DevOps / SRE Engineer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35808"/>
            <a:ext cx="731520" cy="411480"/>
          </a:xfrm>
          <a:prstGeom prst="round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054096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072384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Kubernetes, CI/CD, monitoring, infrastructure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21024"/>
            <a:ext cx="11064240" cy="548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712464"/>
            <a:ext cx="64008" cy="548640"/>
          </a:xfrm>
          <a:prstGeom prst="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85616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n8n Workflow Developer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85616"/>
            <a:ext cx="731520" cy="411480"/>
          </a:xfrm>
          <a:prstGeom prst="roundRect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3803904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1–2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822192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Business workflows, n8n custom nodes, error handling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0832"/>
            <a:ext cx="11064240" cy="548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462272"/>
            <a:ext cx="64008" cy="54864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535424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QA Engineer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535424"/>
            <a:ext cx="731520" cy="411480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553712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5720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Integration testing, performance testing, 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20640"/>
            <a:ext cx="11064240" cy="5486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212079"/>
            <a:ext cx="64008" cy="54864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285231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Project Manager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285231"/>
            <a:ext cx="731520" cy="411480"/>
          </a:xfrm>
          <a:prstGeom prst="round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5303519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321807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Coordination, stakeholder management, tracking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89320"/>
            <a:ext cx="11064240" cy="4572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C59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60167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TỔNG ĐỘI NGŨ: 7–8 NGƯỜI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0350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Tiên Phong CDS cung cấp toàn bộ nhân lực triển khai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Bước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59E4C"/>
                </a:solidFill>
                <a:latin typeface="Calibri"/>
              </a:defRPr>
            </a:pPr>
            <a:r>
              <a:t>Next Steps &amp; Call to Action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4475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Họp Kỹ Thuật Chi Tiết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47088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Trao đổi hiện trạng hệ thống, Novator SSO specs, ưu tiên tích hợp.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508760"/>
            <a:ext cx="1645920" cy="3657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0" y="152704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82B6"/>
                </a:solidFill>
                <a:latin typeface="Calibri"/>
              </a:defRPr>
            </a:pPr>
            <a:r>
              <a:t>Tuần 1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32304"/>
            <a:ext cx="502920" cy="502920"/>
          </a:xfrm>
          <a:prstGeom prst="ellipse">
            <a:avLst/>
          </a:prstGeom>
          <a:solidFill>
            <a:srgbClr val="1A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32304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Khảo Sát Hệ Thống (Discovery)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System audit: inventory hệ thống, API, data formats, integration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496312"/>
            <a:ext cx="1645920" cy="3657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25146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82B6"/>
                </a:solidFill>
                <a:latin typeface="Calibri"/>
              </a:defRPr>
            </a:pPr>
            <a:r>
              <a:t>Tuần 2–3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19856"/>
            <a:ext cx="502920" cy="502920"/>
          </a:xfrm>
          <a:prstGeom prst="ellipse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19856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Thiết Kế Kiến Trúc Chi Tiết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22191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Kiến trúc chi tiết, xác nhận tech stack, ước tính effort &amp; chi phí.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483864"/>
            <a:ext cx="1645920" cy="3657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350215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82B6"/>
                </a:solidFill>
                <a:latin typeface="Calibri"/>
              </a:defRPr>
            </a:pPr>
            <a:r>
              <a:t>Tuần 4–5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407408"/>
            <a:ext cx="502920" cy="502920"/>
          </a:xfrm>
          <a:prstGeom prst="ellipse">
            <a:avLst/>
          </a:prstGeom>
          <a:solidFill>
            <a:srgbClr val="3B8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07408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POC (Proof of Concept)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09744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POC với 2 hệ thống + Novator SSO integration. Demo cho leadership.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471416"/>
            <a:ext cx="1645920" cy="3657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4489704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82B6"/>
                </a:solidFill>
                <a:latin typeface="Calibri"/>
              </a:defRPr>
            </a:pPr>
            <a:r>
              <a:t>Tuần 6–8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394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Ký Kết SOW &amp; Triển Khai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Statement of Work, timeline, milestones, SLA. Bắt đầu Phase 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5458968"/>
            <a:ext cx="1645920" cy="3657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40" y="547725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82B6"/>
                </a:solidFill>
                <a:latin typeface="Calibri"/>
              </a:defRPr>
            </a:pPr>
            <a:r>
              <a:t>Tuần 9+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Tiên Phong CDS  |  Novagroup  |  Hub Integration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4710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B7B8D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828800"/>
            <a:ext cx="2743200" cy="22860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Tiên Phong CDS cam kết đồng hành cùng Novagroup xây dựng</a:t>
            </a:r>
            <a:br/>
            <a:r>
              <a:t>Hub Integration Platform hiện đại, giúp kết nối toàn bộ hệ sinh thái số,</a:t>
            </a:r>
            <a:br/>
            <a:r>
              <a:t>tối ưu hóa vận hành, và tạo nền tảng vững chắc cho chiến lược</a:t>
            </a:r>
            <a:br/>
            <a:r>
              <a:t>chuyển đổi số dài hạn.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59E4C"/>
                </a:solidFill>
                <a:latin typeface="Calibri"/>
              </a:defRPr>
            </a:pPr>
            <a:r>
              <a:t>Thông tin liên hệ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1828800" cy="10972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079 808 9717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cto@tienphongcds.com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164 Nguyễn Văn Thương, Bình Thạnh, TP.HCM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109728"/>
          </a:xfrm>
          <a:prstGeom prst="rect">
            <a:avLst/>
          </a:prstGeom>
          <a:solidFill>
            <a:srgbClr val="C5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2316</Words>
  <Application>Microsoft Macintosh PowerPoint</Application>
  <PresentationFormat>Widescreen</PresentationFormat>
  <Paragraphs>386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Đạt Trần Tiến</cp:lastModifiedBy>
  <cp:revision>4</cp:revision>
  <dcterms:created xsi:type="dcterms:W3CDTF">2013-01-27T09:14:16Z</dcterms:created>
  <dcterms:modified xsi:type="dcterms:W3CDTF">2026-03-13T02:08:14Z</dcterms:modified>
  <cp:category/>
</cp:coreProperties>
</file>