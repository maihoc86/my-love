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71" d="100"/>
          <a:sy n="171" d="100"/>
        </p:scale>
        <p:origin x="464"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303305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4C"/>
        </a:solidFill>
        <a:effectLst/>
      </p:bgPr>
    </p:bg>
    <p:spTree>
      <p:nvGrpSpPr>
        <p:cNvPr id="1" name=""/>
        <p:cNvGrpSpPr/>
        <p:nvPr/>
      </p:nvGrpSpPr>
      <p:grpSpPr>
        <a:xfrm>
          <a:off x="0" y="0"/>
          <a:ext cx="0" cy="0"/>
          <a:chOff x="0" y="0"/>
          <a:chExt cx="0" cy="0"/>
        </a:xfrm>
      </p:grpSpPr>
      <p:sp>
        <p:nvSpPr>
          <p:cNvPr id="2" name="Shape 0"/>
          <p:cNvSpPr/>
          <p:nvPr/>
        </p:nvSpPr>
        <p:spPr>
          <a:xfrm rot="-1500000">
            <a:off x="5943600" y="182880"/>
            <a:ext cx="3200400" cy="0"/>
          </a:xfrm>
          <a:prstGeom prst="line">
            <a:avLst/>
          </a:prstGeom>
          <a:noFill/>
          <a:ln w="38100">
            <a:solidFill>
              <a:srgbClr val="C8A962"/>
            </a:solidFill>
            <a:prstDash val="solid"/>
          </a:ln>
        </p:spPr>
        <p:txBody>
          <a:bodyPr/>
          <a:lstStyle/>
          <a:p>
            <a:endParaRPr lang="en-VN"/>
          </a:p>
        </p:txBody>
      </p:sp>
      <p:sp>
        <p:nvSpPr>
          <p:cNvPr id="3" name="Shape 1"/>
          <p:cNvSpPr/>
          <p:nvPr/>
        </p:nvSpPr>
        <p:spPr>
          <a:xfrm rot="-1500000">
            <a:off x="6400800" y="0"/>
            <a:ext cx="3200400" cy="0"/>
          </a:xfrm>
          <a:prstGeom prst="line">
            <a:avLst/>
          </a:prstGeom>
          <a:noFill/>
          <a:ln w="19050">
            <a:solidFill>
              <a:srgbClr val="C8A962"/>
            </a:solidFill>
            <a:prstDash val="solid"/>
          </a:ln>
        </p:spPr>
        <p:txBody>
          <a:bodyPr/>
          <a:lstStyle/>
          <a:p>
            <a:endParaRPr lang="en-VN"/>
          </a:p>
        </p:txBody>
      </p:sp>
      <p:sp>
        <p:nvSpPr>
          <p:cNvPr id="4" name="Shape 2"/>
          <p:cNvSpPr/>
          <p:nvPr/>
        </p:nvSpPr>
        <p:spPr>
          <a:xfrm rot="-1500000">
            <a:off x="182880" y="4389120"/>
            <a:ext cx="2743200" cy="0"/>
          </a:xfrm>
          <a:prstGeom prst="line">
            <a:avLst/>
          </a:prstGeom>
          <a:noFill/>
          <a:ln w="38100">
            <a:solidFill>
              <a:srgbClr val="C8A962"/>
            </a:solidFill>
            <a:prstDash val="solid"/>
          </a:ln>
        </p:spPr>
        <p:txBody>
          <a:bodyPr/>
          <a:lstStyle/>
          <a:p>
            <a:endParaRPr lang="en-VN"/>
          </a:p>
        </p:txBody>
      </p:sp>
      <p:sp>
        <p:nvSpPr>
          <p:cNvPr id="5" name="Shape 3"/>
          <p:cNvSpPr/>
          <p:nvPr/>
        </p:nvSpPr>
        <p:spPr>
          <a:xfrm rot="-1500000">
            <a:off x="0" y="4663440"/>
            <a:ext cx="2743200" cy="0"/>
          </a:xfrm>
          <a:prstGeom prst="line">
            <a:avLst/>
          </a:prstGeom>
          <a:noFill/>
          <a:ln w="19050">
            <a:solidFill>
              <a:srgbClr val="C8A962"/>
            </a:solidFill>
            <a:prstDash val="solid"/>
          </a:ln>
        </p:spPr>
        <p:txBody>
          <a:bodyPr/>
          <a:lstStyle/>
          <a:p>
            <a:endParaRPr lang="en-VN"/>
          </a:p>
        </p:txBody>
      </p:sp>
      <p:sp>
        <p:nvSpPr>
          <p:cNvPr id="6" name="Text 4"/>
          <p:cNvSpPr/>
          <p:nvPr/>
        </p:nvSpPr>
        <p:spPr>
          <a:xfrm>
            <a:off x="731520" y="457200"/>
            <a:ext cx="3200400" cy="365760"/>
          </a:xfrm>
          <a:prstGeom prst="rect">
            <a:avLst/>
          </a:prstGeom>
          <a:noFill/>
          <a:ln/>
        </p:spPr>
        <p:txBody>
          <a:bodyPr wrap="square" rtlCol="0" anchor="ctr"/>
          <a:lstStyle/>
          <a:p>
            <a:pPr marL="0" indent="0">
              <a:buNone/>
            </a:pPr>
            <a:r>
              <a:rPr lang="en-US" sz="1400" b="1" dirty="0">
                <a:solidFill>
                  <a:srgbClr val="C8A962"/>
                </a:solidFill>
                <a:latin typeface="Arial" pitchFamily="34" charset="0"/>
                <a:ea typeface="Arial" pitchFamily="34" charset="-122"/>
                <a:cs typeface="Arial" pitchFamily="34" charset="-120"/>
              </a:rPr>
              <a:t>TIÊN PHONG CDS</a:t>
            </a:r>
            <a:endParaRPr lang="en-US" sz="1400" dirty="0"/>
          </a:p>
        </p:txBody>
      </p:sp>
      <p:sp>
        <p:nvSpPr>
          <p:cNvPr id="7" name="Text 5"/>
          <p:cNvSpPr/>
          <p:nvPr/>
        </p:nvSpPr>
        <p:spPr>
          <a:xfrm>
            <a:off x="5029200" y="457200"/>
            <a:ext cx="3657600" cy="365760"/>
          </a:xfrm>
          <a:prstGeom prst="rect">
            <a:avLst/>
          </a:prstGeom>
          <a:noFill/>
          <a:ln/>
        </p:spPr>
        <p:txBody>
          <a:bodyPr wrap="square" rtlCol="0" anchor="ctr"/>
          <a:lstStyle/>
          <a:p>
            <a:pPr marL="0" indent="0" algn="r">
              <a:buNone/>
            </a:pPr>
            <a:r>
              <a:rPr lang="en-US" sz="1400" b="1" dirty="0">
                <a:solidFill>
                  <a:srgbClr val="C8A962"/>
                </a:solidFill>
                <a:latin typeface="Arial" pitchFamily="34" charset="0"/>
                <a:ea typeface="Arial" pitchFamily="34" charset="-122"/>
                <a:cs typeface="Arial" pitchFamily="34" charset="-120"/>
              </a:rPr>
              <a:t>NOVAGROUP</a:t>
            </a:r>
            <a:endParaRPr lang="en-US" sz="1400" dirty="0"/>
          </a:p>
        </p:txBody>
      </p:sp>
      <p:sp>
        <p:nvSpPr>
          <p:cNvPr id="8" name="Shape 6"/>
          <p:cNvSpPr/>
          <p:nvPr/>
        </p:nvSpPr>
        <p:spPr>
          <a:xfrm>
            <a:off x="731520" y="1005840"/>
            <a:ext cx="7680960" cy="0"/>
          </a:xfrm>
          <a:prstGeom prst="line">
            <a:avLst/>
          </a:prstGeom>
          <a:noFill/>
          <a:ln w="12700">
            <a:solidFill>
              <a:srgbClr val="C8A962"/>
            </a:solidFill>
            <a:prstDash val="solid"/>
          </a:ln>
        </p:spPr>
        <p:txBody>
          <a:bodyPr/>
          <a:lstStyle/>
          <a:p>
            <a:endParaRPr lang="en-VN"/>
          </a:p>
        </p:txBody>
      </p:sp>
      <p:sp>
        <p:nvSpPr>
          <p:cNvPr id="9" name="Text 7"/>
          <p:cNvSpPr/>
          <p:nvPr/>
        </p:nvSpPr>
        <p:spPr>
          <a:xfrm>
            <a:off x="731520" y="1463040"/>
            <a:ext cx="7680960" cy="731520"/>
          </a:xfrm>
          <a:prstGeom prst="rect">
            <a:avLst/>
          </a:prstGeom>
          <a:noFill/>
          <a:ln/>
        </p:spPr>
        <p:txBody>
          <a:bodyPr wrap="square" rtlCol="0" anchor="ctr"/>
          <a:lstStyle/>
          <a:p>
            <a:pPr marL="0" indent="0">
              <a:buNone/>
            </a:pPr>
            <a:r>
              <a:rPr lang="en-US" sz="2000" dirty="0">
                <a:solidFill>
                  <a:srgbClr val="C8A962"/>
                </a:solidFill>
                <a:latin typeface="Arial" pitchFamily="34" charset="0"/>
                <a:ea typeface="Arial" pitchFamily="34" charset="-122"/>
                <a:cs typeface="Arial" pitchFamily="34" charset="-120"/>
              </a:rPr>
              <a:t>ĐỀ XUẤT GIẢI PHÁP</a:t>
            </a:r>
            <a:endParaRPr lang="en-US" sz="2000" dirty="0"/>
          </a:p>
        </p:txBody>
      </p:sp>
      <p:sp>
        <p:nvSpPr>
          <p:cNvPr id="10" name="Text 8"/>
          <p:cNvSpPr/>
          <p:nvPr/>
        </p:nvSpPr>
        <p:spPr>
          <a:xfrm>
            <a:off x="731520" y="2011680"/>
            <a:ext cx="7680960" cy="1463040"/>
          </a:xfrm>
          <a:prstGeom prst="rect">
            <a:avLst/>
          </a:prstGeom>
          <a:noFill/>
          <a:ln/>
        </p:spPr>
        <p:txBody>
          <a:bodyPr wrap="square" rtlCol="0" anchor="ctr"/>
          <a:lstStyle/>
          <a:p>
            <a:pPr marL="0" indent="0">
              <a:lnSpc>
                <a:spcPct val="110000"/>
              </a:lnSpc>
              <a:buNone/>
            </a:pPr>
            <a:r>
              <a:rPr lang="en-US" sz="4200" b="1" dirty="0">
                <a:solidFill>
                  <a:srgbClr val="FFFFFF"/>
                </a:solidFill>
                <a:latin typeface="Arial" pitchFamily="34" charset="0"/>
                <a:ea typeface="Arial" pitchFamily="34" charset="-122"/>
                <a:cs typeface="Arial" pitchFamily="34" charset="-120"/>
              </a:rPr>
              <a:t>HUB INTEGRATION</a:t>
            </a:r>
            <a:endParaRPr lang="en-US" sz="4200" dirty="0"/>
          </a:p>
          <a:p>
            <a:pPr marL="0" indent="0">
              <a:lnSpc>
                <a:spcPct val="110000"/>
              </a:lnSpc>
              <a:buNone/>
            </a:pPr>
            <a:r>
              <a:rPr lang="en-US" sz="4200" b="1" dirty="0">
                <a:solidFill>
                  <a:srgbClr val="FFFFFF"/>
                </a:solidFill>
                <a:latin typeface="Arial" pitchFamily="34" charset="0"/>
                <a:ea typeface="Arial" pitchFamily="34" charset="-122"/>
                <a:cs typeface="Arial" pitchFamily="34" charset="-120"/>
              </a:rPr>
              <a:t>PLATFORM</a:t>
            </a:r>
            <a:endParaRPr lang="en-US" sz="4200" dirty="0"/>
          </a:p>
        </p:txBody>
      </p:sp>
      <p:sp>
        <p:nvSpPr>
          <p:cNvPr id="11" name="Text 9"/>
          <p:cNvSpPr/>
          <p:nvPr/>
        </p:nvSpPr>
        <p:spPr>
          <a:xfrm>
            <a:off x="731520" y="3474720"/>
            <a:ext cx="7680960" cy="457200"/>
          </a:xfrm>
          <a:prstGeom prst="rect">
            <a:avLst/>
          </a:prstGeom>
          <a:noFill/>
          <a:ln/>
        </p:spPr>
        <p:txBody>
          <a:bodyPr wrap="square" rtlCol="0" anchor="ctr"/>
          <a:lstStyle/>
          <a:p>
            <a:pPr marL="0" indent="0">
              <a:buNone/>
            </a:pPr>
            <a:r>
              <a:rPr lang="en-US" sz="1500" dirty="0">
                <a:solidFill>
                  <a:srgbClr val="C8A962"/>
                </a:solidFill>
                <a:latin typeface="Arial" pitchFamily="34" charset="0"/>
                <a:ea typeface="Arial" pitchFamily="34" charset="-122"/>
                <a:cs typeface="Arial" pitchFamily="34" charset="-120"/>
              </a:rPr>
              <a:t>Nền tảng Tích hợp Hệ thống Tập trung cho Tập đoàn Novagroup</a:t>
            </a:r>
            <a:endParaRPr lang="en-US" sz="1500" dirty="0"/>
          </a:p>
        </p:txBody>
      </p:sp>
      <p:sp>
        <p:nvSpPr>
          <p:cNvPr id="12" name="Shape 10"/>
          <p:cNvSpPr/>
          <p:nvPr/>
        </p:nvSpPr>
        <p:spPr>
          <a:xfrm>
            <a:off x="0" y="4663440"/>
            <a:ext cx="9144000" cy="36576"/>
          </a:xfrm>
          <a:prstGeom prst="rect">
            <a:avLst/>
          </a:prstGeom>
          <a:solidFill>
            <a:srgbClr val="C8A962"/>
          </a:solidFill>
          <a:ln/>
        </p:spPr>
        <p:txBody>
          <a:bodyPr/>
          <a:lstStyle/>
          <a:p>
            <a:endParaRPr lang="en-VN"/>
          </a:p>
        </p:txBody>
      </p:sp>
      <p:sp>
        <p:nvSpPr>
          <p:cNvPr id="13" name="Shape 11"/>
          <p:cNvSpPr/>
          <p:nvPr/>
        </p:nvSpPr>
        <p:spPr>
          <a:xfrm>
            <a:off x="0" y="4700016"/>
            <a:ext cx="9144000" cy="443484"/>
          </a:xfrm>
          <a:prstGeom prst="rect">
            <a:avLst/>
          </a:prstGeom>
          <a:solidFill>
            <a:srgbClr val="070E28"/>
          </a:solidFill>
          <a:ln/>
        </p:spPr>
        <p:txBody>
          <a:bodyPr/>
          <a:lstStyle/>
          <a:p>
            <a:endParaRPr lang="en-VN"/>
          </a:p>
        </p:txBody>
      </p:sp>
      <p:sp>
        <p:nvSpPr>
          <p:cNvPr id="14" name="Text 12"/>
          <p:cNvSpPr/>
          <p:nvPr/>
        </p:nvSpPr>
        <p:spPr>
          <a:xfrm>
            <a:off x="457200" y="4700016"/>
            <a:ext cx="8229600" cy="443484"/>
          </a:xfrm>
          <a:prstGeom prst="rect">
            <a:avLst/>
          </a:prstGeom>
          <a:noFill/>
          <a:ln/>
        </p:spPr>
        <p:txBody>
          <a:bodyPr wrap="square" rtlCol="0" anchor="ctr"/>
          <a:lstStyle/>
          <a:p>
            <a:pPr marL="0" indent="0" algn="ctr">
              <a:buNone/>
            </a:pPr>
            <a:r>
              <a:rPr lang="en-US" sz="1000" dirty="0">
                <a:solidFill>
                  <a:srgbClr val="C8A962"/>
                </a:solidFill>
                <a:latin typeface="Arial" pitchFamily="34" charset="0"/>
                <a:ea typeface="Arial" pitchFamily="34" charset="-122"/>
                <a:cs typeface="Arial" pitchFamily="34" charset="-120"/>
              </a:rPr>
              <a:t>Tháng 03/2026  |  Phiên bản 1.0  |  Tài liệu Mật</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1B4C"/>
          </a:solidFill>
          <a:ln/>
        </p:spPr>
        <p:txBody>
          <a:bodyPr/>
          <a:lstStyle/>
          <a:p>
            <a:endParaRPr lang="en-VN"/>
          </a:p>
        </p:txBody>
      </p:sp>
      <p:sp>
        <p:nvSpPr>
          <p:cNvPr id="3" name="Shape 1"/>
          <p:cNvSpPr/>
          <p:nvPr/>
        </p:nvSpPr>
        <p:spPr>
          <a:xfrm>
            <a:off x="0" y="914400"/>
            <a:ext cx="9144000" cy="36576"/>
          </a:xfrm>
          <a:prstGeom prst="rect">
            <a:avLst/>
          </a:prstGeom>
          <a:solidFill>
            <a:srgbClr val="C8A962"/>
          </a:solidFill>
          <a:ln/>
        </p:spPr>
        <p:txBody>
          <a:bodyPr/>
          <a:lstStyle/>
          <a:p>
            <a:endParaRPr lang="en-VN"/>
          </a:p>
        </p:txBody>
      </p:sp>
      <p:sp>
        <p:nvSpPr>
          <p:cNvPr id="4" name="Text 2"/>
          <p:cNvSpPr/>
          <p:nvPr/>
        </p:nvSpPr>
        <p:spPr>
          <a:xfrm>
            <a:off x="457200" y="0"/>
            <a:ext cx="8229600" cy="548640"/>
          </a:xfrm>
          <a:prstGeom prst="rect">
            <a:avLst/>
          </a:prstGeom>
          <a:noFill/>
          <a:ln/>
        </p:spPr>
        <p:txBody>
          <a:bodyPr wrap="square" rtlCol="0" anchor="b"/>
          <a:lstStyle/>
          <a:p>
            <a:pPr marL="0" indent="0">
              <a:buNone/>
            </a:pPr>
            <a:r>
              <a:rPr lang="en-US" sz="2400" b="1" dirty="0">
                <a:solidFill>
                  <a:srgbClr val="FFFFFF"/>
                </a:solidFill>
                <a:latin typeface="Arial" pitchFamily="34" charset="0"/>
                <a:ea typeface="Arial" pitchFamily="34" charset="-122"/>
                <a:cs typeface="Arial" pitchFamily="34" charset="-120"/>
              </a:rPr>
              <a:t>Tóm tắt Điều hành</a:t>
            </a:r>
            <a:endParaRPr lang="en-US" sz="2400" dirty="0"/>
          </a:p>
        </p:txBody>
      </p:sp>
      <p:sp>
        <p:nvSpPr>
          <p:cNvPr id="5" name="Text 3"/>
          <p:cNvSpPr/>
          <p:nvPr/>
        </p:nvSpPr>
        <p:spPr>
          <a:xfrm>
            <a:off x="457200" y="548640"/>
            <a:ext cx="8229600" cy="365760"/>
          </a:xfrm>
          <a:prstGeom prst="rect">
            <a:avLst/>
          </a:prstGeom>
          <a:noFill/>
          <a:ln/>
        </p:spPr>
        <p:txBody>
          <a:bodyPr wrap="square" rtlCol="0" anchor="t"/>
          <a:lstStyle/>
          <a:p>
            <a:pPr marL="0" indent="0">
              <a:buNone/>
            </a:pPr>
            <a:r>
              <a:rPr lang="en-US" sz="1300" dirty="0">
                <a:solidFill>
                  <a:srgbClr val="C8A962"/>
                </a:solidFill>
                <a:latin typeface="Arial" pitchFamily="34" charset="0"/>
                <a:ea typeface="Arial" pitchFamily="34" charset="-122"/>
                <a:cs typeface="Arial" pitchFamily="34" charset="-120"/>
              </a:rPr>
              <a:t>Executive Summary</a:t>
            </a:r>
            <a:endParaRPr lang="en-US" sz="1300" dirty="0"/>
          </a:p>
        </p:txBody>
      </p:sp>
      <p:sp>
        <p:nvSpPr>
          <p:cNvPr id="6" name="Shape 4"/>
          <p:cNvSpPr/>
          <p:nvPr/>
        </p:nvSpPr>
        <p:spPr>
          <a:xfrm>
            <a:off x="0" y="4709160"/>
            <a:ext cx="9144000" cy="434340"/>
          </a:xfrm>
          <a:prstGeom prst="rect">
            <a:avLst/>
          </a:prstGeom>
          <a:solidFill>
            <a:srgbClr val="0D1B4C"/>
          </a:solidFill>
          <a:ln/>
        </p:spPr>
        <p:txBody>
          <a:bodyPr/>
          <a:lstStyle/>
          <a:p>
            <a:endParaRPr lang="en-VN"/>
          </a:p>
        </p:txBody>
      </p:sp>
      <p:sp>
        <p:nvSpPr>
          <p:cNvPr id="7" name="Text 5"/>
          <p:cNvSpPr/>
          <p:nvPr/>
        </p:nvSpPr>
        <p:spPr>
          <a:xfrm>
            <a:off x="457200" y="4709160"/>
            <a:ext cx="6400800" cy="434340"/>
          </a:xfrm>
          <a:prstGeom prst="rect">
            <a:avLst/>
          </a:prstGeom>
          <a:noFill/>
          <a:ln/>
        </p:spPr>
        <p:txBody>
          <a:bodyPr wrap="square" rtlCol="0" anchor="ctr"/>
          <a:lstStyle/>
          <a:p>
            <a:pPr marL="0" indent="0">
              <a:buNone/>
            </a:pPr>
            <a:r>
              <a:rPr lang="en-US" sz="900" dirty="0">
                <a:solidFill>
                  <a:srgbClr val="C8A962"/>
                </a:solidFill>
                <a:latin typeface="Arial" pitchFamily="34" charset="0"/>
                <a:ea typeface="Arial" pitchFamily="34" charset="-122"/>
                <a:cs typeface="Arial" pitchFamily="34" charset="-120"/>
              </a:rPr>
              <a:t>Tiên Phong CDS  |  Novagroup  |  Hub Integration Platform</a:t>
            </a:r>
            <a:endParaRPr lang="en-US" sz="900" dirty="0"/>
          </a:p>
        </p:txBody>
      </p:sp>
      <p:sp>
        <p:nvSpPr>
          <p:cNvPr id="8" name="Text 6"/>
          <p:cNvSpPr/>
          <p:nvPr/>
        </p:nvSpPr>
        <p:spPr>
          <a:xfrm>
            <a:off x="7772400" y="4709160"/>
            <a:ext cx="914400" cy="434340"/>
          </a:xfrm>
          <a:prstGeom prst="rect">
            <a:avLst/>
          </a:prstGeom>
          <a:noFill/>
          <a:ln/>
        </p:spPr>
        <p:txBody>
          <a:bodyPr wrap="square" rtlCol="0" anchor="ctr"/>
          <a:lstStyle/>
          <a:p>
            <a:pPr marL="0" indent="0" algn="r">
              <a:buNone/>
            </a:pPr>
            <a:r>
              <a:rPr lang="en-US" sz="900" dirty="0">
                <a:solidFill>
                  <a:srgbClr val="FFFFFF"/>
                </a:solidFill>
                <a:latin typeface="Arial" pitchFamily="34" charset="0"/>
                <a:ea typeface="Arial" pitchFamily="34" charset="-122"/>
                <a:cs typeface="Arial" pitchFamily="34" charset="-120"/>
              </a:rPr>
              <a:t>2</a:t>
            </a:r>
            <a:endParaRPr lang="en-US" sz="900" dirty="0"/>
          </a:p>
        </p:txBody>
      </p:sp>
      <p:sp>
        <p:nvSpPr>
          <p:cNvPr id="9" name="Shape 7"/>
          <p:cNvSpPr/>
          <p:nvPr/>
        </p:nvSpPr>
        <p:spPr>
          <a:xfrm>
            <a:off x="320040" y="1188720"/>
            <a:ext cx="2697480" cy="3383280"/>
          </a:xfrm>
          <a:prstGeom prst="roundRect">
            <a:avLst>
              <a:gd name="adj" fmla="val 3390"/>
            </a:avLst>
          </a:prstGeom>
          <a:solidFill>
            <a:srgbClr val="FEF2F2"/>
          </a:solidFill>
          <a:ln/>
          <a:effectLst>
            <a:outerShdw blurRad="50800" dist="25400" dir="8100000" algn="bl" rotWithShape="0">
              <a:srgbClr val="000000">
                <a:alpha val="8000"/>
              </a:srgbClr>
            </a:outerShdw>
          </a:effectLst>
        </p:spPr>
        <p:txBody>
          <a:bodyPr/>
          <a:lstStyle/>
          <a:p>
            <a:endParaRPr lang="en-VN"/>
          </a:p>
        </p:txBody>
      </p:sp>
      <p:sp>
        <p:nvSpPr>
          <p:cNvPr id="10" name="Shape 8"/>
          <p:cNvSpPr/>
          <p:nvPr/>
        </p:nvSpPr>
        <p:spPr>
          <a:xfrm>
            <a:off x="1325880" y="1280160"/>
            <a:ext cx="640080" cy="640080"/>
          </a:xfrm>
          <a:prstGeom prst="ellipse">
            <a:avLst/>
          </a:prstGeom>
          <a:solidFill>
            <a:srgbClr val="DC2626"/>
          </a:solidFill>
          <a:ln/>
        </p:spPr>
        <p:txBody>
          <a:bodyPr/>
          <a:lstStyle/>
          <a:p>
            <a:endParaRPr lang="en-VN"/>
          </a:p>
        </p:txBody>
      </p:sp>
      <p:sp>
        <p:nvSpPr>
          <p:cNvPr id="11" name="Text 9"/>
          <p:cNvSpPr/>
          <p:nvPr/>
        </p:nvSpPr>
        <p:spPr>
          <a:xfrm>
            <a:off x="1325880" y="1280160"/>
            <a:ext cx="640080" cy="640080"/>
          </a:xfrm>
          <a:prstGeom prst="rect">
            <a:avLst/>
          </a:prstGeom>
          <a:noFill/>
          <a:ln/>
        </p:spPr>
        <p:txBody>
          <a:bodyPr wrap="square" rtlCol="0" anchor="ctr"/>
          <a:lstStyle/>
          <a:p>
            <a:pPr marL="0" indent="0" algn="ctr">
              <a:buNone/>
            </a:pPr>
            <a:r>
              <a:rPr lang="en-US" sz="2400" b="1" dirty="0">
                <a:solidFill>
                  <a:srgbClr val="FFFFFF"/>
                </a:solidFill>
                <a:latin typeface="Arial" pitchFamily="34" charset="0"/>
                <a:ea typeface="Arial" pitchFamily="34" charset="-122"/>
                <a:cs typeface="Arial" pitchFamily="34" charset="-120"/>
              </a:rPr>
              <a:t>1</a:t>
            </a:r>
            <a:endParaRPr lang="en-US" sz="2400" dirty="0"/>
          </a:p>
        </p:txBody>
      </p:sp>
      <p:sp>
        <p:nvSpPr>
          <p:cNvPr id="12" name="Text 10"/>
          <p:cNvSpPr/>
          <p:nvPr/>
        </p:nvSpPr>
        <p:spPr>
          <a:xfrm>
            <a:off x="320040" y="2011680"/>
            <a:ext cx="2697480" cy="365760"/>
          </a:xfrm>
          <a:prstGeom prst="rect">
            <a:avLst/>
          </a:prstGeom>
          <a:noFill/>
          <a:ln/>
        </p:spPr>
        <p:txBody>
          <a:bodyPr wrap="square" rtlCol="0" anchor="ctr"/>
          <a:lstStyle/>
          <a:p>
            <a:pPr marL="0" indent="0" algn="ctr">
              <a:buNone/>
            </a:pPr>
            <a:r>
              <a:rPr lang="en-US" sz="1600" b="1" dirty="0">
                <a:solidFill>
                  <a:srgbClr val="DC2626"/>
                </a:solidFill>
                <a:latin typeface="Arial" pitchFamily="34" charset="0"/>
                <a:ea typeface="Arial" pitchFamily="34" charset="-122"/>
                <a:cs typeface="Arial" pitchFamily="34" charset="-120"/>
              </a:rPr>
              <a:t>Thách thức</a:t>
            </a:r>
            <a:endParaRPr lang="en-US" sz="1600" dirty="0"/>
          </a:p>
        </p:txBody>
      </p:sp>
      <p:sp>
        <p:nvSpPr>
          <p:cNvPr id="13" name="Text 11"/>
          <p:cNvSpPr/>
          <p:nvPr/>
        </p:nvSpPr>
        <p:spPr>
          <a:xfrm>
            <a:off x="457200" y="2423160"/>
            <a:ext cx="2423160" cy="2057400"/>
          </a:xfrm>
          <a:prstGeom prst="rect">
            <a:avLst/>
          </a:prstGeom>
          <a:noFill/>
          <a:ln/>
        </p:spPr>
        <p:txBody>
          <a:bodyPr wrap="square" rtlCol="0" anchor="t"/>
          <a:lstStyle/>
          <a:p>
            <a:pPr marL="0" indent="0">
              <a:lnSpc>
                <a:spcPct val="120000"/>
              </a:lnSpc>
              <a:buNone/>
            </a:pPr>
            <a:r>
              <a:rPr lang="en-US" sz="950" dirty="0">
                <a:solidFill>
                  <a:srgbClr val="1F2937"/>
                </a:solidFill>
                <a:latin typeface="Arial" pitchFamily="34" charset="0"/>
                <a:ea typeface="Arial" pitchFamily="34" charset="-122"/>
                <a:cs typeface="Arial" pitchFamily="34" charset="-120"/>
              </a:rPr>
              <a:t>8 nền tảng (ONENOVA, CRM, ERP, NMS, eSales...) quản lý dữ liệu rời rạc</a:t>
            </a:r>
            <a:endParaRPr lang="en-US" sz="950" dirty="0"/>
          </a:p>
          <a:p>
            <a:pPr marL="0" indent="0">
              <a:lnSpc>
                <a:spcPct val="120000"/>
              </a:lnSpc>
              <a:buNone/>
            </a:pPr>
            <a:endParaRPr lang="en-US" sz="950" dirty="0"/>
          </a:p>
          <a:p>
            <a:pPr marL="0" indent="0">
              <a:lnSpc>
                <a:spcPct val="120000"/>
              </a:lnSpc>
              <a:buNone/>
            </a:pPr>
            <a:r>
              <a:rPr lang="en-US" sz="950" dirty="0">
                <a:solidFill>
                  <a:srgbClr val="1F2937"/>
                </a:solidFill>
                <a:latin typeface="Arial" pitchFamily="34" charset="0"/>
                <a:ea typeface="Arial" pitchFamily="34" charset="-122"/>
                <a:cs typeface="Arial" pitchFamily="34" charset="-120"/>
              </a:rPr>
              <a:t>Kết nối point-to-point giữa các platform phức tạp</a:t>
            </a:r>
            <a:endParaRPr lang="en-US" sz="950" dirty="0"/>
          </a:p>
          <a:p>
            <a:pPr marL="0" indent="0">
              <a:lnSpc>
                <a:spcPct val="120000"/>
              </a:lnSpc>
              <a:buNone/>
            </a:pPr>
            <a:endParaRPr lang="en-US" sz="950" dirty="0"/>
          </a:p>
          <a:p>
            <a:pPr marL="0" indent="0">
              <a:lnSpc>
                <a:spcPct val="120000"/>
              </a:lnSpc>
              <a:buNone/>
            </a:pPr>
            <a:r>
              <a:rPr lang="en-US" sz="950" dirty="0">
                <a:solidFill>
                  <a:srgbClr val="1F2937"/>
                </a:solidFill>
                <a:latin typeface="Arial" pitchFamily="34" charset="0"/>
                <a:ea typeface="Arial" pitchFamily="34" charset="-122"/>
                <a:cs typeface="Arial" pitchFamily="34" charset="-120"/>
              </a:rPr>
              <a:t>Thiếu master data thống nhất &amp; Customer 360</a:t>
            </a:r>
            <a:endParaRPr lang="en-US" sz="950" dirty="0"/>
          </a:p>
          <a:p>
            <a:pPr marL="0" indent="0">
              <a:lnSpc>
                <a:spcPct val="120000"/>
              </a:lnSpc>
              <a:buNone/>
            </a:pPr>
            <a:endParaRPr lang="en-US" sz="950" dirty="0"/>
          </a:p>
          <a:p>
            <a:pPr marL="0" indent="0">
              <a:lnSpc>
                <a:spcPct val="120000"/>
              </a:lnSpc>
              <a:buNone/>
            </a:pPr>
            <a:r>
              <a:rPr lang="en-US" sz="950" dirty="0">
                <a:solidFill>
                  <a:srgbClr val="1F2937"/>
                </a:solidFill>
                <a:latin typeface="Arial" pitchFamily="34" charset="0"/>
                <a:ea typeface="Arial" pitchFamily="34" charset="-122"/>
                <a:cs typeface="Arial" pitchFamily="34" charset="-120"/>
              </a:rPr>
              <a:t>Nghiệp vụ chồng chéo giữa các nhóm chức năng</a:t>
            </a:r>
            <a:endParaRPr lang="en-US" sz="950" dirty="0"/>
          </a:p>
        </p:txBody>
      </p:sp>
      <p:sp>
        <p:nvSpPr>
          <p:cNvPr id="14" name="Shape 12"/>
          <p:cNvSpPr/>
          <p:nvPr/>
        </p:nvSpPr>
        <p:spPr>
          <a:xfrm>
            <a:off x="3200400" y="1188720"/>
            <a:ext cx="2697480" cy="3383280"/>
          </a:xfrm>
          <a:prstGeom prst="roundRect">
            <a:avLst>
              <a:gd name="adj" fmla="val 3390"/>
            </a:avLst>
          </a:prstGeom>
          <a:solidFill>
            <a:srgbClr val="EFF6FF"/>
          </a:solidFill>
          <a:ln/>
          <a:effectLst>
            <a:outerShdw blurRad="50800" dist="25400" dir="8100000" algn="bl" rotWithShape="0">
              <a:srgbClr val="000000">
                <a:alpha val="8000"/>
              </a:srgbClr>
            </a:outerShdw>
          </a:effectLst>
        </p:spPr>
        <p:txBody>
          <a:bodyPr/>
          <a:lstStyle/>
          <a:p>
            <a:endParaRPr lang="en-VN"/>
          </a:p>
        </p:txBody>
      </p:sp>
      <p:sp>
        <p:nvSpPr>
          <p:cNvPr id="15" name="Shape 13"/>
          <p:cNvSpPr/>
          <p:nvPr/>
        </p:nvSpPr>
        <p:spPr>
          <a:xfrm>
            <a:off x="4206240" y="1280160"/>
            <a:ext cx="640080" cy="640080"/>
          </a:xfrm>
          <a:prstGeom prst="ellipse">
            <a:avLst/>
          </a:prstGeom>
          <a:solidFill>
            <a:srgbClr val="2563EB"/>
          </a:solidFill>
          <a:ln/>
        </p:spPr>
        <p:txBody>
          <a:bodyPr/>
          <a:lstStyle/>
          <a:p>
            <a:endParaRPr lang="en-VN"/>
          </a:p>
        </p:txBody>
      </p:sp>
      <p:sp>
        <p:nvSpPr>
          <p:cNvPr id="16" name="Text 14"/>
          <p:cNvSpPr/>
          <p:nvPr/>
        </p:nvSpPr>
        <p:spPr>
          <a:xfrm>
            <a:off x="4206240" y="1280160"/>
            <a:ext cx="640080" cy="640080"/>
          </a:xfrm>
          <a:prstGeom prst="rect">
            <a:avLst/>
          </a:prstGeom>
          <a:noFill/>
          <a:ln/>
        </p:spPr>
        <p:txBody>
          <a:bodyPr wrap="square" rtlCol="0" anchor="ctr"/>
          <a:lstStyle/>
          <a:p>
            <a:pPr marL="0" indent="0" algn="ctr">
              <a:buNone/>
            </a:pPr>
            <a:r>
              <a:rPr lang="en-US" sz="2400" b="1" dirty="0">
                <a:solidFill>
                  <a:srgbClr val="FFFFFF"/>
                </a:solidFill>
                <a:latin typeface="Arial" pitchFamily="34" charset="0"/>
                <a:ea typeface="Arial" pitchFamily="34" charset="-122"/>
                <a:cs typeface="Arial" pitchFamily="34" charset="-120"/>
              </a:rPr>
              <a:t>2</a:t>
            </a:r>
            <a:endParaRPr lang="en-US" sz="2400" dirty="0"/>
          </a:p>
        </p:txBody>
      </p:sp>
      <p:sp>
        <p:nvSpPr>
          <p:cNvPr id="17" name="Text 15"/>
          <p:cNvSpPr/>
          <p:nvPr/>
        </p:nvSpPr>
        <p:spPr>
          <a:xfrm>
            <a:off x="3200400" y="2011680"/>
            <a:ext cx="2697480" cy="365760"/>
          </a:xfrm>
          <a:prstGeom prst="rect">
            <a:avLst/>
          </a:prstGeom>
          <a:noFill/>
          <a:ln/>
        </p:spPr>
        <p:txBody>
          <a:bodyPr wrap="square" rtlCol="0" anchor="ctr"/>
          <a:lstStyle/>
          <a:p>
            <a:pPr marL="0" indent="0" algn="ctr">
              <a:buNone/>
            </a:pPr>
            <a:r>
              <a:rPr lang="en-US" sz="1600" b="1" dirty="0">
                <a:solidFill>
                  <a:srgbClr val="2563EB"/>
                </a:solidFill>
                <a:latin typeface="Arial" pitchFamily="34" charset="0"/>
                <a:ea typeface="Arial" pitchFamily="34" charset="-122"/>
                <a:cs typeface="Arial" pitchFamily="34" charset="-120"/>
              </a:rPr>
              <a:t>Giải pháp</a:t>
            </a:r>
            <a:endParaRPr lang="en-US" sz="1600" dirty="0"/>
          </a:p>
        </p:txBody>
      </p:sp>
      <p:sp>
        <p:nvSpPr>
          <p:cNvPr id="18" name="Text 16"/>
          <p:cNvSpPr/>
          <p:nvPr/>
        </p:nvSpPr>
        <p:spPr>
          <a:xfrm>
            <a:off x="3337560" y="2423160"/>
            <a:ext cx="2423160" cy="2057400"/>
          </a:xfrm>
          <a:prstGeom prst="rect">
            <a:avLst/>
          </a:prstGeom>
          <a:noFill/>
          <a:ln/>
        </p:spPr>
        <p:txBody>
          <a:bodyPr wrap="square" rtlCol="0" anchor="t"/>
          <a:lstStyle/>
          <a:p>
            <a:pPr marL="0" indent="0">
              <a:lnSpc>
                <a:spcPct val="120000"/>
              </a:lnSpc>
              <a:buNone/>
            </a:pPr>
            <a:r>
              <a:rPr lang="en-US" sz="950" dirty="0">
                <a:solidFill>
                  <a:srgbClr val="1F2937"/>
                </a:solidFill>
                <a:latin typeface="Arial" pitchFamily="34" charset="0"/>
                <a:ea typeface="Arial" pitchFamily="34" charset="-122"/>
                <a:cs typeface="Arial" pitchFamily="34" charset="-120"/>
              </a:rPr>
              <a:t>Xây dựng Hub Integration Platform tập trung gồm:</a:t>
            </a:r>
            <a:endParaRPr lang="en-US" sz="950" dirty="0"/>
          </a:p>
          <a:p>
            <a:pPr marL="0" indent="0">
              <a:lnSpc>
                <a:spcPct val="120000"/>
              </a:lnSpc>
              <a:buNone/>
            </a:pPr>
            <a:endParaRPr lang="en-US" sz="950" dirty="0"/>
          </a:p>
          <a:p>
            <a:pPr marL="0" indent="0">
              <a:lnSpc>
                <a:spcPct val="120000"/>
              </a:lnSpc>
              <a:buNone/>
            </a:pPr>
            <a:r>
              <a:rPr lang="en-US" sz="950" dirty="0">
                <a:solidFill>
                  <a:srgbClr val="1F2937"/>
                </a:solidFill>
                <a:latin typeface="Arial" pitchFamily="34" charset="0"/>
                <a:ea typeface="Arial" pitchFamily="34" charset="-122"/>
                <a:cs typeface="Arial" pitchFamily="34" charset="-120"/>
              </a:rPr>
              <a:t>1. API Gateway quản lý giao tiếp</a:t>
            </a:r>
            <a:endParaRPr lang="en-US" sz="950" dirty="0"/>
          </a:p>
          <a:p>
            <a:pPr marL="0" indent="0">
              <a:lnSpc>
                <a:spcPct val="120000"/>
              </a:lnSpc>
              <a:buNone/>
            </a:pPr>
            <a:r>
              <a:rPr lang="en-US" sz="950" dirty="0">
                <a:solidFill>
                  <a:srgbClr val="1F2937"/>
                </a:solidFill>
                <a:latin typeface="Arial" pitchFamily="34" charset="0"/>
                <a:ea typeface="Arial" pitchFamily="34" charset="-122"/>
                <a:cs typeface="Arial" pitchFamily="34" charset="-120"/>
              </a:rPr>
              <a:t>2. Event Streaming (Kafka) xử lý real-time</a:t>
            </a:r>
            <a:endParaRPr lang="en-US" sz="950" dirty="0"/>
          </a:p>
          <a:p>
            <a:pPr marL="0" indent="0">
              <a:lnSpc>
                <a:spcPct val="120000"/>
              </a:lnSpc>
              <a:buNone/>
            </a:pPr>
            <a:r>
              <a:rPr lang="en-US" sz="950" dirty="0">
                <a:solidFill>
                  <a:srgbClr val="1F2937"/>
                </a:solidFill>
                <a:latin typeface="Arial" pitchFamily="34" charset="0"/>
                <a:ea typeface="Arial" pitchFamily="34" charset="-122"/>
                <a:cs typeface="Arial" pitchFamily="34" charset="-120"/>
              </a:rPr>
              <a:t>3. Workflow Engine (n8n) điều phối</a:t>
            </a:r>
            <a:endParaRPr lang="en-US" sz="950" dirty="0"/>
          </a:p>
          <a:p>
            <a:pPr marL="0" indent="0">
              <a:lnSpc>
                <a:spcPct val="120000"/>
              </a:lnSpc>
              <a:buNone/>
            </a:pPr>
            <a:r>
              <a:rPr lang="en-US" sz="950" dirty="0">
                <a:solidFill>
                  <a:srgbClr val="1F2937"/>
                </a:solidFill>
                <a:latin typeface="Arial" pitchFamily="34" charset="0"/>
                <a:ea typeface="Arial" pitchFamily="34" charset="-122"/>
                <a:cs typeface="Arial" pitchFamily="34" charset="-120"/>
              </a:rPr>
              <a:t>4. Bảo mật &amp; SSO tập trung</a:t>
            </a:r>
            <a:endParaRPr lang="en-US" sz="950" dirty="0"/>
          </a:p>
        </p:txBody>
      </p:sp>
      <p:sp>
        <p:nvSpPr>
          <p:cNvPr id="19" name="Shape 17"/>
          <p:cNvSpPr/>
          <p:nvPr/>
        </p:nvSpPr>
        <p:spPr>
          <a:xfrm>
            <a:off x="6080760" y="1188720"/>
            <a:ext cx="2697480" cy="3383280"/>
          </a:xfrm>
          <a:prstGeom prst="roundRect">
            <a:avLst>
              <a:gd name="adj" fmla="val 3390"/>
            </a:avLst>
          </a:prstGeom>
          <a:solidFill>
            <a:srgbClr val="ECFDF5"/>
          </a:solidFill>
          <a:ln/>
          <a:effectLst>
            <a:outerShdw blurRad="50800" dist="25400" dir="8100000" algn="bl" rotWithShape="0">
              <a:srgbClr val="000000">
                <a:alpha val="8000"/>
              </a:srgbClr>
            </a:outerShdw>
          </a:effectLst>
        </p:spPr>
        <p:txBody>
          <a:bodyPr/>
          <a:lstStyle/>
          <a:p>
            <a:endParaRPr lang="en-VN"/>
          </a:p>
        </p:txBody>
      </p:sp>
      <p:sp>
        <p:nvSpPr>
          <p:cNvPr id="20" name="Shape 18"/>
          <p:cNvSpPr/>
          <p:nvPr/>
        </p:nvSpPr>
        <p:spPr>
          <a:xfrm>
            <a:off x="7086600" y="1280160"/>
            <a:ext cx="640080" cy="640080"/>
          </a:xfrm>
          <a:prstGeom prst="ellipse">
            <a:avLst/>
          </a:prstGeom>
          <a:solidFill>
            <a:srgbClr val="059669"/>
          </a:solidFill>
          <a:ln/>
        </p:spPr>
        <p:txBody>
          <a:bodyPr/>
          <a:lstStyle/>
          <a:p>
            <a:endParaRPr lang="en-VN"/>
          </a:p>
        </p:txBody>
      </p:sp>
      <p:sp>
        <p:nvSpPr>
          <p:cNvPr id="21" name="Text 19"/>
          <p:cNvSpPr/>
          <p:nvPr/>
        </p:nvSpPr>
        <p:spPr>
          <a:xfrm>
            <a:off x="7086600" y="1280160"/>
            <a:ext cx="640080" cy="640080"/>
          </a:xfrm>
          <a:prstGeom prst="rect">
            <a:avLst/>
          </a:prstGeom>
          <a:noFill/>
          <a:ln/>
        </p:spPr>
        <p:txBody>
          <a:bodyPr wrap="square" rtlCol="0" anchor="ctr"/>
          <a:lstStyle/>
          <a:p>
            <a:pPr marL="0" indent="0" algn="ctr">
              <a:buNone/>
            </a:pPr>
            <a:r>
              <a:rPr lang="en-US" sz="2400" b="1" dirty="0">
                <a:solidFill>
                  <a:srgbClr val="FFFFFF"/>
                </a:solidFill>
                <a:latin typeface="Arial" pitchFamily="34" charset="0"/>
                <a:ea typeface="Arial" pitchFamily="34" charset="-122"/>
                <a:cs typeface="Arial" pitchFamily="34" charset="-120"/>
              </a:rPr>
              <a:t>3</a:t>
            </a:r>
            <a:endParaRPr lang="en-US" sz="2400" dirty="0"/>
          </a:p>
        </p:txBody>
      </p:sp>
      <p:sp>
        <p:nvSpPr>
          <p:cNvPr id="22" name="Text 20"/>
          <p:cNvSpPr/>
          <p:nvPr/>
        </p:nvSpPr>
        <p:spPr>
          <a:xfrm>
            <a:off x="6080760" y="2011680"/>
            <a:ext cx="2697480" cy="365760"/>
          </a:xfrm>
          <a:prstGeom prst="rect">
            <a:avLst/>
          </a:prstGeom>
          <a:noFill/>
          <a:ln/>
        </p:spPr>
        <p:txBody>
          <a:bodyPr wrap="square" rtlCol="0" anchor="ctr"/>
          <a:lstStyle/>
          <a:p>
            <a:pPr marL="0" indent="0" algn="ctr">
              <a:buNone/>
            </a:pPr>
            <a:r>
              <a:rPr lang="en-US" sz="1600" b="1" dirty="0">
                <a:solidFill>
                  <a:srgbClr val="059669"/>
                </a:solidFill>
                <a:latin typeface="Arial" pitchFamily="34" charset="0"/>
                <a:ea typeface="Arial" pitchFamily="34" charset="-122"/>
                <a:cs typeface="Arial" pitchFamily="34" charset="-120"/>
              </a:rPr>
              <a:t>Lợi ích</a:t>
            </a:r>
            <a:endParaRPr lang="en-US" sz="1600" dirty="0"/>
          </a:p>
        </p:txBody>
      </p:sp>
      <p:sp>
        <p:nvSpPr>
          <p:cNvPr id="23" name="Text 21"/>
          <p:cNvSpPr/>
          <p:nvPr/>
        </p:nvSpPr>
        <p:spPr>
          <a:xfrm>
            <a:off x="6217920" y="2423160"/>
            <a:ext cx="2423160" cy="2057400"/>
          </a:xfrm>
          <a:prstGeom prst="rect">
            <a:avLst/>
          </a:prstGeom>
          <a:noFill/>
          <a:ln/>
        </p:spPr>
        <p:txBody>
          <a:bodyPr wrap="square" rtlCol="0" anchor="t"/>
          <a:lstStyle/>
          <a:p>
            <a:pPr marL="0" indent="0">
              <a:lnSpc>
                <a:spcPct val="120000"/>
              </a:lnSpc>
              <a:buNone/>
            </a:pPr>
            <a:r>
              <a:rPr lang="en-US" sz="950" dirty="0">
                <a:solidFill>
                  <a:srgbClr val="1F2937"/>
                </a:solidFill>
                <a:latin typeface="Arial" pitchFamily="34" charset="0"/>
                <a:ea typeface="Arial" pitchFamily="34" charset="-122"/>
                <a:cs typeface="Arial" pitchFamily="34" charset="-120"/>
              </a:rPr>
              <a:t>Giảm 70% chi phí tích hợp so với point-to-point</a:t>
            </a:r>
            <a:endParaRPr lang="en-US" sz="950" dirty="0"/>
          </a:p>
          <a:p>
            <a:pPr marL="0" indent="0">
              <a:lnSpc>
                <a:spcPct val="120000"/>
              </a:lnSpc>
              <a:buNone/>
            </a:pPr>
            <a:endParaRPr lang="en-US" sz="950" dirty="0"/>
          </a:p>
          <a:p>
            <a:pPr marL="0" indent="0">
              <a:lnSpc>
                <a:spcPct val="120000"/>
              </a:lnSpc>
              <a:buNone/>
            </a:pPr>
            <a:r>
              <a:rPr lang="en-US" sz="950" dirty="0">
                <a:solidFill>
                  <a:srgbClr val="1F2937"/>
                </a:solidFill>
                <a:latin typeface="Arial" pitchFamily="34" charset="0"/>
                <a:ea typeface="Arial" pitchFamily="34" charset="-122"/>
                <a:cs typeface="Arial" pitchFamily="34" charset="-120"/>
              </a:rPr>
              <a:t>Thời gian tích hợp hệ thống mới: từ tháng → ngày</a:t>
            </a:r>
            <a:endParaRPr lang="en-US" sz="950" dirty="0"/>
          </a:p>
          <a:p>
            <a:pPr marL="0" indent="0">
              <a:lnSpc>
                <a:spcPct val="120000"/>
              </a:lnSpc>
              <a:buNone/>
            </a:pPr>
            <a:endParaRPr lang="en-US" sz="950" dirty="0"/>
          </a:p>
          <a:p>
            <a:pPr marL="0" indent="0">
              <a:lnSpc>
                <a:spcPct val="120000"/>
              </a:lnSpc>
              <a:buNone/>
            </a:pPr>
            <a:r>
              <a:rPr lang="en-US" sz="950" dirty="0">
                <a:solidFill>
                  <a:srgbClr val="1F2937"/>
                </a:solidFill>
                <a:latin typeface="Arial" pitchFamily="34" charset="0"/>
                <a:ea typeface="Arial" pitchFamily="34" charset="-122"/>
                <a:cs typeface="Arial" pitchFamily="34" charset="-120"/>
              </a:rPr>
              <a:t>Customer 360 xuyên suốt toàn tập đoàn</a:t>
            </a:r>
            <a:endParaRPr lang="en-US" sz="950" dirty="0"/>
          </a:p>
          <a:p>
            <a:pPr marL="0" indent="0">
              <a:lnSpc>
                <a:spcPct val="120000"/>
              </a:lnSpc>
              <a:buNone/>
            </a:pPr>
            <a:endParaRPr lang="en-US" sz="950" dirty="0"/>
          </a:p>
          <a:p>
            <a:pPr marL="0" indent="0">
              <a:lnSpc>
                <a:spcPct val="120000"/>
              </a:lnSpc>
              <a:buNone/>
            </a:pPr>
            <a:r>
              <a:rPr lang="en-US" sz="950" dirty="0">
                <a:solidFill>
                  <a:srgbClr val="1F2937"/>
                </a:solidFill>
                <a:latin typeface="Arial" pitchFamily="34" charset="0"/>
                <a:ea typeface="Arial" pitchFamily="34" charset="-122"/>
                <a:cs typeface="Arial" pitchFamily="34" charset="-120"/>
              </a:rPr>
              <a:t>Tiết kiệm $300K-1M USD/năm license vs enterprise</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4C"/>
        </a:solidFill>
        <a:effectLst/>
      </p:bgPr>
    </p:bg>
    <p:spTree>
      <p:nvGrpSpPr>
        <p:cNvPr id="1" name=""/>
        <p:cNvGrpSpPr/>
        <p:nvPr/>
      </p:nvGrpSpPr>
      <p:grpSpPr>
        <a:xfrm>
          <a:off x="0" y="0"/>
          <a:ext cx="0" cy="0"/>
          <a:chOff x="0" y="0"/>
          <a:chExt cx="0" cy="0"/>
        </a:xfrm>
      </p:grpSpPr>
      <p:sp>
        <p:nvSpPr>
          <p:cNvPr id="2" name="Shape 0"/>
          <p:cNvSpPr/>
          <p:nvPr/>
        </p:nvSpPr>
        <p:spPr>
          <a:xfrm rot="-1800000">
            <a:off x="6858000" y="274320"/>
            <a:ext cx="2011680" cy="0"/>
          </a:xfrm>
          <a:prstGeom prst="line">
            <a:avLst/>
          </a:prstGeom>
          <a:noFill/>
          <a:ln w="25400">
            <a:solidFill>
              <a:srgbClr val="C8A962"/>
            </a:solidFill>
            <a:prstDash val="solid"/>
          </a:ln>
        </p:spPr>
        <p:txBody>
          <a:bodyPr/>
          <a:lstStyle/>
          <a:p>
            <a:endParaRPr lang="en-VN"/>
          </a:p>
        </p:txBody>
      </p:sp>
      <p:sp>
        <p:nvSpPr>
          <p:cNvPr id="3" name="Shape 1"/>
          <p:cNvSpPr/>
          <p:nvPr/>
        </p:nvSpPr>
        <p:spPr>
          <a:xfrm rot="-1800000">
            <a:off x="7315200" y="91440"/>
            <a:ext cx="2011680" cy="0"/>
          </a:xfrm>
          <a:prstGeom prst="line">
            <a:avLst/>
          </a:prstGeom>
          <a:noFill/>
          <a:ln w="12700">
            <a:solidFill>
              <a:srgbClr val="C8A962"/>
            </a:solidFill>
            <a:prstDash val="solid"/>
          </a:ln>
        </p:spPr>
        <p:txBody>
          <a:bodyPr/>
          <a:lstStyle/>
          <a:p>
            <a:endParaRPr lang="en-VN"/>
          </a:p>
        </p:txBody>
      </p:sp>
      <p:sp>
        <p:nvSpPr>
          <p:cNvPr id="4" name="Shape 2"/>
          <p:cNvSpPr/>
          <p:nvPr/>
        </p:nvSpPr>
        <p:spPr>
          <a:xfrm rot="-1800000">
            <a:off x="274320" y="4114800"/>
            <a:ext cx="2011680" cy="0"/>
          </a:xfrm>
          <a:prstGeom prst="line">
            <a:avLst/>
          </a:prstGeom>
          <a:noFill/>
          <a:ln w="25400">
            <a:solidFill>
              <a:srgbClr val="C8A962"/>
            </a:solidFill>
            <a:prstDash val="solid"/>
          </a:ln>
        </p:spPr>
        <p:txBody>
          <a:bodyPr/>
          <a:lstStyle/>
          <a:p>
            <a:endParaRPr lang="en-VN"/>
          </a:p>
        </p:txBody>
      </p:sp>
      <p:sp>
        <p:nvSpPr>
          <p:cNvPr id="5" name="Shape 3"/>
          <p:cNvSpPr/>
          <p:nvPr/>
        </p:nvSpPr>
        <p:spPr>
          <a:xfrm rot="-1800000">
            <a:off x="0" y="4389120"/>
            <a:ext cx="2011680" cy="0"/>
          </a:xfrm>
          <a:prstGeom prst="line">
            <a:avLst/>
          </a:prstGeom>
          <a:noFill/>
          <a:ln w="12700">
            <a:solidFill>
              <a:srgbClr val="C8A962"/>
            </a:solidFill>
            <a:prstDash val="solid"/>
          </a:ln>
        </p:spPr>
        <p:txBody>
          <a:bodyPr/>
          <a:lstStyle/>
          <a:p>
            <a:endParaRPr lang="en-VN"/>
          </a:p>
        </p:txBody>
      </p:sp>
      <p:sp>
        <p:nvSpPr>
          <p:cNvPr id="6" name="Text 4"/>
          <p:cNvSpPr/>
          <p:nvPr/>
        </p:nvSpPr>
        <p:spPr>
          <a:xfrm>
            <a:off x="457200" y="1645920"/>
            <a:ext cx="7315200" cy="1097280"/>
          </a:xfrm>
          <a:prstGeom prst="rect">
            <a:avLst/>
          </a:prstGeom>
          <a:noFill/>
          <a:ln/>
        </p:spPr>
        <p:txBody>
          <a:bodyPr wrap="square" rtlCol="0" anchor="ctr"/>
          <a:lstStyle/>
          <a:p>
            <a:pPr marL="0" indent="0">
              <a:buNone/>
            </a:pPr>
            <a:r>
              <a:rPr lang="en-US" sz="3600" b="1" dirty="0">
                <a:solidFill>
                  <a:srgbClr val="FFFFFF"/>
                </a:solidFill>
                <a:latin typeface="Arial" pitchFamily="34" charset="0"/>
                <a:ea typeface="Arial" pitchFamily="34" charset="-122"/>
                <a:cs typeface="Arial" pitchFamily="34" charset="-120"/>
              </a:rPr>
              <a:t>BỐI CẢNH &amp;</a:t>
            </a:r>
            <a:endParaRPr lang="en-US" sz="3600" dirty="0"/>
          </a:p>
          <a:p>
            <a:pPr marL="0" indent="0">
              <a:buNone/>
            </a:pPr>
            <a:r>
              <a:rPr lang="en-US" sz="3600" b="1" dirty="0">
                <a:solidFill>
                  <a:srgbClr val="FFFFFF"/>
                </a:solidFill>
                <a:latin typeface="Arial" pitchFamily="34" charset="0"/>
                <a:ea typeface="Arial" pitchFamily="34" charset="-122"/>
                <a:cs typeface="Arial" pitchFamily="34" charset="-120"/>
              </a:rPr>
              <a:t>THÁCH THỨC</a:t>
            </a:r>
            <a:endParaRPr lang="en-US" sz="3600" dirty="0"/>
          </a:p>
        </p:txBody>
      </p:sp>
      <p:sp>
        <p:nvSpPr>
          <p:cNvPr id="7" name="Text 5"/>
          <p:cNvSpPr/>
          <p:nvPr/>
        </p:nvSpPr>
        <p:spPr>
          <a:xfrm>
            <a:off x="457200" y="2743200"/>
            <a:ext cx="7315200" cy="548640"/>
          </a:xfrm>
          <a:prstGeom prst="rect">
            <a:avLst/>
          </a:prstGeom>
          <a:noFill/>
          <a:ln/>
        </p:spPr>
        <p:txBody>
          <a:bodyPr wrap="square" rtlCol="0" anchor="t"/>
          <a:lstStyle/>
          <a:p>
            <a:pPr marL="0" indent="0">
              <a:buNone/>
            </a:pPr>
            <a:r>
              <a:rPr lang="en-US" sz="1600" dirty="0">
                <a:solidFill>
                  <a:srgbClr val="C8A962"/>
                </a:solidFill>
                <a:latin typeface="Arial" pitchFamily="34" charset="0"/>
                <a:ea typeface="Arial" pitchFamily="34" charset="-122"/>
                <a:cs typeface="Arial" pitchFamily="34" charset="-120"/>
              </a:rPr>
              <a:t>Hiện trạng hệ thống và nhu cầu tích hợp tại Novagroup</a:t>
            </a:r>
            <a:endParaRPr lang="en-US" sz="1600" dirty="0"/>
          </a:p>
        </p:txBody>
      </p:sp>
      <p:sp>
        <p:nvSpPr>
          <p:cNvPr id="8" name="Shape 6"/>
          <p:cNvSpPr/>
          <p:nvPr/>
        </p:nvSpPr>
        <p:spPr>
          <a:xfrm>
            <a:off x="0" y="4937760"/>
            <a:ext cx="9144000" cy="205740"/>
          </a:xfrm>
          <a:prstGeom prst="rect">
            <a:avLst/>
          </a:prstGeom>
          <a:solidFill>
            <a:srgbClr val="C8A962"/>
          </a:solidFill>
          <a:ln/>
        </p:spPr>
        <p:txBody>
          <a:bodyPr/>
          <a:lstStyle/>
          <a:p>
            <a:endParaRPr lang="en-V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1B4C"/>
          </a:solidFill>
          <a:ln/>
        </p:spPr>
        <p:txBody>
          <a:bodyPr/>
          <a:lstStyle/>
          <a:p>
            <a:endParaRPr lang="en-VN"/>
          </a:p>
        </p:txBody>
      </p:sp>
      <p:sp>
        <p:nvSpPr>
          <p:cNvPr id="3" name="Shape 1"/>
          <p:cNvSpPr/>
          <p:nvPr/>
        </p:nvSpPr>
        <p:spPr>
          <a:xfrm>
            <a:off x="0" y="914400"/>
            <a:ext cx="9144000" cy="36576"/>
          </a:xfrm>
          <a:prstGeom prst="rect">
            <a:avLst/>
          </a:prstGeom>
          <a:solidFill>
            <a:srgbClr val="C8A962"/>
          </a:solidFill>
          <a:ln/>
        </p:spPr>
        <p:txBody>
          <a:bodyPr/>
          <a:lstStyle/>
          <a:p>
            <a:endParaRPr lang="en-VN"/>
          </a:p>
        </p:txBody>
      </p:sp>
      <p:sp>
        <p:nvSpPr>
          <p:cNvPr id="4" name="Text 2"/>
          <p:cNvSpPr/>
          <p:nvPr/>
        </p:nvSpPr>
        <p:spPr>
          <a:xfrm>
            <a:off x="457200" y="0"/>
            <a:ext cx="8229600" cy="548640"/>
          </a:xfrm>
          <a:prstGeom prst="rect">
            <a:avLst/>
          </a:prstGeom>
          <a:noFill/>
          <a:ln/>
        </p:spPr>
        <p:txBody>
          <a:bodyPr wrap="square" rtlCol="0" anchor="b"/>
          <a:lstStyle/>
          <a:p>
            <a:pPr marL="0" indent="0">
              <a:buNone/>
            </a:pPr>
            <a:r>
              <a:rPr lang="en-US" sz="2400" b="1" dirty="0">
                <a:solidFill>
                  <a:srgbClr val="FFFFFF"/>
                </a:solidFill>
                <a:latin typeface="Arial" pitchFamily="34" charset="0"/>
                <a:ea typeface="Arial" pitchFamily="34" charset="-122"/>
                <a:cs typeface="Arial" pitchFamily="34" charset="-120"/>
              </a:rPr>
              <a:t>Bản đồ Hệ thống Novagroup</a:t>
            </a:r>
            <a:endParaRPr lang="en-US" sz="2400" dirty="0"/>
          </a:p>
        </p:txBody>
      </p:sp>
      <p:sp>
        <p:nvSpPr>
          <p:cNvPr id="5" name="Text 3"/>
          <p:cNvSpPr/>
          <p:nvPr/>
        </p:nvSpPr>
        <p:spPr>
          <a:xfrm>
            <a:off x="457200" y="548640"/>
            <a:ext cx="8229600" cy="365760"/>
          </a:xfrm>
          <a:prstGeom prst="rect">
            <a:avLst/>
          </a:prstGeom>
          <a:noFill/>
          <a:ln/>
        </p:spPr>
        <p:txBody>
          <a:bodyPr wrap="square" rtlCol="0" anchor="t"/>
          <a:lstStyle/>
          <a:p>
            <a:pPr marL="0" indent="0">
              <a:buNone/>
            </a:pPr>
            <a:r>
              <a:rPr lang="en-US" sz="1300" dirty="0">
                <a:solidFill>
                  <a:srgbClr val="C8A962"/>
                </a:solidFill>
                <a:latin typeface="Arial" pitchFamily="34" charset="0"/>
                <a:ea typeface="Arial" pitchFamily="34" charset="-122"/>
                <a:cs typeface="Arial" pitchFamily="34" charset="-120"/>
              </a:rPr>
              <a:t>System Landscape Overview</a:t>
            </a:r>
            <a:endParaRPr lang="en-US" sz="1300" dirty="0"/>
          </a:p>
        </p:txBody>
      </p:sp>
      <p:sp>
        <p:nvSpPr>
          <p:cNvPr id="6" name="Shape 4"/>
          <p:cNvSpPr/>
          <p:nvPr/>
        </p:nvSpPr>
        <p:spPr>
          <a:xfrm>
            <a:off x="0" y="4709160"/>
            <a:ext cx="9144000" cy="434340"/>
          </a:xfrm>
          <a:prstGeom prst="rect">
            <a:avLst/>
          </a:prstGeom>
          <a:solidFill>
            <a:srgbClr val="0D1B4C"/>
          </a:solidFill>
          <a:ln/>
        </p:spPr>
        <p:txBody>
          <a:bodyPr/>
          <a:lstStyle/>
          <a:p>
            <a:endParaRPr lang="en-VN"/>
          </a:p>
        </p:txBody>
      </p:sp>
      <p:sp>
        <p:nvSpPr>
          <p:cNvPr id="7" name="Text 5"/>
          <p:cNvSpPr/>
          <p:nvPr/>
        </p:nvSpPr>
        <p:spPr>
          <a:xfrm>
            <a:off x="457200" y="4709160"/>
            <a:ext cx="6400800" cy="434340"/>
          </a:xfrm>
          <a:prstGeom prst="rect">
            <a:avLst/>
          </a:prstGeom>
          <a:noFill/>
          <a:ln/>
        </p:spPr>
        <p:txBody>
          <a:bodyPr wrap="square" rtlCol="0" anchor="ctr"/>
          <a:lstStyle/>
          <a:p>
            <a:pPr marL="0" indent="0">
              <a:buNone/>
            </a:pPr>
            <a:r>
              <a:rPr lang="en-US" sz="900" dirty="0">
                <a:solidFill>
                  <a:srgbClr val="C8A962"/>
                </a:solidFill>
                <a:latin typeface="Arial" pitchFamily="34" charset="0"/>
                <a:ea typeface="Arial" pitchFamily="34" charset="-122"/>
                <a:cs typeface="Arial" pitchFamily="34" charset="-120"/>
              </a:rPr>
              <a:t>Tiên Phong CDS  |  Novagroup  |  Hub Integration Platform</a:t>
            </a:r>
            <a:endParaRPr lang="en-US" sz="900" dirty="0"/>
          </a:p>
        </p:txBody>
      </p:sp>
      <p:sp>
        <p:nvSpPr>
          <p:cNvPr id="8" name="Text 6"/>
          <p:cNvSpPr/>
          <p:nvPr/>
        </p:nvSpPr>
        <p:spPr>
          <a:xfrm>
            <a:off x="7772400" y="4709160"/>
            <a:ext cx="914400" cy="434340"/>
          </a:xfrm>
          <a:prstGeom prst="rect">
            <a:avLst/>
          </a:prstGeom>
          <a:noFill/>
          <a:ln/>
        </p:spPr>
        <p:txBody>
          <a:bodyPr wrap="square" rtlCol="0" anchor="ctr"/>
          <a:lstStyle/>
          <a:p>
            <a:pPr marL="0" indent="0" algn="r">
              <a:buNone/>
            </a:pPr>
            <a:r>
              <a:rPr lang="en-US" sz="900" dirty="0">
                <a:solidFill>
                  <a:srgbClr val="FFFFFF"/>
                </a:solidFill>
                <a:latin typeface="Arial" pitchFamily="34" charset="0"/>
                <a:ea typeface="Arial" pitchFamily="34" charset="-122"/>
                <a:cs typeface="Arial" pitchFamily="34" charset="-120"/>
              </a:rPr>
              <a:t>4</a:t>
            </a:r>
            <a:endParaRPr lang="en-US" sz="900" dirty="0"/>
          </a:p>
        </p:txBody>
      </p:sp>
      <p:sp>
        <p:nvSpPr>
          <p:cNvPr id="9" name="Shape 7"/>
          <p:cNvSpPr/>
          <p:nvPr/>
        </p:nvSpPr>
        <p:spPr>
          <a:xfrm>
            <a:off x="274320" y="1188720"/>
            <a:ext cx="2697480" cy="1353312"/>
          </a:xfrm>
          <a:prstGeom prst="roundRect">
            <a:avLst>
              <a:gd name="adj" fmla="val 4054"/>
            </a:avLst>
          </a:prstGeom>
          <a:solidFill>
            <a:srgbClr val="FFFFFF"/>
          </a:solidFill>
          <a:ln w="19050">
            <a:solidFill>
              <a:srgbClr val="2563EB"/>
            </a:solidFill>
            <a:prstDash val="solid"/>
          </a:ln>
          <a:effectLst>
            <a:outerShdw blurRad="50800" dist="25400" dir="8100000" algn="bl" rotWithShape="0">
              <a:srgbClr val="000000">
                <a:alpha val="8000"/>
              </a:srgbClr>
            </a:outerShdw>
          </a:effectLst>
        </p:spPr>
        <p:txBody>
          <a:bodyPr/>
          <a:lstStyle/>
          <a:p>
            <a:endParaRPr lang="en-VN"/>
          </a:p>
        </p:txBody>
      </p:sp>
      <p:sp>
        <p:nvSpPr>
          <p:cNvPr id="10" name="Shape 8"/>
          <p:cNvSpPr/>
          <p:nvPr/>
        </p:nvSpPr>
        <p:spPr>
          <a:xfrm>
            <a:off x="274320" y="1188720"/>
            <a:ext cx="2697480" cy="320040"/>
          </a:xfrm>
          <a:prstGeom prst="rect">
            <a:avLst/>
          </a:prstGeom>
          <a:solidFill>
            <a:srgbClr val="2563EB"/>
          </a:solidFill>
          <a:ln/>
        </p:spPr>
        <p:txBody>
          <a:bodyPr/>
          <a:lstStyle/>
          <a:p>
            <a:endParaRPr lang="en-VN"/>
          </a:p>
        </p:txBody>
      </p:sp>
      <p:sp>
        <p:nvSpPr>
          <p:cNvPr id="11" name="Text 9"/>
          <p:cNvSpPr/>
          <p:nvPr/>
        </p:nvSpPr>
        <p:spPr>
          <a:xfrm>
            <a:off x="365760" y="1188720"/>
            <a:ext cx="2514600" cy="320040"/>
          </a:xfrm>
          <a:prstGeom prst="rect">
            <a:avLst/>
          </a:prstGeom>
          <a:noFill/>
          <a:ln/>
        </p:spPr>
        <p:txBody>
          <a:bodyPr wrap="square" rtlCol="0" anchor="ctr"/>
          <a:lstStyle/>
          <a:p>
            <a:pPr marL="0" indent="0">
              <a:buNone/>
            </a:pPr>
            <a:r>
              <a:rPr lang="en-US" sz="900" b="1" dirty="0">
                <a:solidFill>
                  <a:srgbClr val="FFFFFF"/>
                </a:solidFill>
                <a:latin typeface="Arial" pitchFamily="34" charset="0"/>
                <a:ea typeface="Arial" pitchFamily="34" charset="-122"/>
                <a:cs typeface="Arial" pitchFamily="34" charset="-120"/>
              </a:rPr>
              <a:t>CORE PLATFORMS</a:t>
            </a:r>
            <a:endParaRPr lang="en-US" sz="900" dirty="0"/>
          </a:p>
        </p:txBody>
      </p:sp>
      <p:sp>
        <p:nvSpPr>
          <p:cNvPr id="12" name="Text 10"/>
          <p:cNvSpPr/>
          <p:nvPr/>
        </p:nvSpPr>
        <p:spPr>
          <a:xfrm>
            <a:off x="365760" y="1554480"/>
            <a:ext cx="2514600" cy="896112"/>
          </a:xfrm>
          <a:prstGeom prst="rect">
            <a:avLst/>
          </a:prstGeom>
          <a:noFill/>
          <a:ln/>
        </p:spPr>
        <p:txBody>
          <a:bodyPr wrap="square" rtlCol="0" anchor="t"/>
          <a:lstStyle/>
          <a:p>
            <a:pPr marL="0" indent="0">
              <a:lnSpc>
                <a:spcPct val="125000"/>
              </a:lnSpc>
              <a:buNone/>
            </a:pPr>
            <a:r>
              <a:rPr lang="en-US" sz="850" dirty="0">
                <a:solidFill>
                  <a:srgbClr val="1F2937"/>
                </a:solidFill>
                <a:latin typeface="Arial" pitchFamily="34" charset="0"/>
                <a:ea typeface="Arial" pitchFamily="34" charset="-122"/>
                <a:cs typeface="Arial" pitchFamily="34" charset="-120"/>
              </a:rPr>
              <a:t>• ONENOVA (Unified Portal)</a:t>
            </a:r>
            <a:endParaRPr lang="en-US" sz="850" dirty="0"/>
          </a:p>
          <a:p>
            <a:pPr marL="0" indent="0">
              <a:lnSpc>
                <a:spcPct val="125000"/>
              </a:lnSpc>
              <a:buNone/>
            </a:pPr>
            <a:r>
              <a:rPr lang="en-US" sz="850" dirty="0">
                <a:solidFill>
                  <a:srgbClr val="1F2937"/>
                </a:solidFill>
                <a:latin typeface="Arial" pitchFamily="34" charset="0"/>
                <a:ea typeface="Arial" pitchFamily="34" charset="-122"/>
                <a:cs typeface="Arial" pitchFamily="34" charset="-120"/>
              </a:rPr>
              <a:t>• CRM (Customer Mgmt)</a:t>
            </a:r>
            <a:endParaRPr lang="en-US" sz="850" dirty="0"/>
          </a:p>
          <a:p>
            <a:pPr marL="0" indent="0">
              <a:lnSpc>
                <a:spcPct val="125000"/>
              </a:lnSpc>
              <a:buNone/>
            </a:pPr>
            <a:r>
              <a:rPr lang="en-US" sz="850" dirty="0">
                <a:solidFill>
                  <a:srgbClr val="1F2937"/>
                </a:solidFill>
                <a:latin typeface="Arial" pitchFamily="34" charset="0"/>
                <a:ea typeface="Arial" pitchFamily="34" charset="-122"/>
                <a:cs typeface="Arial" pitchFamily="34" charset="-120"/>
              </a:rPr>
              <a:t>• ERP (Finance &amp; Ops)</a:t>
            </a:r>
            <a:endParaRPr lang="en-US" sz="850" dirty="0"/>
          </a:p>
          <a:p>
            <a:pPr marL="0" indent="0">
              <a:lnSpc>
                <a:spcPct val="125000"/>
              </a:lnSpc>
              <a:buNone/>
            </a:pPr>
            <a:r>
              <a:rPr lang="en-US" sz="850" dirty="0">
                <a:solidFill>
                  <a:srgbClr val="1F2937"/>
                </a:solidFill>
                <a:latin typeface="Arial" pitchFamily="34" charset="0"/>
                <a:ea typeface="Arial" pitchFamily="34" charset="-122"/>
                <a:cs typeface="Arial" pitchFamily="34" charset="-120"/>
              </a:rPr>
              <a:t>• NMS (Nova Mgmt System)</a:t>
            </a:r>
            <a:endParaRPr lang="en-US" sz="850" dirty="0"/>
          </a:p>
        </p:txBody>
      </p:sp>
      <p:sp>
        <p:nvSpPr>
          <p:cNvPr id="13" name="Shape 11"/>
          <p:cNvSpPr/>
          <p:nvPr/>
        </p:nvSpPr>
        <p:spPr>
          <a:xfrm>
            <a:off x="3154680" y="1188720"/>
            <a:ext cx="2697480" cy="1353312"/>
          </a:xfrm>
          <a:prstGeom prst="roundRect">
            <a:avLst>
              <a:gd name="adj" fmla="val 4054"/>
            </a:avLst>
          </a:prstGeom>
          <a:solidFill>
            <a:srgbClr val="FFFFFF"/>
          </a:solidFill>
          <a:ln w="19050">
            <a:solidFill>
              <a:srgbClr val="0891B2"/>
            </a:solidFill>
            <a:prstDash val="solid"/>
          </a:ln>
          <a:effectLst>
            <a:outerShdw blurRad="50800" dist="25400" dir="8100000" algn="bl" rotWithShape="0">
              <a:srgbClr val="000000">
                <a:alpha val="8000"/>
              </a:srgbClr>
            </a:outerShdw>
          </a:effectLst>
        </p:spPr>
        <p:txBody>
          <a:bodyPr/>
          <a:lstStyle/>
          <a:p>
            <a:endParaRPr lang="en-VN"/>
          </a:p>
        </p:txBody>
      </p:sp>
      <p:sp>
        <p:nvSpPr>
          <p:cNvPr id="14" name="Shape 12"/>
          <p:cNvSpPr/>
          <p:nvPr/>
        </p:nvSpPr>
        <p:spPr>
          <a:xfrm>
            <a:off x="3154680" y="1188720"/>
            <a:ext cx="2697480" cy="320040"/>
          </a:xfrm>
          <a:prstGeom prst="rect">
            <a:avLst/>
          </a:prstGeom>
          <a:solidFill>
            <a:srgbClr val="0891B2"/>
          </a:solidFill>
          <a:ln/>
        </p:spPr>
        <p:txBody>
          <a:bodyPr/>
          <a:lstStyle/>
          <a:p>
            <a:endParaRPr lang="en-VN"/>
          </a:p>
        </p:txBody>
      </p:sp>
      <p:sp>
        <p:nvSpPr>
          <p:cNvPr id="15" name="Text 13"/>
          <p:cNvSpPr/>
          <p:nvPr/>
        </p:nvSpPr>
        <p:spPr>
          <a:xfrm>
            <a:off x="3246120" y="1188720"/>
            <a:ext cx="2514600" cy="320040"/>
          </a:xfrm>
          <a:prstGeom prst="rect">
            <a:avLst/>
          </a:prstGeom>
          <a:noFill/>
          <a:ln/>
        </p:spPr>
        <p:txBody>
          <a:bodyPr wrap="square" rtlCol="0" anchor="ctr"/>
          <a:lstStyle/>
          <a:p>
            <a:pPr marL="0" indent="0">
              <a:buNone/>
            </a:pPr>
            <a:r>
              <a:rPr lang="en-US" sz="900" b="1" dirty="0">
                <a:solidFill>
                  <a:srgbClr val="FFFFFF"/>
                </a:solidFill>
                <a:latin typeface="Arial" pitchFamily="34" charset="0"/>
                <a:ea typeface="Arial" pitchFamily="34" charset="-122"/>
                <a:cs typeface="Arial" pitchFamily="34" charset="-120"/>
              </a:rPr>
              <a:t>DIGITAL &amp; SALES</a:t>
            </a:r>
            <a:endParaRPr lang="en-US" sz="900" dirty="0"/>
          </a:p>
        </p:txBody>
      </p:sp>
      <p:sp>
        <p:nvSpPr>
          <p:cNvPr id="16" name="Text 14"/>
          <p:cNvSpPr/>
          <p:nvPr/>
        </p:nvSpPr>
        <p:spPr>
          <a:xfrm>
            <a:off x="3246120" y="1554480"/>
            <a:ext cx="2514600" cy="896112"/>
          </a:xfrm>
          <a:prstGeom prst="rect">
            <a:avLst/>
          </a:prstGeom>
          <a:noFill/>
          <a:ln/>
        </p:spPr>
        <p:txBody>
          <a:bodyPr wrap="square" rtlCol="0" anchor="t"/>
          <a:lstStyle/>
          <a:p>
            <a:pPr marL="0" indent="0">
              <a:lnSpc>
                <a:spcPct val="125000"/>
              </a:lnSpc>
              <a:buNone/>
            </a:pPr>
            <a:r>
              <a:rPr lang="en-US" sz="850" dirty="0">
                <a:solidFill>
                  <a:srgbClr val="1F2937"/>
                </a:solidFill>
                <a:latin typeface="Arial" pitchFamily="34" charset="0"/>
                <a:ea typeface="Arial" pitchFamily="34" charset="-122"/>
                <a:cs typeface="Arial" pitchFamily="34" charset="-120"/>
              </a:rPr>
              <a:t>• eSales (E-commerce)</a:t>
            </a:r>
            <a:endParaRPr lang="en-US" sz="850" dirty="0"/>
          </a:p>
          <a:p>
            <a:pPr marL="0" indent="0">
              <a:lnSpc>
                <a:spcPct val="125000"/>
              </a:lnSpc>
              <a:buNone/>
            </a:pPr>
            <a:r>
              <a:rPr lang="en-US" sz="850" dirty="0">
                <a:solidFill>
                  <a:srgbClr val="1F2937"/>
                </a:solidFill>
                <a:latin typeface="Arial" pitchFamily="34" charset="0"/>
                <a:ea typeface="Arial" pitchFamily="34" charset="-122"/>
                <a:cs typeface="Arial" pitchFamily="34" charset="-120"/>
              </a:rPr>
              <a:t>• GMS (Group Mgmt)</a:t>
            </a:r>
            <a:endParaRPr lang="en-US" sz="850" dirty="0"/>
          </a:p>
          <a:p>
            <a:pPr marL="0" indent="0">
              <a:lnSpc>
                <a:spcPct val="125000"/>
              </a:lnSpc>
              <a:buNone/>
            </a:pPr>
            <a:r>
              <a:rPr lang="en-US" sz="850" dirty="0">
                <a:solidFill>
                  <a:srgbClr val="1F2937"/>
                </a:solidFill>
                <a:latin typeface="Arial" pitchFamily="34" charset="0"/>
                <a:ea typeface="Arial" pitchFamily="34" charset="-122"/>
                <a:cs typeface="Arial" pitchFamily="34" charset="-120"/>
              </a:rPr>
              <a:t>• Voucher &amp; Loyalty</a:t>
            </a:r>
            <a:endParaRPr lang="en-US" sz="850" dirty="0"/>
          </a:p>
          <a:p>
            <a:pPr marL="0" indent="0">
              <a:lnSpc>
                <a:spcPct val="125000"/>
              </a:lnSpc>
              <a:buNone/>
            </a:pPr>
            <a:r>
              <a:rPr lang="en-US" sz="850" dirty="0">
                <a:solidFill>
                  <a:srgbClr val="1F2937"/>
                </a:solidFill>
                <a:latin typeface="Arial" pitchFamily="34" charset="0"/>
                <a:ea typeface="Arial" pitchFamily="34" charset="-122"/>
                <a:cs typeface="Arial" pitchFamily="34" charset="-120"/>
              </a:rPr>
              <a:t>• Bán hàng tập trung</a:t>
            </a:r>
            <a:endParaRPr lang="en-US" sz="850" dirty="0"/>
          </a:p>
        </p:txBody>
      </p:sp>
      <p:sp>
        <p:nvSpPr>
          <p:cNvPr id="17" name="Shape 15"/>
          <p:cNvSpPr/>
          <p:nvPr/>
        </p:nvSpPr>
        <p:spPr>
          <a:xfrm>
            <a:off x="6035040" y="1188720"/>
            <a:ext cx="2697480" cy="1353312"/>
          </a:xfrm>
          <a:prstGeom prst="roundRect">
            <a:avLst>
              <a:gd name="adj" fmla="val 4054"/>
            </a:avLst>
          </a:prstGeom>
          <a:solidFill>
            <a:srgbClr val="FFFFFF"/>
          </a:solidFill>
          <a:ln w="19050">
            <a:solidFill>
              <a:srgbClr val="EA580C"/>
            </a:solidFill>
            <a:prstDash val="solid"/>
          </a:ln>
          <a:effectLst>
            <a:outerShdw blurRad="50800" dist="25400" dir="8100000" algn="bl" rotWithShape="0">
              <a:srgbClr val="000000">
                <a:alpha val="8000"/>
              </a:srgbClr>
            </a:outerShdw>
          </a:effectLst>
        </p:spPr>
        <p:txBody>
          <a:bodyPr/>
          <a:lstStyle/>
          <a:p>
            <a:endParaRPr lang="en-VN"/>
          </a:p>
        </p:txBody>
      </p:sp>
      <p:sp>
        <p:nvSpPr>
          <p:cNvPr id="18" name="Shape 16"/>
          <p:cNvSpPr/>
          <p:nvPr/>
        </p:nvSpPr>
        <p:spPr>
          <a:xfrm>
            <a:off x="6035040" y="1188720"/>
            <a:ext cx="2697480" cy="320040"/>
          </a:xfrm>
          <a:prstGeom prst="rect">
            <a:avLst/>
          </a:prstGeom>
          <a:solidFill>
            <a:srgbClr val="EA580C"/>
          </a:solidFill>
          <a:ln/>
        </p:spPr>
        <p:txBody>
          <a:bodyPr/>
          <a:lstStyle/>
          <a:p>
            <a:endParaRPr lang="en-VN"/>
          </a:p>
        </p:txBody>
      </p:sp>
      <p:sp>
        <p:nvSpPr>
          <p:cNvPr id="19" name="Text 17"/>
          <p:cNvSpPr/>
          <p:nvPr/>
        </p:nvSpPr>
        <p:spPr>
          <a:xfrm>
            <a:off x="6126480" y="1188720"/>
            <a:ext cx="2514600" cy="320040"/>
          </a:xfrm>
          <a:prstGeom prst="rect">
            <a:avLst/>
          </a:prstGeom>
          <a:noFill/>
          <a:ln/>
        </p:spPr>
        <p:txBody>
          <a:bodyPr wrap="square" rtlCol="0" anchor="ctr"/>
          <a:lstStyle/>
          <a:p>
            <a:pPr marL="0" indent="0">
              <a:buNone/>
            </a:pPr>
            <a:r>
              <a:rPr lang="en-US" sz="900" b="1" dirty="0">
                <a:solidFill>
                  <a:srgbClr val="FFFFFF"/>
                </a:solidFill>
                <a:latin typeface="Arial" pitchFamily="34" charset="0"/>
                <a:ea typeface="Arial" pitchFamily="34" charset="-122"/>
                <a:cs typeface="Arial" pitchFamily="34" charset="-120"/>
              </a:rPr>
              <a:t>HR &amp; COMMS</a:t>
            </a:r>
            <a:endParaRPr lang="en-US" sz="900" dirty="0"/>
          </a:p>
        </p:txBody>
      </p:sp>
      <p:sp>
        <p:nvSpPr>
          <p:cNvPr id="20" name="Text 18"/>
          <p:cNvSpPr/>
          <p:nvPr/>
        </p:nvSpPr>
        <p:spPr>
          <a:xfrm>
            <a:off x="6126480" y="1554480"/>
            <a:ext cx="2514600" cy="896112"/>
          </a:xfrm>
          <a:prstGeom prst="rect">
            <a:avLst/>
          </a:prstGeom>
          <a:noFill/>
          <a:ln/>
        </p:spPr>
        <p:txBody>
          <a:bodyPr wrap="square" rtlCol="0" anchor="t"/>
          <a:lstStyle/>
          <a:p>
            <a:pPr marL="0" indent="0">
              <a:lnSpc>
                <a:spcPct val="125000"/>
              </a:lnSpc>
              <a:buNone/>
            </a:pPr>
            <a:r>
              <a:rPr lang="en-US" sz="850" dirty="0">
                <a:solidFill>
                  <a:srgbClr val="1F2937"/>
                </a:solidFill>
                <a:latin typeface="Arial" pitchFamily="34" charset="0"/>
                <a:ea typeface="Arial" pitchFamily="34" charset="-122"/>
                <a:cs typeface="Arial" pitchFamily="34" charset="-120"/>
              </a:rPr>
              <a:t>• SAP SuccessFactors (HR)</a:t>
            </a:r>
            <a:endParaRPr lang="en-US" sz="850" dirty="0"/>
          </a:p>
          <a:p>
            <a:pPr marL="0" indent="0">
              <a:lnSpc>
                <a:spcPct val="125000"/>
              </a:lnSpc>
              <a:buNone/>
            </a:pPr>
            <a:r>
              <a:rPr lang="en-US" sz="850" dirty="0">
                <a:solidFill>
                  <a:srgbClr val="1F2937"/>
                </a:solidFill>
                <a:latin typeface="Arial" pitchFamily="34" charset="0"/>
                <a:ea typeface="Arial" pitchFamily="34" charset="-122"/>
                <a:cs typeface="Arial" pitchFamily="34" charset="-120"/>
              </a:rPr>
              <a:t>• ICS (Internal Comms)</a:t>
            </a:r>
            <a:endParaRPr lang="en-US" sz="850" dirty="0"/>
          </a:p>
          <a:p>
            <a:pPr marL="0" indent="0">
              <a:lnSpc>
                <a:spcPct val="125000"/>
              </a:lnSpc>
              <a:buNone/>
            </a:pPr>
            <a:r>
              <a:rPr lang="en-US" sz="850" dirty="0">
                <a:solidFill>
                  <a:srgbClr val="1F2937"/>
                </a:solidFill>
                <a:latin typeface="Arial" pitchFamily="34" charset="0"/>
                <a:ea typeface="Arial" pitchFamily="34" charset="-122"/>
                <a:cs typeface="Arial" pitchFamily="34" charset="-120"/>
              </a:rPr>
              <a:t>• Training &amp; Gamification</a:t>
            </a:r>
            <a:endParaRPr lang="en-US" sz="850" dirty="0"/>
          </a:p>
          <a:p>
            <a:pPr marL="0" indent="0">
              <a:lnSpc>
                <a:spcPct val="125000"/>
              </a:lnSpc>
              <a:buNone/>
            </a:pPr>
            <a:r>
              <a:rPr lang="en-US" sz="850" dirty="0">
                <a:solidFill>
                  <a:srgbClr val="1F2937"/>
                </a:solidFill>
                <a:latin typeface="Arial" pitchFamily="34" charset="0"/>
                <a:ea typeface="Arial" pitchFamily="34" charset="-122"/>
                <a:cs typeface="Arial" pitchFamily="34" charset="-120"/>
              </a:rPr>
              <a:t>• Đào tạo trực tuyến</a:t>
            </a:r>
            <a:endParaRPr lang="en-US" sz="850" dirty="0"/>
          </a:p>
        </p:txBody>
      </p:sp>
      <p:sp>
        <p:nvSpPr>
          <p:cNvPr id="21" name="Shape 19"/>
          <p:cNvSpPr/>
          <p:nvPr/>
        </p:nvSpPr>
        <p:spPr>
          <a:xfrm>
            <a:off x="1645920" y="3291840"/>
            <a:ext cx="2697480" cy="1554480"/>
          </a:xfrm>
          <a:prstGeom prst="roundRect">
            <a:avLst>
              <a:gd name="adj" fmla="val 3529"/>
            </a:avLst>
          </a:prstGeom>
          <a:solidFill>
            <a:srgbClr val="FFFFFF"/>
          </a:solidFill>
          <a:ln w="19050">
            <a:solidFill>
              <a:srgbClr val="059669"/>
            </a:solidFill>
            <a:prstDash val="solid"/>
          </a:ln>
          <a:effectLst>
            <a:outerShdw blurRad="50800" dist="25400" dir="8100000" algn="bl" rotWithShape="0">
              <a:srgbClr val="000000">
                <a:alpha val="8000"/>
              </a:srgbClr>
            </a:outerShdw>
          </a:effectLst>
        </p:spPr>
        <p:txBody>
          <a:bodyPr/>
          <a:lstStyle/>
          <a:p>
            <a:endParaRPr lang="en-VN"/>
          </a:p>
        </p:txBody>
      </p:sp>
      <p:sp>
        <p:nvSpPr>
          <p:cNvPr id="22" name="Shape 20"/>
          <p:cNvSpPr/>
          <p:nvPr/>
        </p:nvSpPr>
        <p:spPr>
          <a:xfrm>
            <a:off x="1645920" y="3291840"/>
            <a:ext cx="2697480" cy="320040"/>
          </a:xfrm>
          <a:prstGeom prst="rect">
            <a:avLst/>
          </a:prstGeom>
          <a:solidFill>
            <a:srgbClr val="059669"/>
          </a:solidFill>
          <a:ln/>
        </p:spPr>
        <p:txBody>
          <a:bodyPr/>
          <a:lstStyle/>
          <a:p>
            <a:endParaRPr lang="en-VN"/>
          </a:p>
        </p:txBody>
      </p:sp>
      <p:sp>
        <p:nvSpPr>
          <p:cNvPr id="23" name="Text 21"/>
          <p:cNvSpPr/>
          <p:nvPr/>
        </p:nvSpPr>
        <p:spPr>
          <a:xfrm>
            <a:off x="1737360" y="3291840"/>
            <a:ext cx="2514600" cy="320040"/>
          </a:xfrm>
          <a:prstGeom prst="rect">
            <a:avLst/>
          </a:prstGeom>
          <a:noFill/>
          <a:ln/>
        </p:spPr>
        <p:txBody>
          <a:bodyPr wrap="square" rtlCol="0" anchor="ctr"/>
          <a:lstStyle/>
          <a:p>
            <a:pPr marL="0" indent="0">
              <a:buNone/>
            </a:pPr>
            <a:r>
              <a:rPr lang="en-US" sz="900" b="1" dirty="0">
                <a:solidFill>
                  <a:srgbClr val="FFFFFF"/>
                </a:solidFill>
                <a:latin typeface="Arial" pitchFamily="34" charset="0"/>
                <a:ea typeface="Arial" pitchFamily="34" charset="-122"/>
                <a:cs typeface="Arial" pitchFamily="34" charset="-120"/>
              </a:rPr>
              <a:t>NGHIỆP VỤ CHÍNH</a:t>
            </a:r>
            <a:endParaRPr lang="en-US" sz="900" dirty="0"/>
          </a:p>
        </p:txBody>
      </p:sp>
      <p:sp>
        <p:nvSpPr>
          <p:cNvPr id="24" name="Text 22"/>
          <p:cNvSpPr/>
          <p:nvPr/>
        </p:nvSpPr>
        <p:spPr>
          <a:xfrm>
            <a:off x="1737360" y="3657600"/>
            <a:ext cx="2514600" cy="1097280"/>
          </a:xfrm>
          <a:prstGeom prst="rect">
            <a:avLst/>
          </a:prstGeom>
          <a:noFill/>
          <a:ln/>
        </p:spPr>
        <p:txBody>
          <a:bodyPr wrap="square" rtlCol="0" anchor="t"/>
          <a:lstStyle/>
          <a:p>
            <a:pPr marL="0" indent="0">
              <a:lnSpc>
                <a:spcPct val="125000"/>
              </a:lnSpc>
              <a:buNone/>
            </a:pPr>
            <a:r>
              <a:rPr lang="en-US" sz="850" dirty="0">
                <a:solidFill>
                  <a:srgbClr val="1F2937"/>
                </a:solidFill>
                <a:latin typeface="Arial" pitchFamily="34" charset="0"/>
                <a:ea typeface="Arial" pitchFamily="34" charset="-122"/>
                <a:cs typeface="Arial" pitchFamily="34" charset="-120"/>
              </a:rPr>
              <a:t>• Lead Mgmt &amp; SOP (AI)</a:t>
            </a:r>
            <a:endParaRPr lang="en-US" sz="850" dirty="0"/>
          </a:p>
          <a:p>
            <a:pPr marL="0" indent="0">
              <a:lnSpc>
                <a:spcPct val="125000"/>
              </a:lnSpc>
              <a:buNone/>
            </a:pPr>
            <a:r>
              <a:rPr lang="en-US" sz="850" dirty="0">
                <a:solidFill>
                  <a:srgbClr val="1F2937"/>
                </a:solidFill>
                <a:latin typeface="Arial" pitchFamily="34" charset="0"/>
                <a:ea typeface="Arial" pitchFamily="34" charset="-122"/>
                <a:cs typeface="Arial" pitchFamily="34" charset="-120"/>
              </a:rPr>
              <a:t>• Tracking &amp; Tương tác</a:t>
            </a:r>
            <a:endParaRPr lang="en-US" sz="850" dirty="0"/>
          </a:p>
          <a:p>
            <a:pPr marL="0" indent="0">
              <a:lnSpc>
                <a:spcPct val="125000"/>
              </a:lnSpc>
              <a:buNone/>
            </a:pPr>
            <a:r>
              <a:rPr lang="en-US" sz="850" dirty="0">
                <a:solidFill>
                  <a:srgbClr val="1F2937"/>
                </a:solidFill>
                <a:latin typeface="Arial" pitchFamily="34" charset="0"/>
                <a:ea typeface="Arial" pitchFamily="34" charset="-122"/>
                <a:cs typeface="Arial" pitchFamily="34" charset="-120"/>
              </a:rPr>
              <a:t>• Hợp đồng &amp; Công nợ</a:t>
            </a:r>
            <a:endParaRPr lang="en-US" sz="850" dirty="0"/>
          </a:p>
          <a:p>
            <a:pPr marL="0" indent="0">
              <a:lnSpc>
                <a:spcPct val="125000"/>
              </a:lnSpc>
              <a:buNone/>
            </a:pPr>
            <a:r>
              <a:rPr lang="en-US" sz="850" dirty="0">
                <a:solidFill>
                  <a:srgbClr val="1F2937"/>
                </a:solidFill>
                <a:latin typeface="Arial" pitchFamily="34" charset="0"/>
                <a:ea typeface="Arial" pitchFamily="34" charset="-122"/>
                <a:cs typeface="Arial" pitchFamily="34" charset="-120"/>
              </a:rPr>
              <a:t>• CSKH &amp; Case Mgmt</a:t>
            </a:r>
            <a:endParaRPr lang="en-US" sz="850" dirty="0"/>
          </a:p>
          <a:p>
            <a:pPr marL="0" indent="0">
              <a:lnSpc>
                <a:spcPct val="125000"/>
              </a:lnSpc>
              <a:buNone/>
            </a:pPr>
            <a:r>
              <a:rPr lang="en-US" sz="850" dirty="0">
                <a:solidFill>
                  <a:srgbClr val="1F2937"/>
                </a:solidFill>
                <a:latin typeface="Arial" pitchFamily="34" charset="0"/>
                <a:ea typeface="Arial" pitchFamily="34" charset="-122"/>
                <a:cs typeface="Arial" pitchFamily="34" charset="-120"/>
              </a:rPr>
              <a:t>• BAM / Kênh / Sự kiện</a:t>
            </a:r>
            <a:endParaRPr lang="en-US" sz="850" dirty="0"/>
          </a:p>
        </p:txBody>
      </p:sp>
      <p:sp>
        <p:nvSpPr>
          <p:cNvPr id="25" name="Shape 23"/>
          <p:cNvSpPr/>
          <p:nvPr/>
        </p:nvSpPr>
        <p:spPr>
          <a:xfrm>
            <a:off x="4663440" y="3291840"/>
            <a:ext cx="2697480" cy="1554480"/>
          </a:xfrm>
          <a:prstGeom prst="roundRect">
            <a:avLst>
              <a:gd name="adj" fmla="val 3529"/>
            </a:avLst>
          </a:prstGeom>
          <a:solidFill>
            <a:srgbClr val="FFFFFF"/>
          </a:solidFill>
          <a:ln w="19050">
            <a:solidFill>
              <a:srgbClr val="6B7280"/>
            </a:solidFill>
            <a:prstDash val="solid"/>
          </a:ln>
          <a:effectLst>
            <a:outerShdw blurRad="50800" dist="25400" dir="8100000" algn="bl" rotWithShape="0">
              <a:srgbClr val="000000">
                <a:alpha val="8000"/>
              </a:srgbClr>
            </a:outerShdw>
          </a:effectLst>
        </p:spPr>
        <p:txBody>
          <a:bodyPr/>
          <a:lstStyle/>
          <a:p>
            <a:endParaRPr lang="en-VN"/>
          </a:p>
        </p:txBody>
      </p:sp>
      <p:sp>
        <p:nvSpPr>
          <p:cNvPr id="26" name="Shape 24"/>
          <p:cNvSpPr/>
          <p:nvPr/>
        </p:nvSpPr>
        <p:spPr>
          <a:xfrm>
            <a:off x="4663440" y="3291840"/>
            <a:ext cx="2697480" cy="320040"/>
          </a:xfrm>
          <a:prstGeom prst="rect">
            <a:avLst/>
          </a:prstGeom>
          <a:solidFill>
            <a:srgbClr val="6B7280"/>
          </a:solidFill>
          <a:ln/>
        </p:spPr>
        <p:txBody>
          <a:bodyPr/>
          <a:lstStyle/>
          <a:p>
            <a:endParaRPr lang="en-VN"/>
          </a:p>
        </p:txBody>
      </p:sp>
      <p:sp>
        <p:nvSpPr>
          <p:cNvPr id="27" name="Text 25"/>
          <p:cNvSpPr/>
          <p:nvPr/>
        </p:nvSpPr>
        <p:spPr>
          <a:xfrm>
            <a:off x="4754880" y="3291840"/>
            <a:ext cx="2514600" cy="320040"/>
          </a:xfrm>
          <a:prstGeom prst="rect">
            <a:avLst/>
          </a:prstGeom>
          <a:noFill/>
          <a:ln/>
        </p:spPr>
        <p:txBody>
          <a:bodyPr wrap="square" rtlCol="0" anchor="ctr"/>
          <a:lstStyle/>
          <a:p>
            <a:pPr marL="0" indent="0">
              <a:buNone/>
            </a:pPr>
            <a:r>
              <a:rPr lang="en-US" sz="900" b="1" dirty="0">
                <a:solidFill>
                  <a:srgbClr val="FFFFFF"/>
                </a:solidFill>
                <a:latin typeface="Arial" pitchFamily="34" charset="0"/>
                <a:ea typeface="Arial" pitchFamily="34" charset="-122"/>
                <a:cs typeface="Arial" pitchFamily="34" charset="-120"/>
              </a:rPr>
              <a:t>AI &amp; ANALYTICS</a:t>
            </a:r>
            <a:endParaRPr lang="en-US" sz="900" dirty="0"/>
          </a:p>
        </p:txBody>
      </p:sp>
      <p:sp>
        <p:nvSpPr>
          <p:cNvPr id="28" name="Text 26"/>
          <p:cNvSpPr/>
          <p:nvPr/>
        </p:nvSpPr>
        <p:spPr>
          <a:xfrm>
            <a:off x="4754880" y="3657600"/>
            <a:ext cx="2514600" cy="1097280"/>
          </a:xfrm>
          <a:prstGeom prst="rect">
            <a:avLst/>
          </a:prstGeom>
          <a:noFill/>
          <a:ln/>
        </p:spPr>
        <p:txBody>
          <a:bodyPr wrap="square" rtlCol="0" anchor="t"/>
          <a:lstStyle/>
          <a:p>
            <a:pPr marL="0" indent="0">
              <a:lnSpc>
                <a:spcPct val="125000"/>
              </a:lnSpc>
              <a:buNone/>
            </a:pPr>
            <a:r>
              <a:rPr lang="en-US" sz="850" dirty="0">
                <a:solidFill>
                  <a:srgbClr val="1F2937"/>
                </a:solidFill>
                <a:latin typeface="Arial" pitchFamily="34" charset="0"/>
                <a:ea typeface="Arial" pitchFamily="34" charset="-122"/>
                <a:cs typeface="Arial" pitchFamily="34" charset="-120"/>
              </a:rPr>
              <a:t>• Lead Scoring (AI)</a:t>
            </a:r>
            <a:endParaRPr lang="en-US" sz="850" dirty="0"/>
          </a:p>
          <a:p>
            <a:pPr marL="0" indent="0">
              <a:lnSpc>
                <a:spcPct val="125000"/>
              </a:lnSpc>
              <a:buNone/>
            </a:pPr>
            <a:r>
              <a:rPr lang="en-US" sz="850" dirty="0">
                <a:solidFill>
                  <a:srgbClr val="1F2937"/>
                </a:solidFill>
                <a:latin typeface="Arial" pitchFamily="34" charset="0"/>
                <a:ea typeface="Arial" pitchFamily="34" charset="-122"/>
                <a:cs typeface="Arial" pitchFamily="34" charset="-120"/>
              </a:rPr>
              <a:t>• FaceID Recognition</a:t>
            </a:r>
            <a:endParaRPr lang="en-US" sz="850" dirty="0"/>
          </a:p>
          <a:p>
            <a:pPr marL="0" indent="0">
              <a:lnSpc>
                <a:spcPct val="125000"/>
              </a:lnSpc>
              <a:buNone/>
            </a:pPr>
            <a:r>
              <a:rPr lang="en-US" sz="850" dirty="0">
                <a:solidFill>
                  <a:srgbClr val="1F2937"/>
                </a:solidFill>
                <a:latin typeface="Arial" pitchFamily="34" charset="0"/>
                <a:ea typeface="Arial" pitchFamily="34" charset="-122"/>
                <a:cs typeface="Arial" pitchFamily="34" charset="-120"/>
              </a:rPr>
              <a:t>• Chatbot &amp; Voice Chat</a:t>
            </a:r>
            <a:endParaRPr lang="en-US" sz="850" dirty="0"/>
          </a:p>
          <a:p>
            <a:pPr marL="0" indent="0">
              <a:lnSpc>
                <a:spcPct val="125000"/>
              </a:lnSpc>
              <a:buNone/>
            </a:pPr>
            <a:r>
              <a:rPr lang="en-US" sz="850" dirty="0">
                <a:solidFill>
                  <a:srgbClr val="1F2937"/>
                </a:solidFill>
                <a:latin typeface="Arial" pitchFamily="34" charset="0"/>
                <a:ea typeface="Arial" pitchFamily="34" charset="-122"/>
                <a:cs typeface="Arial" pitchFamily="34" charset="-120"/>
              </a:rPr>
              <a:t>• Dự báo thông minh</a:t>
            </a:r>
            <a:endParaRPr lang="en-US" sz="850" dirty="0"/>
          </a:p>
          <a:p>
            <a:pPr marL="0" indent="0">
              <a:lnSpc>
                <a:spcPct val="125000"/>
              </a:lnSpc>
              <a:buNone/>
            </a:pPr>
            <a:r>
              <a:rPr lang="en-US" sz="850" dirty="0">
                <a:solidFill>
                  <a:srgbClr val="1F2937"/>
                </a:solidFill>
                <a:latin typeface="Arial" pitchFamily="34" charset="0"/>
                <a:ea typeface="Arial" pitchFamily="34" charset="-122"/>
                <a:cs typeface="Arial" pitchFamily="34" charset="-120"/>
              </a:rPr>
              <a:t>• Dashboard Quản trị</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1B4C"/>
          </a:solidFill>
          <a:ln/>
        </p:spPr>
        <p:txBody>
          <a:bodyPr/>
          <a:lstStyle/>
          <a:p>
            <a:endParaRPr lang="en-VN"/>
          </a:p>
        </p:txBody>
      </p:sp>
      <p:sp>
        <p:nvSpPr>
          <p:cNvPr id="3" name="Shape 1"/>
          <p:cNvSpPr/>
          <p:nvPr/>
        </p:nvSpPr>
        <p:spPr>
          <a:xfrm>
            <a:off x="0" y="914400"/>
            <a:ext cx="9144000" cy="36576"/>
          </a:xfrm>
          <a:prstGeom prst="rect">
            <a:avLst/>
          </a:prstGeom>
          <a:solidFill>
            <a:srgbClr val="C8A962"/>
          </a:solidFill>
          <a:ln/>
        </p:spPr>
        <p:txBody>
          <a:bodyPr/>
          <a:lstStyle/>
          <a:p>
            <a:endParaRPr lang="en-VN"/>
          </a:p>
        </p:txBody>
      </p:sp>
      <p:sp>
        <p:nvSpPr>
          <p:cNvPr id="4" name="Text 2"/>
          <p:cNvSpPr/>
          <p:nvPr/>
        </p:nvSpPr>
        <p:spPr>
          <a:xfrm>
            <a:off x="457200" y="0"/>
            <a:ext cx="8229600" cy="548640"/>
          </a:xfrm>
          <a:prstGeom prst="rect">
            <a:avLst/>
          </a:prstGeom>
          <a:noFill/>
          <a:ln/>
        </p:spPr>
        <p:txBody>
          <a:bodyPr wrap="square" rtlCol="0" anchor="b"/>
          <a:lstStyle/>
          <a:p>
            <a:pPr marL="0" indent="0">
              <a:buNone/>
            </a:pPr>
            <a:r>
              <a:rPr lang="en-US" sz="2400" b="1" dirty="0">
                <a:solidFill>
                  <a:srgbClr val="FFFFFF"/>
                </a:solidFill>
                <a:latin typeface="Arial" pitchFamily="34" charset="0"/>
                <a:ea typeface="Arial" pitchFamily="34" charset="-122"/>
                <a:cs typeface="Arial" pitchFamily="34" charset="-120"/>
              </a:rPr>
              <a:t>Thách thức Tích hợp Hệ thống</a:t>
            </a:r>
            <a:endParaRPr lang="en-US" sz="2400" dirty="0"/>
          </a:p>
        </p:txBody>
      </p:sp>
      <p:sp>
        <p:nvSpPr>
          <p:cNvPr id="5" name="Text 3"/>
          <p:cNvSpPr/>
          <p:nvPr/>
        </p:nvSpPr>
        <p:spPr>
          <a:xfrm>
            <a:off x="457200" y="548640"/>
            <a:ext cx="8229600" cy="365760"/>
          </a:xfrm>
          <a:prstGeom prst="rect">
            <a:avLst/>
          </a:prstGeom>
          <a:noFill/>
          <a:ln/>
        </p:spPr>
        <p:txBody>
          <a:bodyPr wrap="square" rtlCol="0" anchor="t"/>
          <a:lstStyle/>
          <a:p>
            <a:pPr marL="0" indent="0">
              <a:buNone/>
            </a:pPr>
            <a:r>
              <a:rPr lang="en-US" sz="1300" dirty="0">
                <a:solidFill>
                  <a:srgbClr val="C8A962"/>
                </a:solidFill>
                <a:latin typeface="Arial" pitchFamily="34" charset="0"/>
                <a:ea typeface="Arial" pitchFamily="34" charset="-122"/>
                <a:cs typeface="Arial" pitchFamily="34" charset="-120"/>
              </a:rPr>
              <a:t>Challenges with Current System Integration</a:t>
            </a:r>
            <a:endParaRPr lang="en-US" sz="1300" dirty="0"/>
          </a:p>
        </p:txBody>
      </p:sp>
      <p:sp>
        <p:nvSpPr>
          <p:cNvPr id="6" name="Shape 4"/>
          <p:cNvSpPr/>
          <p:nvPr/>
        </p:nvSpPr>
        <p:spPr>
          <a:xfrm>
            <a:off x="0" y="4709160"/>
            <a:ext cx="9144000" cy="434340"/>
          </a:xfrm>
          <a:prstGeom prst="rect">
            <a:avLst/>
          </a:prstGeom>
          <a:solidFill>
            <a:srgbClr val="0D1B4C"/>
          </a:solidFill>
          <a:ln/>
        </p:spPr>
        <p:txBody>
          <a:bodyPr/>
          <a:lstStyle/>
          <a:p>
            <a:endParaRPr lang="en-VN"/>
          </a:p>
        </p:txBody>
      </p:sp>
      <p:sp>
        <p:nvSpPr>
          <p:cNvPr id="7" name="Text 5"/>
          <p:cNvSpPr/>
          <p:nvPr/>
        </p:nvSpPr>
        <p:spPr>
          <a:xfrm>
            <a:off x="457200" y="4709160"/>
            <a:ext cx="6400800" cy="434340"/>
          </a:xfrm>
          <a:prstGeom prst="rect">
            <a:avLst/>
          </a:prstGeom>
          <a:noFill/>
          <a:ln/>
        </p:spPr>
        <p:txBody>
          <a:bodyPr wrap="square" rtlCol="0" anchor="ctr"/>
          <a:lstStyle/>
          <a:p>
            <a:pPr marL="0" indent="0">
              <a:buNone/>
            </a:pPr>
            <a:r>
              <a:rPr lang="en-US" sz="900" dirty="0">
                <a:solidFill>
                  <a:srgbClr val="C8A962"/>
                </a:solidFill>
                <a:latin typeface="Arial" pitchFamily="34" charset="0"/>
                <a:ea typeface="Arial" pitchFamily="34" charset="-122"/>
                <a:cs typeface="Arial" pitchFamily="34" charset="-120"/>
              </a:rPr>
              <a:t>Tiên Phong CDS  |  Novagroup  |  Hub Integration Platform</a:t>
            </a:r>
            <a:endParaRPr lang="en-US" sz="900" dirty="0"/>
          </a:p>
        </p:txBody>
      </p:sp>
      <p:sp>
        <p:nvSpPr>
          <p:cNvPr id="8" name="Text 6"/>
          <p:cNvSpPr/>
          <p:nvPr/>
        </p:nvSpPr>
        <p:spPr>
          <a:xfrm>
            <a:off x="7772400" y="4709160"/>
            <a:ext cx="914400" cy="434340"/>
          </a:xfrm>
          <a:prstGeom prst="rect">
            <a:avLst/>
          </a:prstGeom>
          <a:noFill/>
          <a:ln/>
        </p:spPr>
        <p:txBody>
          <a:bodyPr wrap="square" rtlCol="0" anchor="ctr"/>
          <a:lstStyle/>
          <a:p>
            <a:pPr marL="0" indent="0" algn="r">
              <a:buNone/>
            </a:pPr>
            <a:r>
              <a:rPr lang="en-US" sz="900" dirty="0">
                <a:solidFill>
                  <a:srgbClr val="FFFFFF"/>
                </a:solidFill>
                <a:latin typeface="Arial" pitchFamily="34" charset="0"/>
                <a:ea typeface="Arial" pitchFamily="34" charset="-122"/>
                <a:cs typeface="Arial" pitchFamily="34" charset="-120"/>
              </a:rPr>
              <a:t>5</a:t>
            </a:r>
            <a:endParaRPr lang="en-US" sz="900" dirty="0"/>
          </a:p>
        </p:txBody>
      </p:sp>
      <p:sp>
        <p:nvSpPr>
          <p:cNvPr id="9" name="Shape 7"/>
          <p:cNvSpPr/>
          <p:nvPr/>
        </p:nvSpPr>
        <p:spPr>
          <a:xfrm>
            <a:off x="274320" y="1188720"/>
            <a:ext cx="2560320" cy="1371600"/>
          </a:xfrm>
          <a:prstGeom prst="roundRect">
            <a:avLst>
              <a:gd name="adj" fmla="val 5333"/>
            </a:avLst>
          </a:prstGeom>
          <a:solidFill>
            <a:srgbClr val="FFFFFF"/>
          </a:solidFill>
          <a:ln/>
          <a:effectLst>
            <a:outerShdw blurRad="50800" dist="25400" dir="8100000" algn="bl" rotWithShape="0">
              <a:srgbClr val="000000">
                <a:alpha val="8000"/>
              </a:srgbClr>
            </a:outerShdw>
          </a:effectLst>
        </p:spPr>
        <p:txBody>
          <a:bodyPr/>
          <a:lstStyle/>
          <a:p>
            <a:endParaRPr lang="en-VN"/>
          </a:p>
        </p:txBody>
      </p:sp>
      <p:sp>
        <p:nvSpPr>
          <p:cNvPr id="10" name="Shape 8"/>
          <p:cNvSpPr/>
          <p:nvPr/>
        </p:nvSpPr>
        <p:spPr>
          <a:xfrm>
            <a:off x="411480" y="1325880"/>
            <a:ext cx="457200" cy="457200"/>
          </a:xfrm>
          <a:prstGeom prst="ellipse">
            <a:avLst/>
          </a:prstGeom>
          <a:solidFill>
            <a:srgbClr val="DC2626"/>
          </a:solidFill>
          <a:ln/>
        </p:spPr>
        <p:txBody>
          <a:bodyPr/>
          <a:lstStyle/>
          <a:p>
            <a:endParaRPr lang="en-VN"/>
          </a:p>
        </p:txBody>
      </p:sp>
      <p:sp>
        <p:nvSpPr>
          <p:cNvPr id="11" name="Text 9"/>
          <p:cNvSpPr/>
          <p:nvPr/>
        </p:nvSpPr>
        <p:spPr>
          <a:xfrm>
            <a:off x="411480" y="1325880"/>
            <a:ext cx="457200" cy="457200"/>
          </a:xfrm>
          <a:prstGeom prst="rect">
            <a:avLst/>
          </a:prstGeom>
          <a:noFill/>
          <a:ln/>
        </p:spPr>
        <p:txBody>
          <a:bodyPr wrap="square"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12" name="Text 10"/>
          <p:cNvSpPr/>
          <p:nvPr/>
        </p:nvSpPr>
        <p:spPr>
          <a:xfrm>
            <a:off x="960120" y="1325880"/>
            <a:ext cx="1737360" cy="411480"/>
          </a:xfrm>
          <a:prstGeom prst="rect">
            <a:avLst/>
          </a:prstGeom>
          <a:noFill/>
          <a:ln/>
        </p:spPr>
        <p:txBody>
          <a:bodyPr wrap="square" rtlCol="0" anchor="ctr"/>
          <a:lstStyle/>
          <a:p>
            <a:pPr marL="0" indent="0">
              <a:buNone/>
            </a:pPr>
            <a:r>
              <a:rPr lang="en-US" sz="1100" b="1" dirty="0">
                <a:solidFill>
                  <a:srgbClr val="0D1B4C"/>
                </a:solidFill>
                <a:latin typeface="Arial" pitchFamily="34" charset="0"/>
                <a:ea typeface="Arial" pitchFamily="34" charset="-122"/>
                <a:cs typeface="Arial" pitchFamily="34" charset="-120"/>
              </a:rPr>
              <a:t>Dữ liệu phân tán</a:t>
            </a:r>
            <a:endParaRPr lang="en-US" sz="1100" dirty="0"/>
          </a:p>
        </p:txBody>
      </p:sp>
      <p:sp>
        <p:nvSpPr>
          <p:cNvPr id="13" name="Text 11"/>
          <p:cNvSpPr/>
          <p:nvPr/>
        </p:nvSpPr>
        <p:spPr>
          <a:xfrm>
            <a:off x="411480" y="1828800"/>
            <a:ext cx="2286000" cy="640080"/>
          </a:xfrm>
          <a:prstGeom prst="rect">
            <a:avLst/>
          </a:prstGeom>
          <a:noFill/>
          <a:ln/>
        </p:spPr>
        <p:txBody>
          <a:bodyPr wrap="square" rtlCol="0" anchor="t"/>
          <a:lstStyle/>
          <a:p>
            <a:pPr marL="0" indent="0">
              <a:lnSpc>
                <a:spcPct val="130000"/>
              </a:lnSpc>
              <a:buNone/>
            </a:pPr>
            <a:r>
              <a:rPr lang="en-US" sz="900" dirty="0">
                <a:solidFill>
                  <a:srgbClr val="6B7280"/>
                </a:solidFill>
                <a:latin typeface="Arial" pitchFamily="34" charset="0"/>
                <a:ea typeface="Arial" pitchFamily="34" charset="-122"/>
                <a:cs typeface="Arial" pitchFamily="34" charset="-120"/>
              </a:rPr>
              <a:t>8 nền tảng (ONENOVA, CRM, ERP, NMS, eSales, GMS, SuccessFactors, ICS) quản lý dữ liệu riêng biệt, thiếu Customer 360.</a:t>
            </a:r>
            <a:endParaRPr lang="en-US" sz="900" dirty="0"/>
          </a:p>
        </p:txBody>
      </p:sp>
      <p:sp>
        <p:nvSpPr>
          <p:cNvPr id="14" name="Shape 12"/>
          <p:cNvSpPr/>
          <p:nvPr/>
        </p:nvSpPr>
        <p:spPr>
          <a:xfrm>
            <a:off x="4663440" y="1188720"/>
            <a:ext cx="2560320" cy="1371600"/>
          </a:xfrm>
          <a:prstGeom prst="roundRect">
            <a:avLst>
              <a:gd name="adj" fmla="val 5333"/>
            </a:avLst>
          </a:prstGeom>
          <a:solidFill>
            <a:srgbClr val="FFFFFF"/>
          </a:solidFill>
          <a:ln/>
          <a:effectLst>
            <a:outerShdw blurRad="50800" dist="25400" dir="8100000" algn="bl" rotWithShape="0">
              <a:srgbClr val="000000">
                <a:alpha val="8000"/>
              </a:srgbClr>
            </a:outerShdw>
          </a:effectLst>
        </p:spPr>
        <p:txBody>
          <a:bodyPr/>
          <a:lstStyle/>
          <a:p>
            <a:endParaRPr lang="en-VN"/>
          </a:p>
        </p:txBody>
      </p:sp>
      <p:sp>
        <p:nvSpPr>
          <p:cNvPr id="15" name="Shape 13"/>
          <p:cNvSpPr/>
          <p:nvPr/>
        </p:nvSpPr>
        <p:spPr>
          <a:xfrm>
            <a:off x="4800600" y="1325880"/>
            <a:ext cx="457200" cy="457200"/>
          </a:xfrm>
          <a:prstGeom prst="ellipse">
            <a:avLst/>
          </a:prstGeom>
          <a:solidFill>
            <a:srgbClr val="EA580C"/>
          </a:solidFill>
          <a:ln/>
        </p:spPr>
        <p:txBody>
          <a:bodyPr/>
          <a:lstStyle/>
          <a:p>
            <a:endParaRPr lang="en-VN"/>
          </a:p>
        </p:txBody>
      </p:sp>
      <p:sp>
        <p:nvSpPr>
          <p:cNvPr id="16" name="Text 14"/>
          <p:cNvSpPr/>
          <p:nvPr/>
        </p:nvSpPr>
        <p:spPr>
          <a:xfrm>
            <a:off x="4800600" y="1325880"/>
            <a:ext cx="457200" cy="457200"/>
          </a:xfrm>
          <a:prstGeom prst="rect">
            <a:avLst/>
          </a:prstGeom>
          <a:noFill/>
          <a:ln/>
        </p:spPr>
        <p:txBody>
          <a:bodyPr wrap="square"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7" name="Text 15"/>
          <p:cNvSpPr/>
          <p:nvPr/>
        </p:nvSpPr>
        <p:spPr>
          <a:xfrm>
            <a:off x="5349240" y="1325880"/>
            <a:ext cx="1737360" cy="411480"/>
          </a:xfrm>
          <a:prstGeom prst="rect">
            <a:avLst/>
          </a:prstGeom>
          <a:noFill/>
          <a:ln/>
        </p:spPr>
        <p:txBody>
          <a:bodyPr wrap="square" rtlCol="0" anchor="ctr"/>
          <a:lstStyle/>
          <a:p>
            <a:pPr marL="0" indent="0">
              <a:buNone/>
            </a:pPr>
            <a:r>
              <a:rPr lang="en-US" sz="1100" b="1" dirty="0">
                <a:solidFill>
                  <a:srgbClr val="0D1B4C"/>
                </a:solidFill>
                <a:latin typeface="Arial" pitchFamily="34" charset="0"/>
                <a:ea typeface="Arial" pitchFamily="34" charset="-122"/>
                <a:cs typeface="Arial" pitchFamily="34" charset="-120"/>
              </a:rPr>
              <a:t>Kết nối Point-to-Point</a:t>
            </a:r>
            <a:endParaRPr lang="en-US" sz="1100" dirty="0"/>
          </a:p>
        </p:txBody>
      </p:sp>
      <p:sp>
        <p:nvSpPr>
          <p:cNvPr id="18" name="Text 16"/>
          <p:cNvSpPr/>
          <p:nvPr/>
        </p:nvSpPr>
        <p:spPr>
          <a:xfrm>
            <a:off x="4800600" y="1828800"/>
            <a:ext cx="2286000" cy="640080"/>
          </a:xfrm>
          <a:prstGeom prst="rect">
            <a:avLst/>
          </a:prstGeom>
          <a:noFill/>
          <a:ln/>
        </p:spPr>
        <p:txBody>
          <a:bodyPr wrap="square" rtlCol="0" anchor="t"/>
          <a:lstStyle/>
          <a:p>
            <a:pPr marL="0" indent="0">
              <a:lnSpc>
                <a:spcPct val="130000"/>
              </a:lnSpc>
              <a:buNone/>
            </a:pPr>
            <a:r>
              <a:rPr lang="en-US" sz="900" dirty="0">
                <a:solidFill>
                  <a:srgbClr val="6B7280"/>
                </a:solidFill>
                <a:latin typeface="Arial" pitchFamily="34" charset="0"/>
                <a:ea typeface="Arial" pitchFamily="34" charset="-122"/>
                <a:cs typeface="Arial" pitchFamily="34" charset="-120"/>
              </a:rPr>
              <a:t>8 nền tảng + hàng chục modules nghiệp vụ cần hàng trăm kết nối riêng lẻ. Mỗi thay đổi ảnh hưởng dây chuyền.</a:t>
            </a:r>
            <a:endParaRPr lang="en-US" sz="900" dirty="0"/>
          </a:p>
        </p:txBody>
      </p:sp>
      <p:sp>
        <p:nvSpPr>
          <p:cNvPr id="19" name="Shape 17"/>
          <p:cNvSpPr/>
          <p:nvPr/>
        </p:nvSpPr>
        <p:spPr>
          <a:xfrm>
            <a:off x="274320" y="2286000"/>
            <a:ext cx="2560320" cy="1371600"/>
          </a:xfrm>
          <a:prstGeom prst="roundRect">
            <a:avLst>
              <a:gd name="adj" fmla="val 5333"/>
            </a:avLst>
          </a:prstGeom>
          <a:solidFill>
            <a:srgbClr val="FFFFFF"/>
          </a:solidFill>
          <a:ln/>
          <a:effectLst>
            <a:outerShdw blurRad="50800" dist="25400" dir="8100000" algn="bl" rotWithShape="0">
              <a:srgbClr val="000000">
                <a:alpha val="8000"/>
              </a:srgbClr>
            </a:outerShdw>
          </a:effectLst>
        </p:spPr>
        <p:txBody>
          <a:bodyPr/>
          <a:lstStyle/>
          <a:p>
            <a:endParaRPr lang="en-VN"/>
          </a:p>
        </p:txBody>
      </p:sp>
      <p:sp>
        <p:nvSpPr>
          <p:cNvPr id="20" name="Shape 18"/>
          <p:cNvSpPr/>
          <p:nvPr/>
        </p:nvSpPr>
        <p:spPr>
          <a:xfrm>
            <a:off x="411480" y="2423160"/>
            <a:ext cx="457200" cy="457200"/>
          </a:xfrm>
          <a:prstGeom prst="ellipse">
            <a:avLst/>
          </a:prstGeom>
          <a:solidFill>
            <a:srgbClr val="DC2626"/>
          </a:solidFill>
          <a:ln/>
        </p:spPr>
        <p:txBody>
          <a:bodyPr/>
          <a:lstStyle/>
          <a:p>
            <a:endParaRPr lang="en-VN"/>
          </a:p>
        </p:txBody>
      </p:sp>
      <p:sp>
        <p:nvSpPr>
          <p:cNvPr id="21" name="Text 19"/>
          <p:cNvSpPr/>
          <p:nvPr/>
        </p:nvSpPr>
        <p:spPr>
          <a:xfrm>
            <a:off x="411480" y="2423160"/>
            <a:ext cx="457200" cy="457200"/>
          </a:xfrm>
          <a:prstGeom prst="rect">
            <a:avLst/>
          </a:prstGeom>
          <a:noFill/>
          <a:ln/>
        </p:spPr>
        <p:txBody>
          <a:bodyPr wrap="square"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22" name="Text 20"/>
          <p:cNvSpPr/>
          <p:nvPr/>
        </p:nvSpPr>
        <p:spPr>
          <a:xfrm>
            <a:off x="960120" y="2423160"/>
            <a:ext cx="1737360" cy="411480"/>
          </a:xfrm>
          <a:prstGeom prst="rect">
            <a:avLst/>
          </a:prstGeom>
          <a:noFill/>
          <a:ln/>
        </p:spPr>
        <p:txBody>
          <a:bodyPr wrap="square" rtlCol="0" anchor="ctr"/>
          <a:lstStyle/>
          <a:p>
            <a:pPr marL="0" indent="0">
              <a:buNone/>
            </a:pPr>
            <a:r>
              <a:rPr lang="en-US" sz="1100" b="1" dirty="0">
                <a:solidFill>
                  <a:srgbClr val="0D1B4C"/>
                </a:solidFill>
                <a:latin typeface="Arial" pitchFamily="34" charset="0"/>
                <a:ea typeface="Arial" pitchFamily="34" charset="-122"/>
                <a:cs typeface="Arial" pitchFamily="34" charset="-120"/>
              </a:rPr>
              <a:t>Đồng bộ dữ liệu phức tạp</a:t>
            </a:r>
            <a:endParaRPr lang="en-US" sz="1100" dirty="0"/>
          </a:p>
        </p:txBody>
      </p:sp>
      <p:sp>
        <p:nvSpPr>
          <p:cNvPr id="23" name="Text 21"/>
          <p:cNvSpPr/>
          <p:nvPr/>
        </p:nvSpPr>
        <p:spPr>
          <a:xfrm>
            <a:off x="411480" y="2926080"/>
            <a:ext cx="2286000" cy="640080"/>
          </a:xfrm>
          <a:prstGeom prst="rect">
            <a:avLst/>
          </a:prstGeom>
          <a:noFill/>
          <a:ln/>
        </p:spPr>
        <p:txBody>
          <a:bodyPr wrap="square" rtlCol="0" anchor="t"/>
          <a:lstStyle/>
          <a:p>
            <a:pPr marL="0" indent="0">
              <a:lnSpc>
                <a:spcPct val="130000"/>
              </a:lnSpc>
              <a:buNone/>
            </a:pPr>
            <a:r>
              <a:rPr lang="en-US" sz="900" dirty="0">
                <a:solidFill>
                  <a:srgbClr val="6B7280"/>
                </a:solidFill>
                <a:latin typeface="Arial" pitchFamily="34" charset="0"/>
                <a:ea typeface="Arial" pitchFamily="34" charset="-122"/>
                <a:cs typeface="Arial" pitchFamily="34" charset="-120"/>
              </a:rPr>
              <a:t>Lead từ CRM, hợp đồng từ ONENOVA, tài chính từ ERP, nhân sự từ SuccessFactors - thiếu master data thống nhất.</a:t>
            </a:r>
            <a:endParaRPr lang="en-US" sz="900" dirty="0"/>
          </a:p>
        </p:txBody>
      </p:sp>
      <p:sp>
        <p:nvSpPr>
          <p:cNvPr id="24" name="Shape 22"/>
          <p:cNvSpPr/>
          <p:nvPr/>
        </p:nvSpPr>
        <p:spPr>
          <a:xfrm>
            <a:off x="4663440" y="2286000"/>
            <a:ext cx="2560320" cy="1371600"/>
          </a:xfrm>
          <a:prstGeom prst="roundRect">
            <a:avLst>
              <a:gd name="adj" fmla="val 5333"/>
            </a:avLst>
          </a:prstGeom>
          <a:solidFill>
            <a:srgbClr val="FFFFFF"/>
          </a:solidFill>
          <a:ln/>
          <a:effectLst>
            <a:outerShdw blurRad="50800" dist="25400" dir="8100000" algn="bl" rotWithShape="0">
              <a:srgbClr val="000000">
                <a:alpha val="8000"/>
              </a:srgbClr>
            </a:outerShdw>
          </a:effectLst>
        </p:spPr>
        <p:txBody>
          <a:bodyPr/>
          <a:lstStyle/>
          <a:p>
            <a:endParaRPr lang="en-VN"/>
          </a:p>
        </p:txBody>
      </p:sp>
      <p:sp>
        <p:nvSpPr>
          <p:cNvPr id="25" name="Shape 23"/>
          <p:cNvSpPr/>
          <p:nvPr/>
        </p:nvSpPr>
        <p:spPr>
          <a:xfrm>
            <a:off x="4800600" y="2423160"/>
            <a:ext cx="457200" cy="457200"/>
          </a:xfrm>
          <a:prstGeom prst="ellipse">
            <a:avLst/>
          </a:prstGeom>
          <a:solidFill>
            <a:srgbClr val="EA580C"/>
          </a:solidFill>
          <a:ln/>
        </p:spPr>
        <p:txBody>
          <a:bodyPr/>
          <a:lstStyle/>
          <a:p>
            <a:endParaRPr lang="en-VN"/>
          </a:p>
        </p:txBody>
      </p:sp>
      <p:sp>
        <p:nvSpPr>
          <p:cNvPr id="26" name="Text 24"/>
          <p:cNvSpPr/>
          <p:nvPr/>
        </p:nvSpPr>
        <p:spPr>
          <a:xfrm>
            <a:off x="4800600" y="2423160"/>
            <a:ext cx="457200" cy="457200"/>
          </a:xfrm>
          <a:prstGeom prst="rect">
            <a:avLst/>
          </a:prstGeom>
          <a:noFill/>
          <a:ln/>
        </p:spPr>
        <p:txBody>
          <a:bodyPr wrap="square"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27" name="Text 25"/>
          <p:cNvSpPr/>
          <p:nvPr/>
        </p:nvSpPr>
        <p:spPr>
          <a:xfrm>
            <a:off x="5349240" y="2423160"/>
            <a:ext cx="1737360" cy="411480"/>
          </a:xfrm>
          <a:prstGeom prst="rect">
            <a:avLst/>
          </a:prstGeom>
          <a:noFill/>
          <a:ln/>
        </p:spPr>
        <p:txBody>
          <a:bodyPr wrap="square" rtlCol="0" anchor="ctr"/>
          <a:lstStyle/>
          <a:p>
            <a:pPr marL="0" indent="0">
              <a:buNone/>
            </a:pPr>
            <a:r>
              <a:rPr lang="en-US" sz="1100" b="1" dirty="0">
                <a:solidFill>
                  <a:srgbClr val="0D1B4C"/>
                </a:solidFill>
                <a:latin typeface="Arial" pitchFamily="34" charset="0"/>
                <a:ea typeface="Arial" pitchFamily="34" charset="-122"/>
                <a:cs typeface="Arial" pitchFamily="34" charset="-120"/>
              </a:rPr>
              <a:t>Khó mở rộng</a:t>
            </a:r>
            <a:endParaRPr lang="en-US" sz="1100" dirty="0"/>
          </a:p>
        </p:txBody>
      </p:sp>
      <p:sp>
        <p:nvSpPr>
          <p:cNvPr id="28" name="Text 26"/>
          <p:cNvSpPr/>
          <p:nvPr/>
        </p:nvSpPr>
        <p:spPr>
          <a:xfrm>
            <a:off x="4800600" y="2926080"/>
            <a:ext cx="2286000" cy="640080"/>
          </a:xfrm>
          <a:prstGeom prst="rect">
            <a:avLst/>
          </a:prstGeom>
          <a:noFill/>
          <a:ln/>
        </p:spPr>
        <p:txBody>
          <a:bodyPr wrap="square" rtlCol="0" anchor="t"/>
          <a:lstStyle/>
          <a:p>
            <a:pPr marL="0" indent="0">
              <a:lnSpc>
                <a:spcPct val="130000"/>
              </a:lnSpc>
              <a:buNone/>
            </a:pPr>
            <a:r>
              <a:rPr lang="en-US" sz="900" dirty="0">
                <a:solidFill>
                  <a:srgbClr val="6B7280"/>
                </a:solidFill>
                <a:latin typeface="Arial" pitchFamily="34" charset="0"/>
                <a:ea typeface="Arial" pitchFamily="34" charset="-122"/>
                <a:cs typeface="Arial" pitchFamily="34" charset="-120"/>
              </a:rPr>
              <a:t>Thêm module/hệ thống mới phải tạo kết nối với tất cả platform hiện có. Chi phí và thời gian tăng tuyến tính.</a:t>
            </a:r>
            <a:endParaRPr lang="en-US" sz="900" dirty="0"/>
          </a:p>
        </p:txBody>
      </p:sp>
      <p:sp>
        <p:nvSpPr>
          <p:cNvPr id="29" name="Shape 27"/>
          <p:cNvSpPr/>
          <p:nvPr/>
        </p:nvSpPr>
        <p:spPr>
          <a:xfrm>
            <a:off x="274320" y="3383280"/>
            <a:ext cx="2560320" cy="1371600"/>
          </a:xfrm>
          <a:prstGeom prst="roundRect">
            <a:avLst>
              <a:gd name="adj" fmla="val 5333"/>
            </a:avLst>
          </a:prstGeom>
          <a:solidFill>
            <a:srgbClr val="FFFFFF"/>
          </a:solidFill>
          <a:ln/>
          <a:effectLst>
            <a:outerShdw blurRad="50800" dist="25400" dir="8100000" algn="bl" rotWithShape="0">
              <a:srgbClr val="000000">
                <a:alpha val="8000"/>
              </a:srgbClr>
            </a:outerShdw>
          </a:effectLst>
        </p:spPr>
        <p:txBody>
          <a:bodyPr/>
          <a:lstStyle/>
          <a:p>
            <a:endParaRPr lang="en-VN"/>
          </a:p>
        </p:txBody>
      </p:sp>
      <p:sp>
        <p:nvSpPr>
          <p:cNvPr id="30" name="Shape 28"/>
          <p:cNvSpPr/>
          <p:nvPr/>
        </p:nvSpPr>
        <p:spPr>
          <a:xfrm>
            <a:off x="411480" y="3520440"/>
            <a:ext cx="457200" cy="457200"/>
          </a:xfrm>
          <a:prstGeom prst="ellipse">
            <a:avLst/>
          </a:prstGeom>
          <a:solidFill>
            <a:srgbClr val="DC2626"/>
          </a:solidFill>
          <a:ln/>
        </p:spPr>
        <p:txBody>
          <a:bodyPr/>
          <a:lstStyle/>
          <a:p>
            <a:endParaRPr lang="en-VN"/>
          </a:p>
        </p:txBody>
      </p:sp>
      <p:sp>
        <p:nvSpPr>
          <p:cNvPr id="31" name="Text 29"/>
          <p:cNvSpPr/>
          <p:nvPr/>
        </p:nvSpPr>
        <p:spPr>
          <a:xfrm>
            <a:off x="411480" y="3520440"/>
            <a:ext cx="457200" cy="457200"/>
          </a:xfrm>
          <a:prstGeom prst="rect">
            <a:avLst/>
          </a:prstGeom>
          <a:noFill/>
          <a:ln/>
        </p:spPr>
        <p:txBody>
          <a:bodyPr wrap="square"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5</a:t>
            </a:r>
            <a:endParaRPr lang="en-US" sz="1600" dirty="0"/>
          </a:p>
        </p:txBody>
      </p:sp>
      <p:sp>
        <p:nvSpPr>
          <p:cNvPr id="32" name="Text 30"/>
          <p:cNvSpPr/>
          <p:nvPr/>
        </p:nvSpPr>
        <p:spPr>
          <a:xfrm>
            <a:off x="960120" y="3520440"/>
            <a:ext cx="1737360" cy="411480"/>
          </a:xfrm>
          <a:prstGeom prst="rect">
            <a:avLst/>
          </a:prstGeom>
          <a:noFill/>
          <a:ln/>
        </p:spPr>
        <p:txBody>
          <a:bodyPr wrap="square" rtlCol="0" anchor="ctr"/>
          <a:lstStyle/>
          <a:p>
            <a:pPr marL="0" indent="0">
              <a:buNone/>
            </a:pPr>
            <a:r>
              <a:rPr lang="en-US" sz="1100" b="1" dirty="0">
                <a:solidFill>
                  <a:srgbClr val="0D1B4C"/>
                </a:solidFill>
                <a:latin typeface="Arial" pitchFamily="34" charset="0"/>
                <a:ea typeface="Arial" pitchFamily="34" charset="-122"/>
                <a:cs typeface="Arial" pitchFamily="34" charset="-120"/>
              </a:rPr>
              <a:t>Thiếu giám sát tổng thể</a:t>
            </a:r>
            <a:endParaRPr lang="en-US" sz="1100" dirty="0"/>
          </a:p>
        </p:txBody>
      </p:sp>
      <p:sp>
        <p:nvSpPr>
          <p:cNvPr id="33" name="Text 31"/>
          <p:cNvSpPr/>
          <p:nvPr/>
        </p:nvSpPr>
        <p:spPr>
          <a:xfrm>
            <a:off x="411480" y="4023360"/>
            <a:ext cx="2286000" cy="640080"/>
          </a:xfrm>
          <a:prstGeom prst="rect">
            <a:avLst/>
          </a:prstGeom>
          <a:noFill/>
          <a:ln/>
        </p:spPr>
        <p:txBody>
          <a:bodyPr wrap="square" rtlCol="0" anchor="t"/>
          <a:lstStyle/>
          <a:p>
            <a:pPr marL="0" indent="0">
              <a:lnSpc>
                <a:spcPct val="130000"/>
              </a:lnSpc>
              <a:buNone/>
            </a:pPr>
            <a:r>
              <a:rPr lang="en-US" sz="900" dirty="0">
                <a:solidFill>
                  <a:srgbClr val="6B7280"/>
                </a:solidFill>
                <a:latin typeface="Arial" pitchFamily="34" charset="0"/>
                <a:ea typeface="Arial" pitchFamily="34" charset="-122"/>
                <a:cs typeface="Arial" pitchFamily="34" charset="-120"/>
              </a:rPr>
              <a:t>Không có visibility về data flow giữa ONENOVA-CRM-ERP-GMS. Lỗi phát hiện chậm, debug phức tạp.</a:t>
            </a:r>
            <a:endParaRPr lang="en-US" sz="900" dirty="0"/>
          </a:p>
        </p:txBody>
      </p:sp>
      <p:sp>
        <p:nvSpPr>
          <p:cNvPr id="34" name="Shape 32"/>
          <p:cNvSpPr/>
          <p:nvPr/>
        </p:nvSpPr>
        <p:spPr>
          <a:xfrm>
            <a:off x="4663440" y="3383280"/>
            <a:ext cx="2560320" cy="1371600"/>
          </a:xfrm>
          <a:prstGeom prst="roundRect">
            <a:avLst>
              <a:gd name="adj" fmla="val 5333"/>
            </a:avLst>
          </a:prstGeom>
          <a:solidFill>
            <a:srgbClr val="FFFFFF"/>
          </a:solidFill>
          <a:ln/>
          <a:effectLst>
            <a:outerShdw blurRad="50800" dist="25400" dir="8100000" algn="bl" rotWithShape="0">
              <a:srgbClr val="000000">
                <a:alpha val="8000"/>
              </a:srgbClr>
            </a:outerShdw>
          </a:effectLst>
        </p:spPr>
        <p:txBody>
          <a:bodyPr/>
          <a:lstStyle/>
          <a:p>
            <a:endParaRPr lang="en-VN"/>
          </a:p>
        </p:txBody>
      </p:sp>
      <p:sp>
        <p:nvSpPr>
          <p:cNvPr id="35" name="Shape 33"/>
          <p:cNvSpPr/>
          <p:nvPr/>
        </p:nvSpPr>
        <p:spPr>
          <a:xfrm>
            <a:off x="4800600" y="3520440"/>
            <a:ext cx="457200" cy="457200"/>
          </a:xfrm>
          <a:prstGeom prst="ellipse">
            <a:avLst/>
          </a:prstGeom>
          <a:solidFill>
            <a:srgbClr val="EA580C"/>
          </a:solidFill>
          <a:ln/>
        </p:spPr>
        <p:txBody>
          <a:bodyPr/>
          <a:lstStyle/>
          <a:p>
            <a:endParaRPr lang="en-VN"/>
          </a:p>
        </p:txBody>
      </p:sp>
      <p:sp>
        <p:nvSpPr>
          <p:cNvPr id="36" name="Text 34"/>
          <p:cNvSpPr/>
          <p:nvPr/>
        </p:nvSpPr>
        <p:spPr>
          <a:xfrm>
            <a:off x="4800600" y="3520440"/>
            <a:ext cx="457200" cy="457200"/>
          </a:xfrm>
          <a:prstGeom prst="rect">
            <a:avLst/>
          </a:prstGeom>
          <a:noFill/>
          <a:ln/>
        </p:spPr>
        <p:txBody>
          <a:bodyPr wrap="square"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6</a:t>
            </a:r>
            <a:endParaRPr lang="en-US" sz="1600" dirty="0"/>
          </a:p>
        </p:txBody>
      </p:sp>
      <p:sp>
        <p:nvSpPr>
          <p:cNvPr id="37" name="Text 35"/>
          <p:cNvSpPr/>
          <p:nvPr/>
        </p:nvSpPr>
        <p:spPr>
          <a:xfrm>
            <a:off x="5349240" y="3520440"/>
            <a:ext cx="1737360" cy="411480"/>
          </a:xfrm>
          <a:prstGeom prst="rect">
            <a:avLst/>
          </a:prstGeom>
          <a:noFill/>
          <a:ln/>
        </p:spPr>
        <p:txBody>
          <a:bodyPr wrap="square" rtlCol="0" anchor="ctr"/>
          <a:lstStyle/>
          <a:p>
            <a:pPr marL="0" indent="0">
              <a:buNone/>
            </a:pPr>
            <a:r>
              <a:rPr lang="en-US" sz="1100" b="1" dirty="0">
                <a:solidFill>
                  <a:srgbClr val="0D1B4C"/>
                </a:solidFill>
                <a:latin typeface="Arial" pitchFamily="34" charset="0"/>
                <a:ea typeface="Arial" pitchFamily="34" charset="-122"/>
                <a:cs typeface="Arial" pitchFamily="34" charset="-120"/>
              </a:rPr>
              <a:t>Nghiệp vụ chồng chéo</a:t>
            </a:r>
            <a:endParaRPr lang="en-US" sz="1100" dirty="0"/>
          </a:p>
        </p:txBody>
      </p:sp>
      <p:sp>
        <p:nvSpPr>
          <p:cNvPr id="38" name="Text 36"/>
          <p:cNvSpPr/>
          <p:nvPr/>
        </p:nvSpPr>
        <p:spPr>
          <a:xfrm>
            <a:off x="4800600" y="4023360"/>
            <a:ext cx="2286000" cy="640080"/>
          </a:xfrm>
          <a:prstGeom prst="rect">
            <a:avLst/>
          </a:prstGeom>
          <a:noFill/>
          <a:ln/>
        </p:spPr>
        <p:txBody>
          <a:bodyPr wrap="square" rtlCol="0" anchor="t"/>
          <a:lstStyle/>
          <a:p>
            <a:pPr marL="0" indent="0">
              <a:lnSpc>
                <a:spcPct val="130000"/>
              </a:lnSpc>
              <a:buNone/>
            </a:pPr>
            <a:r>
              <a:rPr lang="en-US" sz="900" dirty="0">
                <a:solidFill>
                  <a:srgbClr val="6B7280"/>
                </a:solidFill>
                <a:latin typeface="Arial" pitchFamily="34" charset="0"/>
                <a:ea typeface="Arial" pitchFamily="34" charset="-122"/>
                <a:cs typeface="Arial" pitchFamily="34" charset="-120"/>
              </a:rPr>
              <a:t>Voucher &amp; Loyalty, quản lý KH xuất hiện ở nhiều nhóm chức năng. Cần Hub thống nhất luồng dữ liệu.</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B4C"/>
        </a:solidFill>
        <a:effectLst/>
      </p:bgPr>
    </p:bg>
    <p:spTree>
      <p:nvGrpSpPr>
        <p:cNvPr id="1" name=""/>
        <p:cNvGrpSpPr/>
        <p:nvPr/>
      </p:nvGrpSpPr>
      <p:grpSpPr>
        <a:xfrm>
          <a:off x="0" y="0"/>
          <a:ext cx="0" cy="0"/>
          <a:chOff x="0" y="0"/>
          <a:chExt cx="0" cy="0"/>
        </a:xfrm>
      </p:grpSpPr>
      <p:sp>
        <p:nvSpPr>
          <p:cNvPr id="2" name="Shape 0"/>
          <p:cNvSpPr/>
          <p:nvPr/>
        </p:nvSpPr>
        <p:spPr>
          <a:xfrm rot="-1800000">
            <a:off x="6858000" y="274320"/>
            <a:ext cx="2011680" cy="0"/>
          </a:xfrm>
          <a:prstGeom prst="line">
            <a:avLst/>
          </a:prstGeom>
          <a:noFill/>
          <a:ln w="25400">
            <a:solidFill>
              <a:srgbClr val="C8A962"/>
            </a:solidFill>
            <a:prstDash val="solid"/>
          </a:ln>
        </p:spPr>
        <p:txBody>
          <a:bodyPr/>
          <a:lstStyle/>
          <a:p>
            <a:endParaRPr lang="en-VN"/>
          </a:p>
        </p:txBody>
      </p:sp>
      <p:sp>
        <p:nvSpPr>
          <p:cNvPr id="3" name="Shape 1"/>
          <p:cNvSpPr/>
          <p:nvPr/>
        </p:nvSpPr>
        <p:spPr>
          <a:xfrm rot="-1800000">
            <a:off x="7315200" y="91440"/>
            <a:ext cx="2011680" cy="0"/>
          </a:xfrm>
          <a:prstGeom prst="line">
            <a:avLst/>
          </a:prstGeom>
          <a:noFill/>
          <a:ln w="12700">
            <a:solidFill>
              <a:srgbClr val="C8A962"/>
            </a:solidFill>
            <a:prstDash val="solid"/>
          </a:ln>
        </p:spPr>
        <p:txBody>
          <a:bodyPr/>
          <a:lstStyle/>
          <a:p>
            <a:endParaRPr lang="en-VN"/>
          </a:p>
        </p:txBody>
      </p:sp>
      <p:sp>
        <p:nvSpPr>
          <p:cNvPr id="4" name="Shape 2"/>
          <p:cNvSpPr/>
          <p:nvPr/>
        </p:nvSpPr>
        <p:spPr>
          <a:xfrm rot="-1800000">
            <a:off x="274320" y="4114800"/>
            <a:ext cx="2011680" cy="0"/>
          </a:xfrm>
          <a:prstGeom prst="line">
            <a:avLst/>
          </a:prstGeom>
          <a:noFill/>
          <a:ln w="25400">
            <a:solidFill>
              <a:srgbClr val="C8A962"/>
            </a:solidFill>
            <a:prstDash val="solid"/>
          </a:ln>
        </p:spPr>
        <p:txBody>
          <a:bodyPr/>
          <a:lstStyle/>
          <a:p>
            <a:endParaRPr lang="en-VN"/>
          </a:p>
        </p:txBody>
      </p:sp>
      <p:sp>
        <p:nvSpPr>
          <p:cNvPr id="5" name="Shape 3"/>
          <p:cNvSpPr/>
          <p:nvPr/>
        </p:nvSpPr>
        <p:spPr>
          <a:xfrm rot="-1800000">
            <a:off x="0" y="4389120"/>
            <a:ext cx="2011680" cy="0"/>
          </a:xfrm>
          <a:prstGeom prst="line">
            <a:avLst/>
          </a:prstGeom>
          <a:noFill/>
          <a:ln w="12700">
            <a:solidFill>
              <a:srgbClr val="C8A962"/>
            </a:solidFill>
            <a:prstDash val="solid"/>
          </a:ln>
        </p:spPr>
        <p:txBody>
          <a:bodyPr/>
          <a:lstStyle/>
          <a:p>
            <a:endParaRPr lang="en-VN"/>
          </a:p>
        </p:txBody>
      </p:sp>
      <p:sp>
        <p:nvSpPr>
          <p:cNvPr id="6" name="Text 4"/>
          <p:cNvSpPr/>
          <p:nvPr/>
        </p:nvSpPr>
        <p:spPr>
          <a:xfrm>
            <a:off x="457200" y="1645920"/>
            <a:ext cx="7315200" cy="1097280"/>
          </a:xfrm>
          <a:prstGeom prst="rect">
            <a:avLst/>
          </a:prstGeom>
          <a:noFill/>
          <a:ln/>
        </p:spPr>
        <p:txBody>
          <a:bodyPr wrap="square" rtlCol="0" anchor="ctr"/>
          <a:lstStyle/>
          <a:p>
            <a:pPr marL="0" indent="0">
              <a:buNone/>
            </a:pPr>
            <a:r>
              <a:rPr lang="en-US" sz="3600" b="1" dirty="0">
                <a:solidFill>
                  <a:srgbClr val="FFFFFF"/>
                </a:solidFill>
                <a:latin typeface="Arial" pitchFamily="34" charset="0"/>
                <a:ea typeface="Arial" pitchFamily="34" charset="-122"/>
                <a:cs typeface="Arial" pitchFamily="34" charset="-120"/>
              </a:rPr>
              <a:t>GIẢI PHÁP</a:t>
            </a:r>
            <a:endParaRPr lang="en-US" sz="3600" dirty="0"/>
          </a:p>
          <a:p>
            <a:pPr marL="0" indent="0">
              <a:buNone/>
            </a:pPr>
            <a:r>
              <a:rPr lang="en-US" sz="3600" b="1" dirty="0">
                <a:solidFill>
                  <a:srgbClr val="FFFFFF"/>
                </a:solidFill>
                <a:latin typeface="Arial" pitchFamily="34" charset="0"/>
                <a:ea typeface="Arial" pitchFamily="34" charset="-122"/>
                <a:cs typeface="Arial" pitchFamily="34" charset="-120"/>
              </a:rPr>
              <a:t>HUB INTEGRATION</a:t>
            </a:r>
            <a:endParaRPr lang="en-US" sz="3600" dirty="0"/>
          </a:p>
        </p:txBody>
      </p:sp>
      <p:sp>
        <p:nvSpPr>
          <p:cNvPr id="7" name="Text 5"/>
          <p:cNvSpPr/>
          <p:nvPr/>
        </p:nvSpPr>
        <p:spPr>
          <a:xfrm>
            <a:off x="457200" y="2743200"/>
            <a:ext cx="7315200" cy="548640"/>
          </a:xfrm>
          <a:prstGeom prst="rect">
            <a:avLst/>
          </a:prstGeom>
          <a:noFill/>
          <a:ln/>
        </p:spPr>
        <p:txBody>
          <a:bodyPr wrap="square" rtlCol="0" anchor="t"/>
          <a:lstStyle/>
          <a:p>
            <a:pPr marL="0" indent="0">
              <a:buNone/>
            </a:pPr>
            <a:r>
              <a:rPr lang="en-US" sz="1600" dirty="0">
                <a:solidFill>
                  <a:srgbClr val="C8A962"/>
                </a:solidFill>
                <a:latin typeface="Arial" pitchFamily="34" charset="0"/>
                <a:ea typeface="Arial" pitchFamily="34" charset="-122"/>
                <a:cs typeface="Arial" pitchFamily="34" charset="-120"/>
              </a:rPr>
              <a:t>Nền tảng tích hợp tập trung, hiện đại, mở rộng linh hoạt</a:t>
            </a:r>
            <a:endParaRPr lang="en-US" sz="1600" dirty="0"/>
          </a:p>
        </p:txBody>
      </p:sp>
      <p:sp>
        <p:nvSpPr>
          <p:cNvPr id="8" name="Shape 6"/>
          <p:cNvSpPr/>
          <p:nvPr/>
        </p:nvSpPr>
        <p:spPr>
          <a:xfrm>
            <a:off x="0" y="4937760"/>
            <a:ext cx="9144000" cy="205740"/>
          </a:xfrm>
          <a:prstGeom prst="rect">
            <a:avLst/>
          </a:prstGeom>
          <a:solidFill>
            <a:srgbClr val="C8A962"/>
          </a:solidFill>
          <a:ln/>
        </p:spPr>
        <p:txBody>
          <a:bodyPr/>
          <a:lstStyle/>
          <a:p>
            <a:endParaRPr lang="en-V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1B4C"/>
          </a:solidFill>
          <a:ln/>
        </p:spPr>
        <p:txBody>
          <a:bodyPr/>
          <a:lstStyle/>
          <a:p>
            <a:endParaRPr lang="en-VN"/>
          </a:p>
        </p:txBody>
      </p:sp>
      <p:sp>
        <p:nvSpPr>
          <p:cNvPr id="3" name="Shape 1"/>
          <p:cNvSpPr/>
          <p:nvPr/>
        </p:nvSpPr>
        <p:spPr>
          <a:xfrm>
            <a:off x="0" y="914400"/>
            <a:ext cx="9144000" cy="36576"/>
          </a:xfrm>
          <a:prstGeom prst="rect">
            <a:avLst/>
          </a:prstGeom>
          <a:solidFill>
            <a:srgbClr val="C8A962"/>
          </a:solidFill>
          <a:ln/>
        </p:spPr>
        <p:txBody>
          <a:bodyPr/>
          <a:lstStyle/>
          <a:p>
            <a:endParaRPr lang="en-VN"/>
          </a:p>
        </p:txBody>
      </p:sp>
      <p:sp>
        <p:nvSpPr>
          <p:cNvPr id="4" name="Text 2"/>
          <p:cNvSpPr/>
          <p:nvPr/>
        </p:nvSpPr>
        <p:spPr>
          <a:xfrm>
            <a:off x="457200" y="0"/>
            <a:ext cx="8229600" cy="548640"/>
          </a:xfrm>
          <a:prstGeom prst="rect">
            <a:avLst/>
          </a:prstGeom>
          <a:noFill/>
          <a:ln/>
        </p:spPr>
        <p:txBody>
          <a:bodyPr wrap="square" rtlCol="0" anchor="b"/>
          <a:lstStyle/>
          <a:p>
            <a:pPr marL="0" indent="0">
              <a:buNone/>
            </a:pPr>
            <a:r>
              <a:rPr lang="en-US" sz="2400" b="1" dirty="0">
                <a:solidFill>
                  <a:srgbClr val="FFFFFF"/>
                </a:solidFill>
                <a:latin typeface="Arial" pitchFamily="34" charset="0"/>
                <a:ea typeface="Arial" pitchFamily="34" charset="-122"/>
                <a:cs typeface="Arial" pitchFamily="34" charset="-120"/>
              </a:rPr>
              <a:t>Tổng quan Giải pháp Hub Integration</a:t>
            </a:r>
            <a:endParaRPr lang="en-US" sz="2400" dirty="0"/>
          </a:p>
        </p:txBody>
      </p:sp>
      <p:sp>
        <p:nvSpPr>
          <p:cNvPr id="5" name="Text 3"/>
          <p:cNvSpPr/>
          <p:nvPr/>
        </p:nvSpPr>
        <p:spPr>
          <a:xfrm>
            <a:off x="457200" y="548640"/>
            <a:ext cx="8229600" cy="365760"/>
          </a:xfrm>
          <a:prstGeom prst="rect">
            <a:avLst/>
          </a:prstGeom>
          <a:noFill/>
          <a:ln/>
        </p:spPr>
        <p:txBody>
          <a:bodyPr wrap="square" rtlCol="0" anchor="t"/>
          <a:lstStyle/>
          <a:p>
            <a:pPr marL="0" indent="0">
              <a:buNone/>
            </a:pPr>
            <a:r>
              <a:rPr lang="en-US" sz="1300" dirty="0">
                <a:solidFill>
                  <a:srgbClr val="C8A962"/>
                </a:solidFill>
                <a:latin typeface="Arial" pitchFamily="34" charset="0"/>
                <a:ea typeface="Arial" pitchFamily="34" charset="-122"/>
                <a:cs typeface="Arial" pitchFamily="34" charset="-120"/>
              </a:rPr>
              <a:t>Solution Overview</a:t>
            </a:r>
            <a:endParaRPr lang="en-US" sz="1300" dirty="0"/>
          </a:p>
        </p:txBody>
      </p:sp>
      <p:sp>
        <p:nvSpPr>
          <p:cNvPr id="6" name="Shape 4"/>
          <p:cNvSpPr/>
          <p:nvPr/>
        </p:nvSpPr>
        <p:spPr>
          <a:xfrm>
            <a:off x="0" y="4709160"/>
            <a:ext cx="9144000" cy="434340"/>
          </a:xfrm>
          <a:prstGeom prst="rect">
            <a:avLst/>
          </a:prstGeom>
          <a:solidFill>
            <a:srgbClr val="0D1B4C"/>
          </a:solidFill>
          <a:ln/>
        </p:spPr>
        <p:txBody>
          <a:bodyPr/>
          <a:lstStyle/>
          <a:p>
            <a:endParaRPr lang="en-VN"/>
          </a:p>
        </p:txBody>
      </p:sp>
      <p:sp>
        <p:nvSpPr>
          <p:cNvPr id="7" name="Text 5"/>
          <p:cNvSpPr/>
          <p:nvPr/>
        </p:nvSpPr>
        <p:spPr>
          <a:xfrm>
            <a:off x="457200" y="4709160"/>
            <a:ext cx="6400800" cy="434340"/>
          </a:xfrm>
          <a:prstGeom prst="rect">
            <a:avLst/>
          </a:prstGeom>
          <a:noFill/>
          <a:ln/>
        </p:spPr>
        <p:txBody>
          <a:bodyPr wrap="square" rtlCol="0" anchor="ctr"/>
          <a:lstStyle/>
          <a:p>
            <a:pPr marL="0" indent="0">
              <a:buNone/>
            </a:pPr>
            <a:r>
              <a:rPr lang="en-US" sz="900" dirty="0">
                <a:solidFill>
                  <a:srgbClr val="C8A962"/>
                </a:solidFill>
                <a:latin typeface="Arial" pitchFamily="34" charset="0"/>
                <a:ea typeface="Arial" pitchFamily="34" charset="-122"/>
                <a:cs typeface="Arial" pitchFamily="34" charset="-120"/>
              </a:rPr>
              <a:t>Tiên Phong CDS  |  Novagroup  |  Hub Integration Platform</a:t>
            </a:r>
            <a:endParaRPr lang="en-US" sz="900" dirty="0"/>
          </a:p>
        </p:txBody>
      </p:sp>
      <p:sp>
        <p:nvSpPr>
          <p:cNvPr id="8" name="Text 6"/>
          <p:cNvSpPr/>
          <p:nvPr/>
        </p:nvSpPr>
        <p:spPr>
          <a:xfrm>
            <a:off x="7772400" y="4709160"/>
            <a:ext cx="914400" cy="434340"/>
          </a:xfrm>
          <a:prstGeom prst="rect">
            <a:avLst/>
          </a:prstGeom>
          <a:noFill/>
          <a:ln/>
        </p:spPr>
        <p:txBody>
          <a:bodyPr wrap="square" rtlCol="0" anchor="ctr"/>
          <a:lstStyle/>
          <a:p>
            <a:pPr marL="0" indent="0" algn="r">
              <a:buNone/>
            </a:pPr>
            <a:r>
              <a:rPr lang="en-US" sz="900" dirty="0">
                <a:solidFill>
                  <a:srgbClr val="FFFFFF"/>
                </a:solidFill>
                <a:latin typeface="Arial" pitchFamily="34" charset="0"/>
                <a:ea typeface="Arial" pitchFamily="34" charset="-122"/>
                <a:cs typeface="Arial" pitchFamily="34" charset="-120"/>
              </a:rPr>
              <a:t>7</a:t>
            </a:r>
            <a:endParaRPr lang="en-US" sz="900" dirty="0"/>
          </a:p>
        </p:txBody>
      </p:sp>
      <p:sp>
        <p:nvSpPr>
          <p:cNvPr id="9" name="Text 7"/>
          <p:cNvSpPr/>
          <p:nvPr/>
        </p:nvSpPr>
        <p:spPr>
          <a:xfrm>
            <a:off x="365760" y="1143000"/>
            <a:ext cx="4114800" cy="320040"/>
          </a:xfrm>
          <a:prstGeom prst="rect">
            <a:avLst/>
          </a:prstGeom>
          <a:noFill/>
          <a:ln/>
        </p:spPr>
        <p:txBody>
          <a:bodyPr wrap="square" rtlCol="0" anchor="ctr"/>
          <a:lstStyle/>
          <a:p>
            <a:pPr marL="0" indent="0">
              <a:buNone/>
            </a:pPr>
            <a:r>
              <a:rPr lang="en-US" sz="1300" b="1" dirty="0">
                <a:solidFill>
                  <a:srgbClr val="0D1B4C"/>
                </a:solidFill>
                <a:latin typeface="Arial" pitchFamily="34" charset="0"/>
                <a:ea typeface="Arial" pitchFamily="34" charset="-122"/>
                <a:cs typeface="Arial" pitchFamily="34" charset="-120"/>
              </a:rPr>
              <a:t>Mục tiêu:</a:t>
            </a:r>
            <a:endParaRPr lang="en-US" sz="1300" dirty="0"/>
          </a:p>
        </p:txBody>
      </p:sp>
      <p:sp>
        <p:nvSpPr>
          <p:cNvPr id="10" name="Text 8"/>
          <p:cNvSpPr/>
          <p:nvPr/>
        </p:nvSpPr>
        <p:spPr>
          <a:xfrm>
            <a:off x="457200" y="1463040"/>
            <a:ext cx="4114800" cy="347472"/>
          </a:xfrm>
          <a:prstGeom prst="rect">
            <a:avLst/>
          </a:prstGeom>
          <a:noFill/>
          <a:ln/>
        </p:spPr>
        <p:txBody>
          <a:bodyPr wrap="square" rtlCol="0" anchor="ctr"/>
          <a:lstStyle/>
          <a:p>
            <a:pPr marL="0" indent="0">
              <a:lnSpc>
                <a:spcPct val="120000"/>
              </a:lnSpc>
              <a:buNone/>
            </a:pPr>
            <a:r>
              <a:rPr lang="en-US" sz="1050" dirty="0">
                <a:solidFill>
                  <a:srgbClr val="1F2937"/>
                </a:solidFill>
                <a:latin typeface="Arial" pitchFamily="34" charset="0"/>
                <a:ea typeface="Arial" pitchFamily="34" charset="-122"/>
                <a:cs typeface="Arial" pitchFamily="34" charset="-120"/>
              </a:rPr>
              <a:t>•  Xây dựng Integration Hub tập trung, kết nối toàn bộ hệ thống Novagroup.</a:t>
            </a:r>
            <a:endParaRPr lang="en-US" sz="1050" dirty="0"/>
          </a:p>
        </p:txBody>
      </p:sp>
      <p:sp>
        <p:nvSpPr>
          <p:cNvPr id="11" name="Text 9"/>
          <p:cNvSpPr/>
          <p:nvPr/>
        </p:nvSpPr>
        <p:spPr>
          <a:xfrm>
            <a:off x="457200" y="1810512"/>
            <a:ext cx="4114800" cy="347472"/>
          </a:xfrm>
          <a:prstGeom prst="rect">
            <a:avLst/>
          </a:prstGeom>
          <a:noFill/>
          <a:ln/>
        </p:spPr>
        <p:txBody>
          <a:bodyPr wrap="square" rtlCol="0" anchor="ctr"/>
          <a:lstStyle/>
          <a:p>
            <a:pPr marL="0" indent="0">
              <a:lnSpc>
                <a:spcPct val="120000"/>
              </a:lnSpc>
              <a:buNone/>
            </a:pPr>
            <a:r>
              <a:rPr lang="en-US" sz="1050" dirty="0">
                <a:solidFill>
                  <a:srgbClr val="1F2937"/>
                </a:solidFill>
                <a:latin typeface="Arial" pitchFamily="34" charset="0"/>
                <a:ea typeface="Arial" pitchFamily="34" charset="-122"/>
                <a:cs typeface="Arial" pitchFamily="34" charset="-120"/>
              </a:rPr>
              <a:t>•  Chuẩn hóa giao tiếp qua API Gateway và Event Streaming.</a:t>
            </a:r>
            <a:endParaRPr lang="en-US" sz="1050" dirty="0"/>
          </a:p>
        </p:txBody>
      </p:sp>
      <p:sp>
        <p:nvSpPr>
          <p:cNvPr id="12" name="Text 10"/>
          <p:cNvSpPr/>
          <p:nvPr/>
        </p:nvSpPr>
        <p:spPr>
          <a:xfrm>
            <a:off x="457200" y="2157984"/>
            <a:ext cx="4114800" cy="347472"/>
          </a:xfrm>
          <a:prstGeom prst="rect">
            <a:avLst/>
          </a:prstGeom>
          <a:noFill/>
          <a:ln/>
        </p:spPr>
        <p:txBody>
          <a:bodyPr wrap="square" rtlCol="0" anchor="ctr"/>
          <a:lstStyle/>
          <a:p>
            <a:pPr marL="0" indent="0">
              <a:lnSpc>
                <a:spcPct val="120000"/>
              </a:lnSpc>
              <a:buNone/>
            </a:pPr>
            <a:r>
              <a:rPr lang="en-US" sz="1050" dirty="0">
                <a:solidFill>
                  <a:srgbClr val="1F2937"/>
                </a:solidFill>
                <a:latin typeface="Arial" pitchFamily="34" charset="0"/>
                <a:ea typeface="Arial" pitchFamily="34" charset="-122"/>
                <a:cs typeface="Arial" pitchFamily="34" charset="-120"/>
              </a:rPr>
              <a:t>•  Tích hợp SSO &amp; bảo mật tập trung cho toàn tập đoàn.</a:t>
            </a:r>
            <a:endParaRPr lang="en-US" sz="1050" dirty="0"/>
          </a:p>
        </p:txBody>
      </p:sp>
      <p:sp>
        <p:nvSpPr>
          <p:cNvPr id="13" name="Text 11"/>
          <p:cNvSpPr/>
          <p:nvPr/>
        </p:nvSpPr>
        <p:spPr>
          <a:xfrm>
            <a:off x="457200" y="2505456"/>
            <a:ext cx="4114800" cy="347472"/>
          </a:xfrm>
          <a:prstGeom prst="rect">
            <a:avLst/>
          </a:prstGeom>
          <a:noFill/>
          <a:ln/>
        </p:spPr>
        <p:txBody>
          <a:bodyPr wrap="square" rtlCol="0" anchor="ctr"/>
          <a:lstStyle/>
          <a:p>
            <a:pPr marL="0" indent="0">
              <a:lnSpc>
                <a:spcPct val="120000"/>
              </a:lnSpc>
              <a:buNone/>
            </a:pPr>
            <a:r>
              <a:rPr lang="en-US" sz="1050" dirty="0">
                <a:solidFill>
                  <a:srgbClr val="1F2937"/>
                </a:solidFill>
                <a:latin typeface="Arial" pitchFamily="34" charset="0"/>
                <a:ea typeface="Arial" pitchFamily="34" charset="-122"/>
                <a:cs typeface="Arial" pitchFamily="34" charset="-120"/>
              </a:rPr>
              <a:t>•  Cung cấp monitoring &amp; observability toàn diện.</a:t>
            </a:r>
            <a:endParaRPr lang="en-US" sz="1050" dirty="0"/>
          </a:p>
        </p:txBody>
      </p:sp>
      <p:sp>
        <p:nvSpPr>
          <p:cNvPr id="14" name="Text 12"/>
          <p:cNvSpPr/>
          <p:nvPr/>
        </p:nvSpPr>
        <p:spPr>
          <a:xfrm>
            <a:off x="457200" y="2852928"/>
            <a:ext cx="4114800" cy="347472"/>
          </a:xfrm>
          <a:prstGeom prst="rect">
            <a:avLst/>
          </a:prstGeom>
          <a:noFill/>
          <a:ln/>
        </p:spPr>
        <p:txBody>
          <a:bodyPr wrap="square" rtlCol="0" anchor="ctr"/>
          <a:lstStyle/>
          <a:p>
            <a:pPr marL="0" indent="0">
              <a:lnSpc>
                <a:spcPct val="120000"/>
              </a:lnSpc>
              <a:buNone/>
            </a:pPr>
            <a:r>
              <a:rPr lang="en-US" sz="1050" dirty="0">
                <a:solidFill>
                  <a:srgbClr val="1F2937"/>
                </a:solidFill>
                <a:latin typeface="Arial" pitchFamily="34" charset="0"/>
                <a:ea typeface="Arial" pitchFamily="34" charset="-122"/>
                <a:cs typeface="Arial" pitchFamily="34" charset="-120"/>
              </a:rPr>
              <a:t>•  Đảm bảo khả năng mở rộng và hiệu suất cao.</a:t>
            </a:r>
            <a:endParaRPr lang="en-US" sz="1050" dirty="0"/>
          </a:p>
        </p:txBody>
      </p:sp>
      <p:sp>
        <p:nvSpPr>
          <p:cNvPr id="15" name="Text 13"/>
          <p:cNvSpPr/>
          <p:nvPr/>
        </p:nvSpPr>
        <p:spPr>
          <a:xfrm>
            <a:off x="365760" y="3246120"/>
            <a:ext cx="4114800" cy="320040"/>
          </a:xfrm>
          <a:prstGeom prst="rect">
            <a:avLst/>
          </a:prstGeom>
          <a:noFill/>
          <a:ln/>
        </p:spPr>
        <p:txBody>
          <a:bodyPr wrap="square" rtlCol="0" anchor="ctr"/>
          <a:lstStyle/>
          <a:p>
            <a:pPr marL="0" indent="0">
              <a:buNone/>
            </a:pPr>
            <a:r>
              <a:rPr lang="en-US" sz="1300" b="1" dirty="0">
                <a:solidFill>
                  <a:srgbClr val="0D1B4C"/>
                </a:solidFill>
                <a:latin typeface="Arial" pitchFamily="34" charset="0"/>
                <a:ea typeface="Arial" pitchFamily="34" charset="-122"/>
                <a:cs typeface="Arial" pitchFamily="34" charset="-120"/>
              </a:rPr>
              <a:t>Kiến trúc hệ thống:</a:t>
            </a:r>
            <a:endParaRPr lang="en-US" sz="1300" dirty="0"/>
          </a:p>
        </p:txBody>
      </p:sp>
      <p:sp>
        <p:nvSpPr>
          <p:cNvPr id="16" name="Text 14"/>
          <p:cNvSpPr/>
          <p:nvPr/>
        </p:nvSpPr>
        <p:spPr>
          <a:xfrm>
            <a:off x="457200" y="3566160"/>
            <a:ext cx="4114800" cy="292608"/>
          </a:xfrm>
          <a:prstGeom prst="rect">
            <a:avLst/>
          </a:prstGeom>
          <a:noFill/>
          <a:ln/>
        </p:spPr>
        <p:txBody>
          <a:bodyPr wrap="square" rtlCol="0" anchor="ctr"/>
          <a:lstStyle/>
          <a:p>
            <a:pPr marL="0" indent="0">
              <a:buNone/>
            </a:pPr>
            <a:r>
              <a:rPr lang="en-US" sz="950" dirty="0">
                <a:solidFill>
                  <a:srgbClr val="1F2937"/>
                </a:solidFill>
                <a:latin typeface="Arial" pitchFamily="34" charset="0"/>
                <a:ea typeface="Arial" pitchFamily="34" charset="-122"/>
                <a:cs typeface="Arial" pitchFamily="34" charset="-120"/>
              </a:rPr>
              <a:t>•  API Gateway: Kong/APISIX - quản lý &amp; bảo mật API</a:t>
            </a:r>
            <a:endParaRPr lang="en-US" sz="950" dirty="0"/>
          </a:p>
        </p:txBody>
      </p:sp>
      <p:sp>
        <p:nvSpPr>
          <p:cNvPr id="17" name="Text 15"/>
          <p:cNvSpPr/>
          <p:nvPr/>
        </p:nvSpPr>
        <p:spPr>
          <a:xfrm>
            <a:off x="457200" y="3858768"/>
            <a:ext cx="4114800" cy="292608"/>
          </a:xfrm>
          <a:prstGeom prst="rect">
            <a:avLst/>
          </a:prstGeom>
          <a:noFill/>
          <a:ln/>
        </p:spPr>
        <p:txBody>
          <a:bodyPr wrap="square" rtlCol="0" anchor="ctr"/>
          <a:lstStyle/>
          <a:p>
            <a:pPr marL="0" indent="0">
              <a:buNone/>
            </a:pPr>
            <a:r>
              <a:rPr lang="en-US" sz="950" dirty="0">
                <a:solidFill>
                  <a:srgbClr val="1F2937"/>
                </a:solidFill>
                <a:latin typeface="Arial" pitchFamily="34" charset="0"/>
                <a:ea typeface="Arial" pitchFamily="34" charset="-122"/>
                <a:cs typeface="Arial" pitchFamily="34" charset="-120"/>
              </a:rPr>
              <a:t>•  Event Streaming: Apache Kafka - async messaging</a:t>
            </a:r>
            <a:endParaRPr lang="en-US" sz="950" dirty="0"/>
          </a:p>
        </p:txBody>
      </p:sp>
      <p:sp>
        <p:nvSpPr>
          <p:cNvPr id="18" name="Text 16"/>
          <p:cNvSpPr/>
          <p:nvPr/>
        </p:nvSpPr>
        <p:spPr>
          <a:xfrm>
            <a:off x="457200" y="4151376"/>
            <a:ext cx="4114800" cy="292608"/>
          </a:xfrm>
          <a:prstGeom prst="rect">
            <a:avLst/>
          </a:prstGeom>
          <a:noFill/>
          <a:ln/>
        </p:spPr>
        <p:txBody>
          <a:bodyPr wrap="square" rtlCol="0" anchor="ctr"/>
          <a:lstStyle/>
          <a:p>
            <a:pPr marL="0" indent="0">
              <a:buNone/>
            </a:pPr>
            <a:r>
              <a:rPr lang="en-US" sz="950" dirty="0">
                <a:solidFill>
                  <a:srgbClr val="1F2937"/>
                </a:solidFill>
                <a:latin typeface="Arial" pitchFamily="34" charset="0"/>
                <a:ea typeface="Arial" pitchFamily="34" charset="-122"/>
                <a:cs typeface="Arial" pitchFamily="34" charset="-120"/>
              </a:rPr>
              <a:t>•  Workflow Engine: n8n - orchestration &amp; automation</a:t>
            </a:r>
            <a:endParaRPr lang="en-US" sz="950" dirty="0"/>
          </a:p>
        </p:txBody>
      </p:sp>
      <p:sp>
        <p:nvSpPr>
          <p:cNvPr id="19" name="Text 17"/>
          <p:cNvSpPr/>
          <p:nvPr/>
        </p:nvSpPr>
        <p:spPr>
          <a:xfrm>
            <a:off x="457200" y="4443984"/>
            <a:ext cx="4114800" cy="292608"/>
          </a:xfrm>
          <a:prstGeom prst="rect">
            <a:avLst/>
          </a:prstGeom>
          <a:noFill/>
          <a:ln/>
        </p:spPr>
        <p:txBody>
          <a:bodyPr wrap="square" rtlCol="0" anchor="ctr"/>
          <a:lstStyle/>
          <a:p>
            <a:pPr marL="0" indent="0">
              <a:buNone/>
            </a:pPr>
            <a:r>
              <a:rPr lang="en-US" sz="950" dirty="0">
                <a:solidFill>
                  <a:srgbClr val="1F2937"/>
                </a:solidFill>
                <a:latin typeface="Arial" pitchFamily="34" charset="0"/>
                <a:ea typeface="Arial" pitchFamily="34" charset="-122"/>
                <a:cs typeface="Arial" pitchFamily="34" charset="-120"/>
              </a:rPr>
              <a:t>•  IAM: Keycloak - SSO, OAuth2, SAML</a:t>
            </a:r>
            <a:endParaRPr lang="en-US" sz="950" dirty="0"/>
          </a:p>
        </p:txBody>
      </p:sp>
      <p:sp>
        <p:nvSpPr>
          <p:cNvPr id="20" name="Text 18"/>
          <p:cNvSpPr/>
          <p:nvPr/>
        </p:nvSpPr>
        <p:spPr>
          <a:xfrm>
            <a:off x="457200" y="4736592"/>
            <a:ext cx="4114800" cy="292608"/>
          </a:xfrm>
          <a:prstGeom prst="rect">
            <a:avLst/>
          </a:prstGeom>
          <a:noFill/>
          <a:ln/>
        </p:spPr>
        <p:txBody>
          <a:bodyPr wrap="square" rtlCol="0" anchor="ctr"/>
          <a:lstStyle/>
          <a:p>
            <a:pPr marL="0" indent="0">
              <a:buNone/>
            </a:pPr>
            <a:r>
              <a:rPr lang="en-US" sz="950" dirty="0">
                <a:solidFill>
                  <a:srgbClr val="1F2937"/>
                </a:solidFill>
                <a:latin typeface="Arial" pitchFamily="34" charset="0"/>
                <a:ea typeface="Arial" pitchFamily="34" charset="-122"/>
                <a:cs typeface="Arial" pitchFamily="34" charset="-120"/>
              </a:rPr>
              <a:t>•  Observability: Prometheus + Grafana + ELK</a:t>
            </a:r>
            <a:endParaRPr lang="en-US" sz="950" dirty="0"/>
          </a:p>
        </p:txBody>
      </p:sp>
      <p:sp>
        <p:nvSpPr>
          <p:cNvPr id="21" name="Text 19"/>
          <p:cNvSpPr/>
          <p:nvPr/>
        </p:nvSpPr>
        <p:spPr>
          <a:xfrm>
            <a:off x="457200" y="5029200"/>
            <a:ext cx="4114800" cy="292608"/>
          </a:xfrm>
          <a:prstGeom prst="rect">
            <a:avLst/>
          </a:prstGeom>
          <a:noFill/>
          <a:ln/>
        </p:spPr>
        <p:txBody>
          <a:bodyPr wrap="square" rtlCol="0" anchor="ctr"/>
          <a:lstStyle/>
          <a:p>
            <a:pPr marL="0" indent="0">
              <a:buNone/>
            </a:pPr>
            <a:r>
              <a:rPr lang="en-US" sz="950" dirty="0">
                <a:solidFill>
                  <a:srgbClr val="1F2937"/>
                </a:solidFill>
                <a:latin typeface="Arial" pitchFamily="34" charset="0"/>
                <a:ea typeface="Arial" pitchFamily="34" charset="-122"/>
                <a:cs typeface="Arial" pitchFamily="34" charset="-120"/>
              </a:rPr>
              <a:t>•  Infrastructure: Kubernetes (container orchestration)</a:t>
            </a:r>
            <a:endParaRPr lang="en-US" sz="950" dirty="0"/>
          </a:p>
        </p:txBody>
      </p:sp>
      <p:sp>
        <p:nvSpPr>
          <p:cNvPr id="22" name="Shape 20"/>
          <p:cNvSpPr/>
          <p:nvPr/>
        </p:nvSpPr>
        <p:spPr>
          <a:xfrm>
            <a:off x="4754880" y="1143000"/>
            <a:ext cx="4114800" cy="3383280"/>
          </a:xfrm>
          <a:prstGeom prst="roundRect">
            <a:avLst>
              <a:gd name="adj" fmla="val 2703"/>
            </a:avLst>
          </a:prstGeom>
          <a:solidFill>
            <a:srgbClr val="EFF6FF"/>
          </a:solidFill>
          <a:ln/>
          <a:effectLst>
            <a:outerShdw blurRad="50800" dist="25400" dir="8100000" algn="bl" rotWithShape="0">
              <a:srgbClr val="000000">
                <a:alpha val="8000"/>
              </a:srgbClr>
            </a:outerShdw>
          </a:effectLst>
        </p:spPr>
        <p:txBody>
          <a:bodyPr/>
          <a:lstStyle/>
          <a:p>
            <a:endParaRPr lang="en-VN"/>
          </a:p>
        </p:txBody>
      </p:sp>
      <p:sp>
        <p:nvSpPr>
          <p:cNvPr id="23" name="Text 21"/>
          <p:cNvSpPr/>
          <p:nvPr/>
        </p:nvSpPr>
        <p:spPr>
          <a:xfrm>
            <a:off x="4846320" y="1188720"/>
            <a:ext cx="3931920" cy="320040"/>
          </a:xfrm>
          <a:prstGeom prst="rect">
            <a:avLst/>
          </a:prstGeom>
          <a:noFill/>
          <a:ln/>
        </p:spPr>
        <p:txBody>
          <a:bodyPr wrap="square" rtlCol="0" anchor="ctr"/>
          <a:lstStyle/>
          <a:p>
            <a:pPr marL="0" indent="0" algn="ctr">
              <a:buNone/>
            </a:pPr>
            <a:r>
              <a:rPr lang="en-US" sz="1000" b="1" dirty="0">
                <a:solidFill>
                  <a:srgbClr val="0D1B4C"/>
                </a:solidFill>
                <a:latin typeface="Arial" pitchFamily="34" charset="0"/>
                <a:ea typeface="Arial" pitchFamily="34" charset="-122"/>
                <a:cs typeface="Arial" pitchFamily="34" charset="-120"/>
              </a:rPr>
              <a:t>KIẾN TRÚC HUB INTEGRATION</a:t>
            </a:r>
            <a:endParaRPr lang="en-US" sz="1000" dirty="0"/>
          </a:p>
        </p:txBody>
      </p:sp>
      <p:sp>
        <p:nvSpPr>
          <p:cNvPr id="24" name="Shape 22"/>
          <p:cNvSpPr/>
          <p:nvPr/>
        </p:nvSpPr>
        <p:spPr>
          <a:xfrm>
            <a:off x="5029200" y="1600200"/>
            <a:ext cx="3657600" cy="502920"/>
          </a:xfrm>
          <a:prstGeom prst="roundRect">
            <a:avLst>
              <a:gd name="adj" fmla="val 10909"/>
            </a:avLst>
          </a:prstGeom>
          <a:solidFill>
            <a:srgbClr val="2563EB"/>
          </a:solidFill>
          <a:ln/>
        </p:spPr>
        <p:txBody>
          <a:bodyPr/>
          <a:lstStyle/>
          <a:p>
            <a:endParaRPr lang="en-VN"/>
          </a:p>
        </p:txBody>
      </p:sp>
      <p:sp>
        <p:nvSpPr>
          <p:cNvPr id="25" name="Text 23"/>
          <p:cNvSpPr/>
          <p:nvPr/>
        </p:nvSpPr>
        <p:spPr>
          <a:xfrm>
            <a:off x="5120640" y="1600200"/>
            <a:ext cx="2286000" cy="502920"/>
          </a:xfrm>
          <a:prstGeom prst="rect">
            <a:avLst/>
          </a:prstGeom>
          <a:noFill/>
          <a:ln/>
        </p:spPr>
        <p:txBody>
          <a:bodyPr wrap="square" rtlCol="0" anchor="ctr"/>
          <a:lstStyle/>
          <a:p>
            <a:pPr marL="0" indent="0">
              <a:buNone/>
            </a:pPr>
            <a:r>
              <a:rPr lang="en-US" sz="1000" b="1" dirty="0">
                <a:solidFill>
                  <a:srgbClr val="FFFFFF"/>
                </a:solidFill>
                <a:latin typeface="Arial" pitchFamily="34" charset="0"/>
                <a:ea typeface="Arial" pitchFamily="34" charset="-122"/>
                <a:cs typeface="Arial" pitchFamily="34" charset="-120"/>
              </a:rPr>
              <a:t>API Gateway Layer</a:t>
            </a:r>
            <a:endParaRPr lang="en-US" sz="1000" dirty="0"/>
          </a:p>
        </p:txBody>
      </p:sp>
      <p:sp>
        <p:nvSpPr>
          <p:cNvPr id="26" name="Text 24"/>
          <p:cNvSpPr/>
          <p:nvPr/>
        </p:nvSpPr>
        <p:spPr>
          <a:xfrm>
            <a:off x="7132320" y="1600200"/>
            <a:ext cx="1463040" cy="502920"/>
          </a:xfrm>
          <a:prstGeom prst="rect">
            <a:avLst/>
          </a:prstGeom>
          <a:noFill/>
          <a:ln/>
        </p:spPr>
        <p:txBody>
          <a:bodyPr wrap="square" rtlCol="0" anchor="ctr"/>
          <a:lstStyle/>
          <a:p>
            <a:pPr marL="0" indent="0" algn="r">
              <a:buNone/>
            </a:pPr>
            <a:r>
              <a:rPr lang="en-US" sz="800" dirty="0">
                <a:solidFill>
                  <a:srgbClr val="C8A962"/>
                </a:solidFill>
                <a:latin typeface="Arial" pitchFamily="34" charset="0"/>
                <a:ea typeface="Arial" pitchFamily="34" charset="-122"/>
                <a:cs typeface="Arial" pitchFamily="34" charset="-120"/>
              </a:rPr>
              <a:t>Kong / APISIX</a:t>
            </a:r>
            <a:endParaRPr lang="en-US" sz="800" dirty="0"/>
          </a:p>
        </p:txBody>
      </p:sp>
      <p:sp>
        <p:nvSpPr>
          <p:cNvPr id="27" name="Shape 25"/>
          <p:cNvSpPr/>
          <p:nvPr/>
        </p:nvSpPr>
        <p:spPr>
          <a:xfrm>
            <a:off x="5029200" y="2240280"/>
            <a:ext cx="3657600" cy="502920"/>
          </a:xfrm>
          <a:prstGeom prst="roundRect">
            <a:avLst>
              <a:gd name="adj" fmla="val 10909"/>
            </a:avLst>
          </a:prstGeom>
          <a:solidFill>
            <a:srgbClr val="0891B2"/>
          </a:solidFill>
          <a:ln/>
        </p:spPr>
        <p:txBody>
          <a:bodyPr/>
          <a:lstStyle/>
          <a:p>
            <a:endParaRPr lang="en-VN"/>
          </a:p>
        </p:txBody>
      </p:sp>
      <p:sp>
        <p:nvSpPr>
          <p:cNvPr id="28" name="Text 26"/>
          <p:cNvSpPr/>
          <p:nvPr/>
        </p:nvSpPr>
        <p:spPr>
          <a:xfrm>
            <a:off x="5120640" y="2240280"/>
            <a:ext cx="2286000" cy="502920"/>
          </a:xfrm>
          <a:prstGeom prst="rect">
            <a:avLst/>
          </a:prstGeom>
          <a:noFill/>
          <a:ln/>
        </p:spPr>
        <p:txBody>
          <a:bodyPr wrap="square" rtlCol="0" anchor="ctr"/>
          <a:lstStyle/>
          <a:p>
            <a:pPr marL="0" indent="0">
              <a:buNone/>
            </a:pPr>
            <a:r>
              <a:rPr lang="en-US" sz="1000" b="1" dirty="0">
                <a:solidFill>
                  <a:srgbClr val="FFFFFF"/>
                </a:solidFill>
                <a:latin typeface="Arial" pitchFamily="34" charset="0"/>
                <a:ea typeface="Arial" pitchFamily="34" charset="-122"/>
                <a:cs typeface="Arial" pitchFamily="34" charset="-120"/>
              </a:rPr>
              <a:t>Integration Layer</a:t>
            </a:r>
            <a:endParaRPr lang="en-US" sz="1000" dirty="0"/>
          </a:p>
        </p:txBody>
      </p:sp>
      <p:sp>
        <p:nvSpPr>
          <p:cNvPr id="29" name="Text 27"/>
          <p:cNvSpPr/>
          <p:nvPr/>
        </p:nvSpPr>
        <p:spPr>
          <a:xfrm>
            <a:off x="7132320" y="2240280"/>
            <a:ext cx="1463040" cy="502920"/>
          </a:xfrm>
          <a:prstGeom prst="rect">
            <a:avLst/>
          </a:prstGeom>
          <a:noFill/>
          <a:ln/>
        </p:spPr>
        <p:txBody>
          <a:bodyPr wrap="square" rtlCol="0" anchor="ctr"/>
          <a:lstStyle/>
          <a:p>
            <a:pPr marL="0" indent="0" algn="r">
              <a:buNone/>
            </a:pPr>
            <a:r>
              <a:rPr lang="en-US" sz="800" dirty="0">
                <a:solidFill>
                  <a:srgbClr val="C8A962"/>
                </a:solidFill>
                <a:latin typeface="Arial" pitchFamily="34" charset="0"/>
                <a:ea typeface="Arial" pitchFamily="34" charset="-122"/>
                <a:cs typeface="Arial" pitchFamily="34" charset="-120"/>
              </a:rPr>
              <a:t>Kafka + n8n + Camel</a:t>
            </a:r>
            <a:endParaRPr lang="en-US" sz="800" dirty="0"/>
          </a:p>
        </p:txBody>
      </p:sp>
      <p:sp>
        <p:nvSpPr>
          <p:cNvPr id="30" name="Shape 28"/>
          <p:cNvSpPr/>
          <p:nvPr/>
        </p:nvSpPr>
        <p:spPr>
          <a:xfrm>
            <a:off x="5029200" y="2880360"/>
            <a:ext cx="3657600" cy="502920"/>
          </a:xfrm>
          <a:prstGeom prst="roundRect">
            <a:avLst>
              <a:gd name="adj" fmla="val 10909"/>
            </a:avLst>
          </a:prstGeom>
          <a:solidFill>
            <a:srgbClr val="059669"/>
          </a:solidFill>
          <a:ln/>
        </p:spPr>
        <p:txBody>
          <a:bodyPr/>
          <a:lstStyle/>
          <a:p>
            <a:endParaRPr lang="en-VN"/>
          </a:p>
        </p:txBody>
      </p:sp>
      <p:sp>
        <p:nvSpPr>
          <p:cNvPr id="31" name="Text 29"/>
          <p:cNvSpPr/>
          <p:nvPr/>
        </p:nvSpPr>
        <p:spPr>
          <a:xfrm>
            <a:off x="5120640" y="2880360"/>
            <a:ext cx="2286000" cy="502920"/>
          </a:xfrm>
          <a:prstGeom prst="rect">
            <a:avLst/>
          </a:prstGeom>
          <a:noFill/>
          <a:ln/>
        </p:spPr>
        <p:txBody>
          <a:bodyPr wrap="square" rtlCol="0" anchor="ctr"/>
          <a:lstStyle/>
          <a:p>
            <a:pPr marL="0" indent="0">
              <a:buNone/>
            </a:pPr>
            <a:r>
              <a:rPr lang="en-US" sz="1000" b="1" dirty="0">
                <a:solidFill>
                  <a:srgbClr val="FFFFFF"/>
                </a:solidFill>
                <a:latin typeface="Arial" pitchFamily="34" charset="0"/>
                <a:ea typeface="Arial" pitchFamily="34" charset="-122"/>
                <a:cs typeface="Arial" pitchFamily="34" charset="-120"/>
              </a:rPr>
              <a:t>Security Layer</a:t>
            </a:r>
            <a:endParaRPr lang="en-US" sz="1000" dirty="0"/>
          </a:p>
        </p:txBody>
      </p:sp>
      <p:sp>
        <p:nvSpPr>
          <p:cNvPr id="32" name="Text 30"/>
          <p:cNvSpPr/>
          <p:nvPr/>
        </p:nvSpPr>
        <p:spPr>
          <a:xfrm>
            <a:off x="7132320" y="2880360"/>
            <a:ext cx="1463040" cy="502920"/>
          </a:xfrm>
          <a:prstGeom prst="rect">
            <a:avLst/>
          </a:prstGeom>
          <a:noFill/>
          <a:ln/>
        </p:spPr>
        <p:txBody>
          <a:bodyPr wrap="square" rtlCol="0" anchor="ctr"/>
          <a:lstStyle/>
          <a:p>
            <a:pPr marL="0" indent="0" algn="r">
              <a:buNone/>
            </a:pPr>
            <a:r>
              <a:rPr lang="en-US" sz="800" dirty="0">
                <a:solidFill>
                  <a:srgbClr val="C8A962"/>
                </a:solidFill>
                <a:latin typeface="Arial" pitchFamily="34" charset="0"/>
                <a:ea typeface="Arial" pitchFamily="34" charset="-122"/>
                <a:cs typeface="Arial" pitchFamily="34" charset="-120"/>
              </a:rPr>
              <a:t>Keycloak + Vault</a:t>
            </a:r>
            <a:endParaRPr lang="en-US" sz="800" dirty="0"/>
          </a:p>
        </p:txBody>
      </p:sp>
      <p:sp>
        <p:nvSpPr>
          <p:cNvPr id="33" name="Shape 31"/>
          <p:cNvSpPr/>
          <p:nvPr/>
        </p:nvSpPr>
        <p:spPr>
          <a:xfrm>
            <a:off x="5029200" y="3520440"/>
            <a:ext cx="3657600" cy="502920"/>
          </a:xfrm>
          <a:prstGeom prst="roundRect">
            <a:avLst>
              <a:gd name="adj" fmla="val 10909"/>
            </a:avLst>
          </a:prstGeom>
          <a:solidFill>
            <a:srgbClr val="0D1B4C"/>
          </a:solidFill>
          <a:ln/>
        </p:spPr>
        <p:txBody>
          <a:bodyPr/>
          <a:lstStyle/>
          <a:p>
            <a:endParaRPr lang="en-VN"/>
          </a:p>
        </p:txBody>
      </p:sp>
      <p:sp>
        <p:nvSpPr>
          <p:cNvPr id="34" name="Text 32"/>
          <p:cNvSpPr/>
          <p:nvPr/>
        </p:nvSpPr>
        <p:spPr>
          <a:xfrm>
            <a:off x="5120640" y="3520440"/>
            <a:ext cx="2286000" cy="502920"/>
          </a:xfrm>
          <a:prstGeom prst="rect">
            <a:avLst/>
          </a:prstGeom>
          <a:noFill/>
          <a:ln/>
        </p:spPr>
        <p:txBody>
          <a:bodyPr wrap="square" rtlCol="0" anchor="ctr"/>
          <a:lstStyle/>
          <a:p>
            <a:pPr marL="0" indent="0">
              <a:buNone/>
            </a:pPr>
            <a:r>
              <a:rPr lang="en-US" sz="1000" b="1" dirty="0">
                <a:solidFill>
                  <a:srgbClr val="FFFFFF"/>
                </a:solidFill>
                <a:latin typeface="Arial" pitchFamily="34" charset="0"/>
                <a:ea typeface="Arial" pitchFamily="34" charset="-122"/>
                <a:cs typeface="Arial" pitchFamily="34" charset="-120"/>
              </a:rPr>
              <a:t>Infrastructure Layer</a:t>
            </a:r>
            <a:endParaRPr lang="en-US" sz="1000" dirty="0"/>
          </a:p>
        </p:txBody>
      </p:sp>
      <p:sp>
        <p:nvSpPr>
          <p:cNvPr id="35" name="Text 33"/>
          <p:cNvSpPr/>
          <p:nvPr/>
        </p:nvSpPr>
        <p:spPr>
          <a:xfrm>
            <a:off x="7132320" y="3520440"/>
            <a:ext cx="1463040" cy="502920"/>
          </a:xfrm>
          <a:prstGeom prst="rect">
            <a:avLst/>
          </a:prstGeom>
          <a:noFill/>
          <a:ln/>
        </p:spPr>
        <p:txBody>
          <a:bodyPr wrap="square" rtlCol="0" anchor="ctr"/>
          <a:lstStyle/>
          <a:p>
            <a:pPr marL="0" indent="0" algn="r">
              <a:buNone/>
            </a:pPr>
            <a:r>
              <a:rPr lang="en-US" sz="800" dirty="0">
                <a:solidFill>
                  <a:srgbClr val="C8A962"/>
                </a:solidFill>
                <a:latin typeface="Arial" pitchFamily="34" charset="0"/>
                <a:ea typeface="Arial" pitchFamily="34" charset="-122"/>
                <a:cs typeface="Arial" pitchFamily="34" charset="-120"/>
              </a:rPr>
              <a:t>Kubernetes + Monitoring</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1B4C"/>
          </a:solidFill>
          <a:ln/>
        </p:spPr>
        <p:txBody>
          <a:bodyPr/>
          <a:lstStyle/>
          <a:p>
            <a:endParaRPr lang="en-VN"/>
          </a:p>
        </p:txBody>
      </p:sp>
      <p:sp>
        <p:nvSpPr>
          <p:cNvPr id="3" name="Shape 1"/>
          <p:cNvSpPr/>
          <p:nvPr/>
        </p:nvSpPr>
        <p:spPr>
          <a:xfrm>
            <a:off x="0" y="914400"/>
            <a:ext cx="9144000" cy="36576"/>
          </a:xfrm>
          <a:prstGeom prst="rect">
            <a:avLst/>
          </a:prstGeom>
          <a:solidFill>
            <a:srgbClr val="C8A962"/>
          </a:solidFill>
          <a:ln/>
        </p:spPr>
        <p:txBody>
          <a:bodyPr/>
          <a:lstStyle/>
          <a:p>
            <a:endParaRPr lang="en-VN"/>
          </a:p>
        </p:txBody>
      </p:sp>
      <p:sp>
        <p:nvSpPr>
          <p:cNvPr id="4" name="Text 2"/>
          <p:cNvSpPr/>
          <p:nvPr/>
        </p:nvSpPr>
        <p:spPr>
          <a:xfrm>
            <a:off x="457200" y="0"/>
            <a:ext cx="8229600" cy="548640"/>
          </a:xfrm>
          <a:prstGeom prst="rect">
            <a:avLst/>
          </a:prstGeom>
          <a:noFill/>
          <a:ln/>
        </p:spPr>
        <p:txBody>
          <a:bodyPr wrap="square" rtlCol="0" anchor="b"/>
          <a:lstStyle/>
          <a:p>
            <a:pPr marL="0" indent="0">
              <a:buNone/>
            </a:pPr>
            <a:r>
              <a:rPr lang="en-US" sz="2400" b="1" dirty="0">
                <a:solidFill>
                  <a:srgbClr val="FFFFFF"/>
                </a:solidFill>
                <a:latin typeface="Arial" pitchFamily="34" charset="0"/>
                <a:ea typeface="Arial" pitchFamily="34" charset="-122"/>
                <a:cs typeface="Arial" pitchFamily="34" charset="-120"/>
              </a:rPr>
              <a:t>Kiến trúc Hệ thống Chi tiết</a:t>
            </a:r>
            <a:endParaRPr lang="en-US" sz="2400" dirty="0"/>
          </a:p>
        </p:txBody>
      </p:sp>
      <p:sp>
        <p:nvSpPr>
          <p:cNvPr id="5" name="Text 3"/>
          <p:cNvSpPr/>
          <p:nvPr/>
        </p:nvSpPr>
        <p:spPr>
          <a:xfrm>
            <a:off x="457200" y="548640"/>
            <a:ext cx="8229600" cy="365760"/>
          </a:xfrm>
          <a:prstGeom prst="rect">
            <a:avLst/>
          </a:prstGeom>
          <a:noFill/>
          <a:ln/>
        </p:spPr>
        <p:txBody>
          <a:bodyPr wrap="square" rtlCol="0" anchor="t"/>
          <a:lstStyle/>
          <a:p>
            <a:pPr marL="0" indent="0">
              <a:buNone/>
            </a:pPr>
            <a:r>
              <a:rPr lang="en-US" sz="1300" dirty="0">
                <a:solidFill>
                  <a:srgbClr val="C8A962"/>
                </a:solidFill>
                <a:latin typeface="Arial" pitchFamily="34" charset="0"/>
                <a:ea typeface="Arial" pitchFamily="34" charset="-122"/>
                <a:cs typeface="Arial" pitchFamily="34" charset="-120"/>
              </a:rPr>
              <a:t>High-Level Architecture</a:t>
            </a:r>
            <a:endParaRPr lang="en-US" sz="1300" dirty="0"/>
          </a:p>
        </p:txBody>
      </p:sp>
      <p:sp>
        <p:nvSpPr>
          <p:cNvPr id="6" name="Shape 4"/>
          <p:cNvSpPr/>
          <p:nvPr/>
        </p:nvSpPr>
        <p:spPr>
          <a:xfrm>
            <a:off x="0" y="4709160"/>
            <a:ext cx="9144000" cy="434340"/>
          </a:xfrm>
          <a:prstGeom prst="rect">
            <a:avLst/>
          </a:prstGeom>
          <a:solidFill>
            <a:srgbClr val="0D1B4C"/>
          </a:solidFill>
          <a:ln/>
        </p:spPr>
        <p:txBody>
          <a:bodyPr/>
          <a:lstStyle/>
          <a:p>
            <a:endParaRPr lang="en-VN"/>
          </a:p>
        </p:txBody>
      </p:sp>
      <p:sp>
        <p:nvSpPr>
          <p:cNvPr id="7" name="Text 5"/>
          <p:cNvSpPr/>
          <p:nvPr/>
        </p:nvSpPr>
        <p:spPr>
          <a:xfrm>
            <a:off x="457200" y="4709160"/>
            <a:ext cx="6400800" cy="434340"/>
          </a:xfrm>
          <a:prstGeom prst="rect">
            <a:avLst/>
          </a:prstGeom>
          <a:noFill/>
          <a:ln/>
        </p:spPr>
        <p:txBody>
          <a:bodyPr wrap="square" rtlCol="0" anchor="ctr"/>
          <a:lstStyle/>
          <a:p>
            <a:pPr marL="0" indent="0">
              <a:buNone/>
            </a:pPr>
            <a:r>
              <a:rPr lang="en-US" sz="900" dirty="0">
                <a:solidFill>
                  <a:srgbClr val="C8A962"/>
                </a:solidFill>
                <a:latin typeface="Arial" pitchFamily="34" charset="0"/>
                <a:ea typeface="Arial" pitchFamily="34" charset="-122"/>
                <a:cs typeface="Arial" pitchFamily="34" charset="-120"/>
              </a:rPr>
              <a:t>Tiên Phong CDS  |  Novagroup  |  Hub Integration Platform</a:t>
            </a:r>
            <a:endParaRPr lang="en-US" sz="900" dirty="0"/>
          </a:p>
        </p:txBody>
      </p:sp>
      <p:sp>
        <p:nvSpPr>
          <p:cNvPr id="8" name="Text 6"/>
          <p:cNvSpPr/>
          <p:nvPr/>
        </p:nvSpPr>
        <p:spPr>
          <a:xfrm>
            <a:off x="7772400" y="4709160"/>
            <a:ext cx="914400" cy="434340"/>
          </a:xfrm>
          <a:prstGeom prst="rect">
            <a:avLst/>
          </a:prstGeom>
          <a:noFill/>
          <a:ln/>
        </p:spPr>
        <p:txBody>
          <a:bodyPr wrap="square" rtlCol="0" anchor="ctr"/>
          <a:lstStyle/>
          <a:p>
            <a:pPr marL="0" indent="0" algn="r">
              <a:buNone/>
            </a:pPr>
            <a:r>
              <a:rPr lang="en-US" sz="900" dirty="0">
                <a:solidFill>
                  <a:srgbClr val="FFFFFF"/>
                </a:solidFill>
                <a:latin typeface="Arial" pitchFamily="34" charset="0"/>
                <a:ea typeface="Arial" pitchFamily="34" charset="-122"/>
                <a:cs typeface="Arial" pitchFamily="34" charset="-120"/>
              </a:rPr>
              <a:t>8</a:t>
            </a:r>
            <a:endParaRPr lang="en-US" sz="900" dirty="0"/>
          </a:p>
        </p:txBody>
      </p:sp>
      <p:sp>
        <p:nvSpPr>
          <p:cNvPr id="9" name="Text 7"/>
          <p:cNvSpPr/>
          <p:nvPr/>
        </p:nvSpPr>
        <p:spPr>
          <a:xfrm>
            <a:off x="182880" y="1143000"/>
            <a:ext cx="1645920" cy="274320"/>
          </a:xfrm>
          <a:prstGeom prst="rect">
            <a:avLst/>
          </a:prstGeom>
          <a:noFill/>
          <a:ln/>
        </p:spPr>
        <p:txBody>
          <a:bodyPr wrap="square" rtlCol="0" anchor="ctr"/>
          <a:lstStyle/>
          <a:p>
            <a:pPr marL="0" indent="0" algn="ctr">
              <a:buNone/>
            </a:pPr>
            <a:r>
              <a:rPr lang="en-US" sz="900" b="1" dirty="0">
                <a:solidFill>
                  <a:srgbClr val="0D1B4C"/>
                </a:solidFill>
                <a:latin typeface="Arial" pitchFamily="34" charset="0"/>
                <a:ea typeface="Arial" pitchFamily="34" charset="-122"/>
                <a:cs typeface="Arial" pitchFamily="34" charset="-120"/>
              </a:rPr>
              <a:t>NGUỒN DỮ LIỆU</a:t>
            </a:r>
            <a:endParaRPr lang="en-US" sz="900" dirty="0"/>
          </a:p>
        </p:txBody>
      </p:sp>
      <p:sp>
        <p:nvSpPr>
          <p:cNvPr id="10" name="Shape 8"/>
          <p:cNvSpPr/>
          <p:nvPr/>
        </p:nvSpPr>
        <p:spPr>
          <a:xfrm>
            <a:off x="137160" y="1463040"/>
            <a:ext cx="1737360" cy="347472"/>
          </a:xfrm>
          <a:prstGeom prst="roundRect">
            <a:avLst>
              <a:gd name="adj" fmla="val 10526"/>
            </a:avLst>
          </a:prstGeom>
          <a:solidFill>
            <a:srgbClr val="EFF6FF"/>
          </a:solidFill>
          <a:ln/>
        </p:spPr>
        <p:txBody>
          <a:bodyPr/>
          <a:lstStyle/>
          <a:p>
            <a:endParaRPr lang="en-VN"/>
          </a:p>
        </p:txBody>
      </p:sp>
      <p:sp>
        <p:nvSpPr>
          <p:cNvPr id="11" name="Text 9"/>
          <p:cNvSpPr/>
          <p:nvPr/>
        </p:nvSpPr>
        <p:spPr>
          <a:xfrm>
            <a:off x="137160" y="1463040"/>
            <a:ext cx="1737360" cy="347472"/>
          </a:xfrm>
          <a:prstGeom prst="rect">
            <a:avLst/>
          </a:prstGeom>
          <a:noFill/>
          <a:ln/>
        </p:spPr>
        <p:txBody>
          <a:bodyPr wrap="square" rtlCol="0" anchor="ctr"/>
          <a:lstStyle/>
          <a:p>
            <a:pPr marL="0" indent="0" algn="ctr">
              <a:buNone/>
            </a:pPr>
            <a:r>
              <a:rPr lang="en-US" sz="850" dirty="0">
                <a:solidFill>
                  <a:srgbClr val="0D1B4C"/>
                </a:solidFill>
                <a:latin typeface="Arial" pitchFamily="34" charset="0"/>
                <a:ea typeface="Arial" pitchFamily="34" charset="-122"/>
                <a:cs typeface="Arial" pitchFamily="34" charset="-120"/>
              </a:rPr>
              <a:t>ONENOVA</a:t>
            </a:r>
            <a:endParaRPr lang="en-US" sz="850" dirty="0"/>
          </a:p>
        </p:txBody>
      </p:sp>
      <p:sp>
        <p:nvSpPr>
          <p:cNvPr id="12" name="Shape 10"/>
          <p:cNvSpPr/>
          <p:nvPr/>
        </p:nvSpPr>
        <p:spPr>
          <a:xfrm>
            <a:off x="137160" y="1901952"/>
            <a:ext cx="1737360" cy="347472"/>
          </a:xfrm>
          <a:prstGeom prst="roundRect">
            <a:avLst>
              <a:gd name="adj" fmla="val 10526"/>
            </a:avLst>
          </a:prstGeom>
          <a:solidFill>
            <a:srgbClr val="EFF6FF"/>
          </a:solidFill>
          <a:ln/>
        </p:spPr>
        <p:txBody>
          <a:bodyPr/>
          <a:lstStyle/>
          <a:p>
            <a:endParaRPr lang="en-VN"/>
          </a:p>
        </p:txBody>
      </p:sp>
      <p:sp>
        <p:nvSpPr>
          <p:cNvPr id="13" name="Text 11"/>
          <p:cNvSpPr/>
          <p:nvPr/>
        </p:nvSpPr>
        <p:spPr>
          <a:xfrm>
            <a:off x="137160" y="1901952"/>
            <a:ext cx="1737360" cy="347472"/>
          </a:xfrm>
          <a:prstGeom prst="rect">
            <a:avLst/>
          </a:prstGeom>
          <a:noFill/>
          <a:ln/>
        </p:spPr>
        <p:txBody>
          <a:bodyPr wrap="square" rtlCol="0" anchor="ctr"/>
          <a:lstStyle/>
          <a:p>
            <a:pPr marL="0" indent="0" algn="ctr">
              <a:buNone/>
            </a:pPr>
            <a:r>
              <a:rPr lang="en-US" sz="850" dirty="0">
                <a:solidFill>
                  <a:srgbClr val="0D1B4C"/>
                </a:solidFill>
                <a:latin typeface="Arial" pitchFamily="34" charset="0"/>
                <a:ea typeface="Arial" pitchFamily="34" charset="-122"/>
                <a:cs typeface="Arial" pitchFamily="34" charset="-120"/>
              </a:rPr>
              <a:t>CRM</a:t>
            </a:r>
            <a:endParaRPr lang="en-US" sz="850" dirty="0"/>
          </a:p>
        </p:txBody>
      </p:sp>
      <p:sp>
        <p:nvSpPr>
          <p:cNvPr id="14" name="Shape 12"/>
          <p:cNvSpPr/>
          <p:nvPr/>
        </p:nvSpPr>
        <p:spPr>
          <a:xfrm>
            <a:off x="137160" y="2340864"/>
            <a:ext cx="1737360" cy="347472"/>
          </a:xfrm>
          <a:prstGeom prst="roundRect">
            <a:avLst>
              <a:gd name="adj" fmla="val 10526"/>
            </a:avLst>
          </a:prstGeom>
          <a:solidFill>
            <a:srgbClr val="EFF6FF"/>
          </a:solidFill>
          <a:ln/>
        </p:spPr>
        <p:txBody>
          <a:bodyPr/>
          <a:lstStyle/>
          <a:p>
            <a:endParaRPr lang="en-VN"/>
          </a:p>
        </p:txBody>
      </p:sp>
      <p:sp>
        <p:nvSpPr>
          <p:cNvPr id="15" name="Text 13"/>
          <p:cNvSpPr/>
          <p:nvPr/>
        </p:nvSpPr>
        <p:spPr>
          <a:xfrm>
            <a:off x="137160" y="2340864"/>
            <a:ext cx="1737360" cy="347472"/>
          </a:xfrm>
          <a:prstGeom prst="rect">
            <a:avLst/>
          </a:prstGeom>
          <a:noFill/>
          <a:ln/>
        </p:spPr>
        <p:txBody>
          <a:bodyPr wrap="square" rtlCol="0" anchor="ctr"/>
          <a:lstStyle/>
          <a:p>
            <a:pPr marL="0" indent="0" algn="ctr">
              <a:buNone/>
            </a:pPr>
            <a:r>
              <a:rPr lang="en-US" sz="850" dirty="0">
                <a:solidFill>
                  <a:srgbClr val="0D1B4C"/>
                </a:solidFill>
                <a:latin typeface="Arial" pitchFamily="34" charset="0"/>
                <a:ea typeface="Arial" pitchFamily="34" charset="-122"/>
                <a:cs typeface="Arial" pitchFamily="34" charset="-120"/>
              </a:rPr>
              <a:t>ERP</a:t>
            </a:r>
            <a:endParaRPr lang="en-US" sz="850" dirty="0"/>
          </a:p>
        </p:txBody>
      </p:sp>
      <p:sp>
        <p:nvSpPr>
          <p:cNvPr id="16" name="Shape 14"/>
          <p:cNvSpPr/>
          <p:nvPr/>
        </p:nvSpPr>
        <p:spPr>
          <a:xfrm>
            <a:off x="137160" y="2779776"/>
            <a:ext cx="1737360" cy="347472"/>
          </a:xfrm>
          <a:prstGeom prst="roundRect">
            <a:avLst>
              <a:gd name="adj" fmla="val 10526"/>
            </a:avLst>
          </a:prstGeom>
          <a:solidFill>
            <a:srgbClr val="EFF6FF"/>
          </a:solidFill>
          <a:ln/>
        </p:spPr>
        <p:txBody>
          <a:bodyPr/>
          <a:lstStyle/>
          <a:p>
            <a:endParaRPr lang="en-VN"/>
          </a:p>
        </p:txBody>
      </p:sp>
      <p:sp>
        <p:nvSpPr>
          <p:cNvPr id="17" name="Text 15"/>
          <p:cNvSpPr/>
          <p:nvPr/>
        </p:nvSpPr>
        <p:spPr>
          <a:xfrm>
            <a:off x="137160" y="2779776"/>
            <a:ext cx="1737360" cy="347472"/>
          </a:xfrm>
          <a:prstGeom prst="rect">
            <a:avLst/>
          </a:prstGeom>
          <a:noFill/>
          <a:ln/>
        </p:spPr>
        <p:txBody>
          <a:bodyPr wrap="square" rtlCol="0" anchor="ctr"/>
          <a:lstStyle/>
          <a:p>
            <a:pPr marL="0" indent="0" algn="ctr">
              <a:buNone/>
            </a:pPr>
            <a:r>
              <a:rPr lang="en-US" sz="850" dirty="0">
                <a:solidFill>
                  <a:srgbClr val="0D1B4C"/>
                </a:solidFill>
                <a:latin typeface="Arial" pitchFamily="34" charset="0"/>
                <a:ea typeface="Arial" pitchFamily="34" charset="-122"/>
                <a:cs typeface="Arial" pitchFamily="34" charset="-120"/>
              </a:rPr>
              <a:t>NMS</a:t>
            </a:r>
            <a:endParaRPr lang="en-US" sz="850" dirty="0"/>
          </a:p>
        </p:txBody>
      </p:sp>
      <p:sp>
        <p:nvSpPr>
          <p:cNvPr id="18" name="Shape 16"/>
          <p:cNvSpPr/>
          <p:nvPr/>
        </p:nvSpPr>
        <p:spPr>
          <a:xfrm>
            <a:off x="137160" y="3218688"/>
            <a:ext cx="1737360" cy="347472"/>
          </a:xfrm>
          <a:prstGeom prst="roundRect">
            <a:avLst>
              <a:gd name="adj" fmla="val 10526"/>
            </a:avLst>
          </a:prstGeom>
          <a:solidFill>
            <a:srgbClr val="EFF6FF"/>
          </a:solidFill>
          <a:ln/>
        </p:spPr>
        <p:txBody>
          <a:bodyPr/>
          <a:lstStyle/>
          <a:p>
            <a:endParaRPr lang="en-VN"/>
          </a:p>
        </p:txBody>
      </p:sp>
      <p:sp>
        <p:nvSpPr>
          <p:cNvPr id="19" name="Text 17"/>
          <p:cNvSpPr/>
          <p:nvPr/>
        </p:nvSpPr>
        <p:spPr>
          <a:xfrm>
            <a:off x="137160" y="3218688"/>
            <a:ext cx="1737360" cy="347472"/>
          </a:xfrm>
          <a:prstGeom prst="rect">
            <a:avLst/>
          </a:prstGeom>
          <a:noFill/>
          <a:ln/>
        </p:spPr>
        <p:txBody>
          <a:bodyPr wrap="square" rtlCol="0" anchor="ctr"/>
          <a:lstStyle/>
          <a:p>
            <a:pPr marL="0" indent="0" algn="ctr">
              <a:buNone/>
            </a:pPr>
            <a:r>
              <a:rPr lang="en-US" sz="850" dirty="0">
                <a:solidFill>
                  <a:srgbClr val="0D1B4C"/>
                </a:solidFill>
                <a:latin typeface="Arial" pitchFamily="34" charset="0"/>
                <a:ea typeface="Arial" pitchFamily="34" charset="-122"/>
                <a:cs typeface="Arial" pitchFamily="34" charset="-120"/>
              </a:rPr>
              <a:t>eSales</a:t>
            </a:r>
            <a:endParaRPr lang="en-US" sz="850" dirty="0"/>
          </a:p>
        </p:txBody>
      </p:sp>
      <p:sp>
        <p:nvSpPr>
          <p:cNvPr id="20" name="Shape 18"/>
          <p:cNvSpPr/>
          <p:nvPr/>
        </p:nvSpPr>
        <p:spPr>
          <a:xfrm>
            <a:off x="137160" y="3657600"/>
            <a:ext cx="1737360" cy="347472"/>
          </a:xfrm>
          <a:prstGeom prst="roundRect">
            <a:avLst>
              <a:gd name="adj" fmla="val 10526"/>
            </a:avLst>
          </a:prstGeom>
          <a:solidFill>
            <a:srgbClr val="EFF6FF"/>
          </a:solidFill>
          <a:ln/>
        </p:spPr>
        <p:txBody>
          <a:bodyPr/>
          <a:lstStyle/>
          <a:p>
            <a:endParaRPr lang="en-VN"/>
          </a:p>
        </p:txBody>
      </p:sp>
      <p:sp>
        <p:nvSpPr>
          <p:cNvPr id="21" name="Text 19"/>
          <p:cNvSpPr/>
          <p:nvPr/>
        </p:nvSpPr>
        <p:spPr>
          <a:xfrm>
            <a:off x="137160" y="3657600"/>
            <a:ext cx="1737360" cy="347472"/>
          </a:xfrm>
          <a:prstGeom prst="rect">
            <a:avLst/>
          </a:prstGeom>
          <a:noFill/>
          <a:ln/>
        </p:spPr>
        <p:txBody>
          <a:bodyPr wrap="square" rtlCol="0" anchor="ctr"/>
          <a:lstStyle/>
          <a:p>
            <a:pPr marL="0" indent="0" algn="ctr">
              <a:buNone/>
            </a:pPr>
            <a:r>
              <a:rPr lang="en-US" sz="850" dirty="0">
                <a:solidFill>
                  <a:srgbClr val="0D1B4C"/>
                </a:solidFill>
                <a:latin typeface="Arial" pitchFamily="34" charset="0"/>
                <a:ea typeface="Arial" pitchFamily="34" charset="-122"/>
                <a:cs typeface="Arial" pitchFamily="34" charset="-120"/>
              </a:rPr>
              <a:t>SuccessFactors</a:t>
            </a:r>
            <a:endParaRPr lang="en-US" sz="850" dirty="0"/>
          </a:p>
        </p:txBody>
      </p:sp>
      <p:sp>
        <p:nvSpPr>
          <p:cNvPr id="22" name="Shape 20"/>
          <p:cNvSpPr/>
          <p:nvPr/>
        </p:nvSpPr>
        <p:spPr>
          <a:xfrm>
            <a:off x="137160" y="4096512"/>
            <a:ext cx="1737360" cy="347472"/>
          </a:xfrm>
          <a:prstGeom prst="roundRect">
            <a:avLst>
              <a:gd name="adj" fmla="val 10526"/>
            </a:avLst>
          </a:prstGeom>
          <a:solidFill>
            <a:srgbClr val="EFF6FF"/>
          </a:solidFill>
          <a:ln/>
        </p:spPr>
        <p:txBody>
          <a:bodyPr/>
          <a:lstStyle/>
          <a:p>
            <a:endParaRPr lang="en-VN"/>
          </a:p>
        </p:txBody>
      </p:sp>
      <p:sp>
        <p:nvSpPr>
          <p:cNvPr id="23" name="Text 21"/>
          <p:cNvSpPr/>
          <p:nvPr/>
        </p:nvSpPr>
        <p:spPr>
          <a:xfrm>
            <a:off x="137160" y="4096512"/>
            <a:ext cx="1737360" cy="347472"/>
          </a:xfrm>
          <a:prstGeom prst="rect">
            <a:avLst/>
          </a:prstGeom>
          <a:noFill/>
          <a:ln/>
        </p:spPr>
        <p:txBody>
          <a:bodyPr wrap="square" rtlCol="0" anchor="ctr"/>
          <a:lstStyle/>
          <a:p>
            <a:pPr marL="0" indent="0" algn="ctr">
              <a:buNone/>
            </a:pPr>
            <a:r>
              <a:rPr lang="en-US" sz="850" dirty="0">
                <a:solidFill>
                  <a:srgbClr val="0D1B4C"/>
                </a:solidFill>
                <a:latin typeface="Arial" pitchFamily="34" charset="0"/>
                <a:ea typeface="Arial" pitchFamily="34" charset="-122"/>
                <a:cs typeface="Arial" pitchFamily="34" charset="-120"/>
              </a:rPr>
              <a:t>GMS / ICS</a:t>
            </a:r>
            <a:endParaRPr lang="en-US" sz="850" dirty="0"/>
          </a:p>
        </p:txBody>
      </p:sp>
      <p:sp>
        <p:nvSpPr>
          <p:cNvPr id="24" name="Shape 22"/>
          <p:cNvSpPr/>
          <p:nvPr/>
        </p:nvSpPr>
        <p:spPr>
          <a:xfrm>
            <a:off x="2286000" y="1143000"/>
            <a:ext cx="4572000" cy="3383280"/>
          </a:xfrm>
          <a:prstGeom prst="roundRect">
            <a:avLst>
              <a:gd name="adj" fmla="val 2703"/>
            </a:avLst>
          </a:prstGeom>
          <a:solidFill>
            <a:srgbClr val="0D1B4C"/>
          </a:solidFill>
          <a:ln/>
        </p:spPr>
        <p:txBody>
          <a:bodyPr/>
          <a:lstStyle/>
          <a:p>
            <a:endParaRPr lang="en-VN"/>
          </a:p>
        </p:txBody>
      </p:sp>
      <p:sp>
        <p:nvSpPr>
          <p:cNvPr id="25" name="Text 23"/>
          <p:cNvSpPr/>
          <p:nvPr/>
        </p:nvSpPr>
        <p:spPr>
          <a:xfrm>
            <a:off x="2377440" y="1188720"/>
            <a:ext cx="4389120" cy="320040"/>
          </a:xfrm>
          <a:prstGeom prst="rect">
            <a:avLst/>
          </a:prstGeom>
          <a:noFill/>
          <a:ln/>
        </p:spPr>
        <p:txBody>
          <a:bodyPr wrap="square" rtlCol="0" anchor="ctr"/>
          <a:lstStyle/>
          <a:p>
            <a:pPr marL="0" indent="0" algn="ctr">
              <a:buNone/>
            </a:pPr>
            <a:r>
              <a:rPr lang="en-US" sz="1100" b="1" dirty="0">
                <a:solidFill>
                  <a:srgbClr val="C8A962"/>
                </a:solidFill>
                <a:latin typeface="Arial" pitchFamily="34" charset="0"/>
                <a:ea typeface="Arial" pitchFamily="34" charset="-122"/>
                <a:cs typeface="Arial" pitchFamily="34" charset="-120"/>
              </a:rPr>
              <a:t>NVG HUB INTEGRATION PLATFORM</a:t>
            </a:r>
            <a:endParaRPr lang="en-US" sz="1100" dirty="0"/>
          </a:p>
        </p:txBody>
      </p:sp>
      <p:sp>
        <p:nvSpPr>
          <p:cNvPr id="26" name="Shape 24"/>
          <p:cNvSpPr/>
          <p:nvPr/>
        </p:nvSpPr>
        <p:spPr>
          <a:xfrm>
            <a:off x="2468880" y="1600200"/>
            <a:ext cx="4206240" cy="438912"/>
          </a:xfrm>
          <a:prstGeom prst="roundRect">
            <a:avLst>
              <a:gd name="adj" fmla="val 8333"/>
            </a:avLst>
          </a:prstGeom>
          <a:solidFill>
            <a:srgbClr val="2563EB"/>
          </a:solidFill>
          <a:ln/>
        </p:spPr>
        <p:txBody>
          <a:bodyPr/>
          <a:lstStyle/>
          <a:p>
            <a:endParaRPr lang="en-VN"/>
          </a:p>
        </p:txBody>
      </p:sp>
      <p:sp>
        <p:nvSpPr>
          <p:cNvPr id="27" name="Text 25"/>
          <p:cNvSpPr/>
          <p:nvPr/>
        </p:nvSpPr>
        <p:spPr>
          <a:xfrm>
            <a:off x="2560320" y="1600200"/>
            <a:ext cx="2011680" cy="438912"/>
          </a:xfrm>
          <a:prstGeom prst="rect">
            <a:avLst/>
          </a:prstGeom>
          <a:noFill/>
          <a:ln/>
        </p:spPr>
        <p:txBody>
          <a:bodyPr wrap="square" rtlCol="0" anchor="ctr"/>
          <a:lstStyle/>
          <a:p>
            <a:pPr marL="0" indent="0">
              <a:buNone/>
            </a:pPr>
            <a:r>
              <a:rPr lang="en-US" sz="900" b="1" dirty="0">
                <a:solidFill>
                  <a:srgbClr val="FFFFFF"/>
                </a:solidFill>
                <a:latin typeface="Arial" pitchFamily="34" charset="0"/>
                <a:ea typeface="Arial" pitchFamily="34" charset="-122"/>
                <a:cs typeface="Arial" pitchFamily="34" charset="-120"/>
              </a:rPr>
              <a:t>API Gateway (Kong)</a:t>
            </a:r>
            <a:endParaRPr lang="en-US" sz="900" dirty="0"/>
          </a:p>
        </p:txBody>
      </p:sp>
      <p:sp>
        <p:nvSpPr>
          <p:cNvPr id="28" name="Text 26"/>
          <p:cNvSpPr/>
          <p:nvPr/>
        </p:nvSpPr>
        <p:spPr>
          <a:xfrm>
            <a:off x="4572000" y="1600200"/>
            <a:ext cx="2011680" cy="438912"/>
          </a:xfrm>
          <a:prstGeom prst="rect">
            <a:avLst/>
          </a:prstGeom>
          <a:noFill/>
          <a:ln/>
        </p:spPr>
        <p:txBody>
          <a:bodyPr wrap="square" rtlCol="0" anchor="ctr"/>
          <a:lstStyle/>
          <a:p>
            <a:pPr marL="0" indent="0" algn="r">
              <a:buNone/>
            </a:pPr>
            <a:r>
              <a:rPr lang="en-US" sz="750" dirty="0">
                <a:solidFill>
                  <a:srgbClr val="C8A962"/>
                </a:solidFill>
                <a:latin typeface="Arial" pitchFamily="34" charset="0"/>
                <a:ea typeface="Arial" pitchFamily="34" charset="-122"/>
                <a:cs typeface="Arial" pitchFamily="34" charset="-120"/>
              </a:rPr>
              <a:t>Auth | Rate Limit | Routing | Transform</a:t>
            </a:r>
            <a:endParaRPr lang="en-US" sz="750" dirty="0"/>
          </a:p>
        </p:txBody>
      </p:sp>
      <p:sp>
        <p:nvSpPr>
          <p:cNvPr id="29" name="Shape 27"/>
          <p:cNvSpPr/>
          <p:nvPr/>
        </p:nvSpPr>
        <p:spPr>
          <a:xfrm>
            <a:off x="2468880" y="2148840"/>
            <a:ext cx="4206240" cy="438912"/>
          </a:xfrm>
          <a:prstGeom prst="roundRect">
            <a:avLst>
              <a:gd name="adj" fmla="val 8333"/>
            </a:avLst>
          </a:prstGeom>
          <a:solidFill>
            <a:srgbClr val="0891B2"/>
          </a:solidFill>
          <a:ln/>
        </p:spPr>
        <p:txBody>
          <a:bodyPr/>
          <a:lstStyle/>
          <a:p>
            <a:endParaRPr lang="en-VN"/>
          </a:p>
        </p:txBody>
      </p:sp>
      <p:sp>
        <p:nvSpPr>
          <p:cNvPr id="30" name="Text 28"/>
          <p:cNvSpPr/>
          <p:nvPr/>
        </p:nvSpPr>
        <p:spPr>
          <a:xfrm>
            <a:off x="2560320" y="2148840"/>
            <a:ext cx="2011680" cy="438912"/>
          </a:xfrm>
          <a:prstGeom prst="rect">
            <a:avLst/>
          </a:prstGeom>
          <a:noFill/>
          <a:ln/>
        </p:spPr>
        <p:txBody>
          <a:bodyPr wrap="square" rtlCol="0" anchor="ctr"/>
          <a:lstStyle/>
          <a:p>
            <a:pPr marL="0" indent="0">
              <a:buNone/>
            </a:pPr>
            <a:r>
              <a:rPr lang="en-US" sz="900" b="1" dirty="0">
                <a:solidFill>
                  <a:srgbClr val="FFFFFF"/>
                </a:solidFill>
                <a:latin typeface="Arial" pitchFamily="34" charset="0"/>
                <a:ea typeface="Arial" pitchFamily="34" charset="-122"/>
                <a:cs typeface="Arial" pitchFamily="34" charset="-120"/>
              </a:rPr>
              <a:t>Event Streaming (Kafka)</a:t>
            </a:r>
            <a:endParaRPr lang="en-US" sz="900" dirty="0"/>
          </a:p>
        </p:txBody>
      </p:sp>
      <p:sp>
        <p:nvSpPr>
          <p:cNvPr id="31" name="Text 29"/>
          <p:cNvSpPr/>
          <p:nvPr/>
        </p:nvSpPr>
        <p:spPr>
          <a:xfrm>
            <a:off x="4572000" y="2148840"/>
            <a:ext cx="2011680" cy="438912"/>
          </a:xfrm>
          <a:prstGeom prst="rect">
            <a:avLst/>
          </a:prstGeom>
          <a:noFill/>
          <a:ln/>
        </p:spPr>
        <p:txBody>
          <a:bodyPr wrap="square" rtlCol="0" anchor="ctr"/>
          <a:lstStyle/>
          <a:p>
            <a:pPr marL="0" indent="0" algn="r">
              <a:buNone/>
            </a:pPr>
            <a:r>
              <a:rPr lang="en-US" sz="750" dirty="0">
                <a:solidFill>
                  <a:srgbClr val="C8A962"/>
                </a:solidFill>
                <a:latin typeface="Arial" pitchFamily="34" charset="0"/>
                <a:ea typeface="Arial" pitchFamily="34" charset="-122"/>
                <a:cs typeface="Arial" pitchFamily="34" charset="-120"/>
              </a:rPr>
              <a:t>Pub/Sub | CDC | Stream Processing</a:t>
            </a:r>
            <a:endParaRPr lang="en-US" sz="750" dirty="0"/>
          </a:p>
        </p:txBody>
      </p:sp>
      <p:sp>
        <p:nvSpPr>
          <p:cNvPr id="32" name="Shape 30"/>
          <p:cNvSpPr/>
          <p:nvPr/>
        </p:nvSpPr>
        <p:spPr>
          <a:xfrm>
            <a:off x="2468880" y="2697480"/>
            <a:ext cx="4206240" cy="438912"/>
          </a:xfrm>
          <a:prstGeom prst="roundRect">
            <a:avLst>
              <a:gd name="adj" fmla="val 8333"/>
            </a:avLst>
          </a:prstGeom>
          <a:solidFill>
            <a:srgbClr val="059669"/>
          </a:solidFill>
          <a:ln/>
        </p:spPr>
        <p:txBody>
          <a:bodyPr/>
          <a:lstStyle/>
          <a:p>
            <a:endParaRPr lang="en-VN"/>
          </a:p>
        </p:txBody>
      </p:sp>
      <p:sp>
        <p:nvSpPr>
          <p:cNvPr id="33" name="Text 31"/>
          <p:cNvSpPr/>
          <p:nvPr/>
        </p:nvSpPr>
        <p:spPr>
          <a:xfrm>
            <a:off x="2560320" y="2697480"/>
            <a:ext cx="2011680" cy="438912"/>
          </a:xfrm>
          <a:prstGeom prst="rect">
            <a:avLst/>
          </a:prstGeom>
          <a:noFill/>
          <a:ln/>
        </p:spPr>
        <p:txBody>
          <a:bodyPr wrap="square" rtlCol="0" anchor="ctr"/>
          <a:lstStyle/>
          <a:p>
            <a:pPr marL="0" indent="0">
              <a:buNone/>
            </a:pPr>
            <a:r>
              <a:rPr lang="en-US" sz="900" b="1" dirty="0">
                <a:solidFill>
                  <a:srgbClr val="FFFFFF"/>
                </a:solidFill>
                <a:latin typeface="Arial" pitchFamily="34" charset="0"/>
                <a:ea typeface="Arial" pitchFamily="34" charset="-122"/>
                <a:cs typeface="Arial" pitchFamily="34" charset="-120"/>
              </a:rPr>
              <a:t>Workflow Engine (n8n)</a:t>
            </a:r>
            <a:endParaRPr lang="en-US" sz="900" dirty="0"/>
          </a:p>
        </p:txBody>
      </p:sp>
      <p:sp>
        <p:nvSpPr>
          <p:cNvPr id="34" name="Text 32"/>
          <p:cNvSpPr/>
          <p:nvPr/>
        </p:nvSpPr>
        <p:spPr>
          <a:xfrm>
            <a:off x="4572000" y="2697480"/>
            <a:ext cx="2011680" cy="438912"/>
          </a:xfrm>
          <a:prstGeom prst="rect">
            <a:avLst/>
          </a:prstGeom>
          <a:noFill/>
          <a:ln/>
        </p:spPr>
        <p:txBody>
          <a:bodyPr wrap="square" rtlCol="0" anchor="ctr"/>
          <a:lstStyle/>
          <a:p>
            <a:pPr marL="0" indent="0" algn="r">
              <a:buNone/>
            </a:pPr>
            <a:r>
              <a:rPr lang="en-US" sz="750" dirty="0">
                <a:solidFill>
                  <a:srgbClr val="C8A962"/>
                </a:solidFill>
                <a:latin typeface="Arial" pitchFamily="34" charset="0"/>
                <a:ea typeface="Arial" pitchFamily="34" charset="-122"/>
                <a:cs typeface="Arial" pitchFamily="34" charset="-120"/>
              </a:rPr>
              <a:t>Orchestration | Business Logic | Retry</a:t>
            </a:r>
            <a:endParaRPr lang="en-US" sz="750" dirty="0"/>
          </a:p>
        </p:txBody>
      </p:sp>
      <p:sp>
        <p:nvSpPr>
          <p:cNvPr id="35" name="Shape 33"/>
          <p:cNvSpPr/>
          <p:nvPr/>
        </p:nvSpPr>
        <p:spPr>
          <a:xfrm>
            <a:off x="2468880" y="3246120"/>
            <a:ext cx="4206240" cy="438912"/>
          </a:xfrm>
          <a:prstGeom prst="roundRect">
            <a:avLst>
              <a:gd name="adj" fmla="val 8333"/>
            </a:avLst>
          </a:prstGeom>
          <a:solidFill>
            <a:srgbClr val="EA580C"/>
          </a:solidFill>
          <a:ln/>
        </p:spPr>
        <p:txBody>
          <a:bodyPr/>
          <a:lstStyle/>
          <a:p>
            <a:endParaRPr lang="en-VN"/>
          </a:p>
        </p:txBody>
      </p:sp>
      <p:sp>
        <p:nvSpPr>
          <p:cNvPr id="36" name="Text 34"/>
          <p:cNvSpPr/>
          <p:nvPr/>
        </p:nvSpPr>
        <p:spPr>
          <a:xfrm>
            <a:off x="2560320" y="3246120"/>
            <a:ext cx="2011680" cy="438912"/>
          </a:xfrm>
          <a:prstGeom prst="rect">
            <a:avLst/>
          </a:prstGeom>
          <a:noFill/>
          <a:ln/>
        </p:spPr>
        <p:txBody>
          <a:bodyPr wrap="square" rtlCol="0" anchor="ctr"/>
          <a:lstStyle/>
          <a:p>
            <a:pPr marL="0" indent="0">
              <a:buNone/>
            </a:pPr>
            <a:r>
              <a:rPr lang="en-US" sz="900" b="1" dirty="0">
                <a:solidFill>
                  <a:srgbClr val="FFFFFF"/>
                </a:solidFill>
                <a:latin typeface="Arial" pitchFamily="34" charset="0"/>
                <a:ea typeface="Arial" pitchFamily="34" charset="-122"/>
                <a:cs typeface="Arial" pitchFamily="34" charset="-120"/>
              </a:rPr>
              <a:t>Security (Keycloak + Vault)</a:t>
            </a:r>
            <a:endParaRPr lang="en-US" sz="900" dirty="0"/>
          </a:p>
        </p:txBody>
      </p:sp>
      <p:sp>
        <p:nvSpPr>
          <p:cNvPr id="37" name="Text 35"/>
          <p:cNvSpPr/>
          <p:nvPr/>
        </p:nvSpPr>
        <p:spPr>
          <a:xfrm>
            <a:off x="4572000" y="3246120"/>
            <a:ext cx="2011680" cy="438912"/>
          </a:xfrm>
          <a:prstGeom prst="rect">
            <a:avLst/>
          </a:prstGeom>
          <a:noFill/>
          <a:ln/>
        </p:spPr>
        <p:txBody>
          <a:bodyPr wrap="square" rtlCol="0" anchor="ctr"/>
          <a:lstStyle/>
          <a:p>
            <a:pPr marL="0" indent="0" algn="r">
              <a:buNone/>
            </a:pPr>
            <a:r>
              <a:rPr lang="en-US" sz="750" dirty="0">
                <a:solidFill>
                  <a:srgbClr val="C8A962"/>
                </a:solidFill>
                <a:latin typeface="Arial" pitchFamily="34" charset="0"/>
                <a:ea typeface="Arial" pitchFamily="34" charset="-122"/>
                <a:cs typeface="Arial" pitchFamily="34" charset="-120"/>
              </a:rPr>
              <a:t>SSO | OAuth2 | Secret Management</a:t>
            </a:r>
            <a:endParaRPr lang="en-US" sz="750" dirty="0"/>
          </a:p>
        </p:txBody>
      </p:sp>
      <p:sp>
        <p:nvSpPr>
          <p:cNvPr id="38" name="Shape 36"/>
          <p:cNvSpPr/>
          <p:nvPr/>
        </p:nvSpPr>
        <p:spPr>
          <a:xfrm>
            <a:off x="2468880" y="3794760"/>
            <a:ext cx="4206240" cy="438912"/>
          </a:xfrm>
          <a:prstGeom prst="roundRect">
            <a:avLst>
              <a:gd name="adj" fmla="val 8333"/>
            </a:avLst>
          </a:prstGeom>
          <a:solidFill>
            <a:srgbClr val="6B7280"/>
          </a:solidFill>
          <a:ln/>
        </p:spPr>
        <p:txBody>
          <a:bodyPr/>
          <a:lstStyle/>
          <a:p>
            <a:endParaRPr lang="en-VN"/>
          </a:p>
        </p:txBody>
      </p:sp>
      <p:sp>
        <p:nvSpPr>
          <p:cNvPr id="39" name="Text 37"/>
          <p:cNvSpPr/>
          <p:nvPr/>
        </p:nvSpPr>
        <p:spPr>
          <a:xfrm>
            <a:off x="2560320" y="3794760"/>
            <a:ext cx="2011680" cy="438912"/>
          </a:xfrm>
          <a:prstGeom prst="rect">
            <a:avLst/>
          </a:prstGeom>
          <a:noFill/>
          <a:ln/>
        </p:spPr>
        <p:txBody>
          <a:bodyPr wrap="square" rtlCol="0" anchor="ctr"/>
          <a:lstStyle/>
          <a:p>
            <a:pPr marL="0" indent="0">
              <a:buNone/>
            </a:pPr>
            <a:r>
              <a:rPr lang="en-US" sz="900" b="1" dirty="0">
                <a:solidFill>
                  <a:srgbClr val="FFFFFF"/>
                </a:solidFill>
                <a:latin typeface="Arial" pitchFamily="34" charset="0"/>
                <a:ea typeface="Arial" pitchFamily="34" charset="-122"/>
                <a:cs typeface="Arial" pitchFamily="34" charset="-120"/>
              </a:rPr>
              <a:t>Monitoring (Prometheus + ELK)</a:t>
            </a:r>
            <a:endParaRPr lang="en-US" sz="900" dirty="0"/>
          </a:p>
        </p:txBody>
      </p:sp>
      <p:sp>
        <p:nvSpPr>
          <p:cNvPr id="40" name="Text 38"/>
          <p:cNvSpPr/>
          <p:nvPr/>
        </p:nvSpPr>
        <p:spPr>
          <a:xfrm>
            <a:off x="4572000" y="3794760"/>
            <a:ext cx="2011680" cy="438912"/>
          </a:xfrm>
          <a:prstGeom prst="rect">
            <a:avLst/>
          </a:prstGeom>
          <a:noFill/>
          <a:ln/>
        </p:spPr>
        <p:txBody>
          <a:bodyPr wrap="square" rtlCol="0" anchor="ctr"/>
          <a:lstStyle/>
          <a:p>
            <a:pPr marL="0" indent="0" algn="r">
              <a:buNone/>
            </a:pPr>
            <a:r>
              <a:rPr lang="en-US" sz="750" dirty="0">
                <a:solidFill>
                  <a:srgbClr val="C8A962"/>
                </a:solidFill>
                <a:latin typeface="Arial" pitchFamily="34" charset="0"/>
                <a:ea typeface="Arial" pitchFamily="34" charset="-122"/>
                <a:cs typeface="Arial" pitchFamily="34" charset="-120"/>
              </a:rPr>
              <a:t>Metrics | Logs | Tracing | Alerts</a:t>
            </a:r>
            <a:endParaRPr lang="en-US" sz="750" dirty="0"/>
          </a:p>
        </p:txBody>
      </p:sp>
      <p:sp>
        <p:nvSpPr>
          <p:cNvPr id="41" name="Text 39"/>
          <p:cNvSpPr/>
          <p:nvPr/>
        </p:nvSpPr>
        <p:spPr>
          <a:xfrm>
            <a:off x="7315200" y="1143000"/>
            <a:ext cx="1645920" cy="274320"/>
          </a:xfrm>
          <a:prstGeom prst="rect">
            <a:avLst/>
          </a:prstGeom>
          <a:noFill/>
          <a:ln/>
        </p:spPr>
        <p:txBody>
          <a:bodyPr wrap="square" rtlCol="0" anchor="ctr"/>
          <a:lstStyle/>
          <a:p>
            <a:pPr marL="0" indent="0" algn="ctr">
              <a:buNone/>
            </a:pPr>
            <a:r>
              <a:rPr lang="en-US" sz="900" b="1" dirty="0">
                <a:solidFill>
                  <a:srgbClr val="0D1B4C"/>
                </a:solidFill>
                <a:latin typeface="Arial" pitchFamily="34" charset="0"/>
                <a:ea typeface="Arial" pitchFamily="34" charset="-122"/>
                <a:cs typeface="Arial" pitchFamily="34" charset="-120"/>
              </a:rPr>
              <a:t>ĐÍCH</a:t>
            </a:r>
            <a:endParaRPr lang="en-US" sz="900" dirty="0"/>
          </a:p>
        </p:txBody>
      </p:sp>
      <p:sp>
        <p:nvSpPr>
          <p:cNvPr id="42" name="Shape 40"/>
          <p:cNvSpPr/>
          <p:nvPr/>
        </p:nvSpPr>
        <p:spPr>
          <a:xfrm>
            <a:off x="7269480" y="1463040"/>
            <a:ext cx="1737360" cy="347472"/>
          </a:xfrm>
          <a:prstGeom prst="roundRect">
            <a:avLst>
              <a:gd name="adj" fmla="val 10526"/>
            </a:avLst>
          </a:prstGeom>
          <a:solidFill>
            <a:srgbClr val="ECFDF5"/>
          </a:solidFill>
          <a:ln/>
        </p:spPr>
        <p:txBody>
          <a:bodyPr/>
          <a:lstStyle/>
          <a:p>
            <a:endParaRPr lang="en-VN"/>
          </a:p>
        </p:txBody>
      </p:sp>
      <p:sp>
        <p:nvSpPr>
          <p:cNvPr id="43" name="Text 41"/>
          <p:cNvSpPr/>
          <p:nvPr/>
        </p:nvSpPr>
        <p:spPr>
          <a:xfrm>
            <a:off x="7269480" y="1463040"/>
            <a:ext cx="1737360" cy="347472"/>
          </a:xfrm>
          <a:prstGeom prst="rect">
            <a:avLst/>
          </a:prstGeom>
          <a:noFill/>
          <a:ln/>
        </p:spPr>
        <p:txBody>
          <a:bodyPr wrap="square" rtlCol="0" anchor="ctr"/>
          <a:lstStyle/>
          <a:p>
            <a:pPr marL="0" indent="0" algn="ctr">
              <a:buNone/>
            </a:pPr>
            <a:r>
              <a:rPr lang="en-US" sz="850" dirty="0">
                <a:solidFill>
                  <a:srgbClr val="0D1B4C"/>
                </a:solidFill>
                <a:latin typeface="Arial" pitchFamily="34" charset="0"/>
                <a:ea typeface="Arial" pitchFamily="34" charset="-122"/>
                <a:cs typeface="Arial" pitchFamily="34" charset="-120"/>
              </a:rPr>
              <a:t>Data Warehouse</a:t>
            </a:r>
            <a:endParaRPr lang="en-US" sz="850" dirty="0"/>
          </a:p>
        </p:txBody>
      </p:sp>
      <p:sp>
        <p:nvSpPr>
          <p:cNvPr id="44" name="Shape 42"/>
          <p:cNvSpPr/>
          <p:nvPr/>
        </p:nvSpPr>
        <p:spPr>
          <a:xfrm>
            <a:off x="7269480" y="1901952"/>
            <a:ext cx="1737360" cy="347472"/>
          </a:xfrm>
          <a:prstGeom prst="roundRect">
            <a:avLst>
              <a:gd name="adj" fmla="val 10526"/>
            </a:avLst>
          </a:prstGeom>
          <a:solidFill>
            <a:srgbClr val="ECFDF5"/>
          </a:solidFill>
          <a:ln/>
        </p:spPr>
        <p:txBody>
          <a:bodyPr/>
          <a:lstStyle/>
          <a:p>
            <a:endParaRPr lang="en-VN"/>
          </a:p>
        </p:txBody>
      </p:sp>
      <p:sp>
        <p:nvSpPr>
          <p:cNvPr id="45" name="Text 43"/>
          <p:cNvSpPr/>
          <p:nvPr/>
        </p:nvSpPr>
        <p:spPr>
          <a:xfrm>
            <a:off x="7269480" y="1901952"/>
            <a:ext cx="1737360" cy="347472"/>
          </a:xfrm>
          <a:prstGeom prst="rect">
            <a:avLst/>
          </a:prstGeom>
          <a:noFill/>
          <a:ln/>
        </p:spPr>
        <p:txBody>
          <a:bodyPr wrap="square" rtlCol="0" anchor="ctr"/>
          <a:lstStyle/>
          <a:p>
            <a:pPr marL="0" indent="0" algn="ctr">
              <a:buNone/>
            </a:pPr>
            <a:r>
              <a:rPr lang="en-US" sz="850" dirty="0">
                <a:solidFill>
                  <a:srgbClr val="0D1B4C"/>
                </a:solidFill>
                <a:latin typeface="Arial" pitchFamily="34" charset="0"/>
                <a:ea typeface="Arial" pitchFamily="34" charset="-122"/>
                <a:cs typeface="Arial" pitchFamily="34" charset="-120"/>
              </a:rPr>
              <a:t>BI Dashboard</a:t>
            </a:r>
            <a:endParaRPr lang="en-US" sz="850" dirty="0"/>
          </a:p>
        </p:txBody>
      </p:sp>
      <p:sp>
        <p:nvSpPr>
          <p:cNvPr id="46" name="Shape 44"/>
          <p:cNvSpPr/>
          <p:nvPr/>
        </p:nvSpPr>
        <p:spPr>
          <a:xfrm>
            <a:off x="7269480" y="2340864"/>
            <a:ext cx="1737360" cy="347472"/>
          </a:xfrm>
          <a:prstGeom prst="roundRect">
            <a:avLst>
              <a:gd name="adj" fmla="val 10526"/>
            </a:avLst>
          </a:prstGeom>
          <a:solidFill>
            <a:srgbClr val="ECFDF5"/>
          </a:solidFill>
          <a:ln/>
        </p:spPr>
        <p:txBody>
          <a:bodyPr/>
          <a:lstStyle/>
          <a:p>
            <a:endParaRPr lang="en-VN"/>
          </a:p>
        </p:txBody>
      </p:sp>
      <p:sp>
        <p:nvSpPr>
          <p:cNvPr id="47" name="Text 45"/>
          <p:cNvSpPr/>
          <p:nvPr/>
        </p:nvSpPr>
        <p:spPr>
          <a:xfrm>
            <a:off x="7269480" y="2340864"/>
            <a:ext cx="1737360" cy="347472"/>
          </a:xfrm>
          <a:prstGeom prst="rect">
            <a:avLst/>
          </a:prstGeom>
          <a:noFill/>
          <a:ln/>
        </p:spPr>
        <p:txBody>
          <a:bodyPr wrap="square" rtlCol="0" anchor="ctr"/>
          <a:lstStyle/>
          <a:p>
            <a:pPr marL="0" indent="0" algn="ctr">
              <a:buNone/>
            </a:pPr>
            <a:r>
              <a:rPr lang="en-US" sz="850" dirty="0">
                <a:solidFill>
                  <a:srgbClr val="0D1B4C"/>
                </a:solidFill>
                <a:latin typeface="Arial" pitchFamily="34" charset="0"/>
                <a:ea typeface="Arial" pitchFamily="34" charset="-122"/>
                <a:cs typeface="Arial" pitchFamily="34" charset="-120"/>
              </a:rPr>
              <a:t>Mobile App</a:t>
            </a:r>
            <a:endParaRPr lang="en-US" sz="850" dirty="0"/>
          </a:p>
        </p:txBody>
      </p:sp>
      <p:sp>
        <p:nvSpPr>
          <p:cNvPr id="48" name="Shape 46"/>
          <p:cNvSpPr/>
          <p:nvPr/>
        </p:nvSpPr>
        <p:spPr>
          <a:xfrm>
            <a:off x="7269480" y="2779776"/>
            <a:ext cx="1737360" cy="347472"/>
          </a:xfrm>
          <a:prstGeom prst="roundRect">
            <a:avLst>
              <a:gd name="adj" fmla="val 10526"/>
            </a:avLst>
          </a:prstGeom>
          <a:solidFill>
            <a:srgbClr val="ECFDF5"/>
          </a:solidFill>
          <a:ln/>
        </p:spPr>
        <p:txBody>
          <a:bodyPr/>
          <a:lstStyle/>
          <a:p>
            <a:endParaRPr lang="en-VN"/>
          </a:p>
        </p:txBody>
      </p:sp>
      <p:sp>
        <p:nvSpPr>
          <p:cNvPr id="49" name="Text 47"/>
          <p:cNvSpPr/>
          <p:nvPr/>
        </p:nvSpPr>
        <p:spPr>
          <a:xfrm>
            <a:off x="7269480" y="2779776"/>
            <a:ext cx="1737360" cy="347472"/>
          </a:xfrm>
          <a:prstGeom prst="rect">
            <a:avLst/>
          </a:prstGeom>
          <a:noFill/>
          <a:ln/>
        </p:spPr>
        <p:txBody>
          <a:bodyPr wrap="square" rtlCol="0" anchor="ctr"/>
          <a:lstStyle/>
          <a:p>
            <a:pPr marL="0" indent="0" algn="ctr">
              <a:buNone/>
            </a:pPr>
            <a:r>
              <a:rPr lang="en-US" sz="850" dirty="0">
                <a:solidFill>
                  <a:srgbClr val="0D1B4C"/>
                </a:solidFill>
                <a:latin typeface="Arial" pitchFamily="34" charset="0"/>
                <a:ea typeface="Arial" pitchFamily="34" charset="-122"/>
                <a:cs typeface="Arial" pitchFamily="34" charset="-120"/>
              </a:rPr>
              <a:t>Partner API</a:t>
            </a:r>
            <a:endParaRPr lang="en-US" sz="850" dirty="0"/>
          </a:p>
        </p:txBody>
      </p:sp>
      <p:sp>
        <p:nvSpPr>
          <p:cNvPr id="50" name="Shape 48"/>
          <p:cNvSpPr/>
          <p:nvPr/>
        </p:nvSpPr>
        <p:spPr>
          <a:xfrm>
            <a:off x="7269480" y="3218688"/>
            <a:ext cx="1737360" cy="347472"/>
          </a:xfrm>
          <a:prstGeom prst="roundRect">
            <a:avLst>
              <a:gd name="adj" fmla="val 10526"/>
            </a:avLst>
          </a:prstGeom>
          <a:solidFill>
            <a:srgbClr val="ECFDF5"/>
          </a:solidFill>
          <a:ln/>
        </p:spPr>
        <p:txBody>
          <a:bodyPr/>
          <a:lstStyle/>
          <a:p>
            <a:endParaRPr lang="en-VN"/>
          </a:p>
        </p:txBody>
      </p:sp>
      <p:sp>
        <p:nvSpPr>
          <p:cNvPr id="51" name="Text 49"/>
          <p:cNvSpPr/>
          <p:nvPr/>
        </p:nvSpPr>
        <p:spPr>
          <a:xfrm>
            <a:off x="7269480" y="3218688"/>
            <a:ext cx="1737360" cy="347472"/>
          </a:xfrm>
          <a:prstGeom prst="rect">
            <a:avLst/>
          </a:prstGeom>
          <a:noFill/>
          <a:ln/>
        </p:spPr>
        <p:txBody>
          <a:bodyPr wrap="square" rtlCol="0" anchor="ctr"/>
          <a:lstStyle/>
          <a:p>
            <a:pPr marL="0" indent="0" algn="ctr">
              <a:buNone/>
            </a:pPr>
            <a:r>
              <a:rPr lang="en-US" sz="850" dirty="0">
                <a:solidFill>
                  <a:srgbClr val="0D1B4C"/>
                </a:solidFill>
                <a:latin typeface="Arial" pitchFamily="34" charset="0"/>
                <a:ea typeface="Arial" pitchFamily="34" charset="-122"/>
                <a:cs typeface="Arial" pitchFamily="34" charset="-120"/>
              </a:rPr>
              <a:t>Notification</a:t>
            </a:r>
            <a:endParaRPr lang="en-US" sz="850" dirty="0"/>
          </a:p>
        </p:txBody>
      </p:sp>
      <p:sp>
        <p:nvSpPr>
          <p:cNvPr id="52" name="Shape 50"/>
          <p:cNvSpPr/>
          <p:nvPr/>
        </p:nvSpPr>
        <p:spPr>
          <a:xfrm>
            <a:off x="7269480" y="3657600"/>
            <a:ext cx="1737360" cy="347472"/>
          </a:xfrm>
          <a:prstGeom prst="roundRect">
            <a:avLst>
              <a:gd name="adj" fmla="val 10526"/>
            </a:avLst>
          </a:prstGeom>
          <a:solidFill>
            <a:srgbClr val="ECFDF5"/>
          </a:solidFill>
          <a:ln/>
        </p:spPr>
        <p:txBody>
          <a:bodyPr/>
          <a:lstStyle/>
          <a:p>
            <a:endParaRPr lang="en-VN"/>
          </a:p>
        </p:txBody>
      </p:sp>
      <p:sp>
        <p:nvSpPr>
          <p:cNvPr id="53" name="Text 51"/>
          <p:cNvSpPr/>
          <p:nvPr/>
        </p:nvSpPr>
        <p:spPr>
          <a:xfrm>
            <a:off x="7269480" y="3657600"/>
            <a:ext cx="1737360" cy="347472"/>
          </a:xfrm>
          <a:prstGeom prst="rect">
            <a:avLst/>
          </a:prstGeom>
          <a:noFill/>
          <a:ln/>
        </p:spPr>
        <p:txBody>
          <a:bodyPr wrap="square" rtlCol="0" anchor="ctr"/>
          <a:lstStyle/>
          <a:p>
            <a:pPr marL="0" indent="0" algn="ctr">
              <a:buNone/>
            </a:pPr>
            <a:r>
              <a:rPr lang="en-US" sz="850" dirty="0">
                <a:solidFill>
                  <a:srgbClr val="0D1B4C"/>
                </a:solidFill>
                <a:latin typeface="Arial" pitchFamily="34" charset="0"/>
                <a:ea typeface="Arial" pitchFamily="34" charset="-122"/>
                <a:cs typeface="Arial" pitchFamily="34" charset="-120"/>
              </a:rPr>
              <a:t>Analytics</a:t>
            </a:r>
            <a:endParaRPr lang="en-US" sz="850" dirty="0"/>
          </a:p>
        </p:txBody>
      </p:sp>
      <p:sp>
        <p:nvSpPr>
          <p:cNvPr id="54" name="Shape 52"/>
          <p:cNvSpPr/>
          <p:nvPr/>
        </p:nvSpPr>
        <p:spPr>
          <a:xfrm>
            <a:off x="7269480" y="4096512"/>
            <a:ext cx="1737360" cy="347472"/>
          </a:xfrm>
          <a:prstGeom prst="roundRect">
            <a:avLst>
              <a:gd name="adj" fmla="val 10526"/>
            </a:avLst>
          </a:prstGeom>
          <a:solidFill>
            <a:srgbClr val="ECFDF5"/>
          </a:solidFill>
          <a:ln/>
        </p:spPr>
        <p:txBody>
          <a:bodyPr/>
          <a:lstStyle/>
          <a:p>
            <a:endParaRPr lang="en-VN"/>
          </a:p>
        </p:txBody>
      </p:sp>
      <p:sp>
        <p:nvSpPr>
          <p:cNvPr id="55" name="Text 53"/>
          <p:cNvSpPr/>
          <p:nvPr/>
        </p:nvSpPr>
        <p:spPr>
          <a:xfrm>
            <a:off x="7269480" y="4096512"/>
            <a:ext cx="1737360" cy="347472"/>
          </a:xfrm>
          <a:prstGeom prst="rect">
            <a:avLst/>
          </a:prstGeom>
          <a:noFill/>
          <a:ln/>
        </p:spPr>
        <p:txBody>
          <a:bodyPr wrap="square" rtlCol="0" anchor="ctr"/>
          <a:lstStyle/>
          <a:p>
            <a:pPr marL="0" indent="0" algn="ctr">
              <a:buNone/>
            </a:pPr>
            <a:r>
              <a:rPr lang="en-US" sz="850" dirty="0">
                <a:solidFill>
                  <a:srgbClr val="0D1B4C"/>
                </a:solidFill>
                <a:latin typeface="Arial" pitchFamily="34" charset="0"/>
                <a:ea typeface="Arial" pitchFamily="34" charset="-122"/>
                <a:cs typeface="Arial" pitchFamily="34" charset="-120"/>
              </a:rPr>
              <a:t>Audit Log</a:t>
            </a:r>
            <a:endParaRPr lang="en-US" sz="850" dirty="0"/>
          </a:p>
        </p:txBody>
      </p:sp>
      <p:sp>
        <p:nvSpPr>
          <p:cNvPr id="56" name="Text 54"/>
          <p:cNvSpPr/>
          <p:nvPr/>
        </p:nvSpPr>
        <p:spPr>
          <a:xfrm>
            <a:off x="1920240" y="2377440"/>
            <a:ext cx="365760" cy="365760"/>
          </a:xfrm>
          <a:prstGeom prst="rect">
            <a:avLst/>
          </a:prstGeom>
          <a:noFill/>
          <a:ln/>
        </p:spPr>
        <p:txBody>
          <a:bodyPr wrap="square" rtlCol="0" anchor="ctr"/>
          <a:lstStyle/>
          <a:p>
            <a:pPr marL="0" indent="0" algn="ctr">
              <a:buNone/>
            </a:pPr>
            <a:r>
              <a:rPr lang="en-US" sz="2000" dirty="0">
                <a:solidFill>
                  <a:srgbClr val="C8A962"/>
                </a:solidFill>
                <a:latin typeface="Arial" pitchFamily="34" charset="0"/>
                <a:ea typeface="Arial" pitchFamily="34" charset="-122"/>
                <a:cs typeface="Arial" pitchFamily="34" charset="-120"/>
              </a:rPr>
              <a:t>→</a:t>
            </a:r>
            <a:endParaRPr lang="en-US" sz="2000" dirty="0"/>
          </a:p>
        </p:txBody>
      </p:sp>
      <p:sp>
        <p:nvSpPr>
          <p:cNvPr id="57" name="Text 55"/>
          <p:cNvSpPr/>
          <p:nvPr/>
        </p:nvSpPr>
        <p:spPr>
          <a:xfrm>
            <a:off x="6858000" y="2377440"/>
            <a:ext cx="365760" cy="365760"/>
          </a:xfrm>
          <a:prstGeom prst="rect">
            <a:avLst/>
          </a:prstGeom>
          <a:noFill/>
          <a:ln/>
        </p:spPr>
        <p:txBody>
          <a:bodyPr wrap="square" rtlCol="0" anchor="ctr"/>
          <a:lstStyle/>
          <a:p>
            <a:pPr marL="0" indent="0" algn="ctr">
              <a:buNone/>
            </a:pPr>
            <a:r>
              <a:rPr lang="en-US" sz="2000" dirty="0">
                <a:solidFill>
                  <a:srgbClr val="C8A962"/>
                </a:solidFill>
                <a:latin typeface="Arial" pitchFamily="34" charset="0"/>
                <a:ea typeface="Arial" pitchFamily="34" charset="-122"/>
                <a:cs typeface="Arial" pitchFamily="34" charset="-120"/>
              </a:rPr>
              <a:t>→</a:t>
            </a:r>
            <a:endParaRPr lang="en-US"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1B4C"/>
          </a:solidFill>
          <a:ln/>
        </p:spPr>
        <p:txBody>
          <a:bodyPr/>
          <a:lstStyle/>
          <a:p>
            <a:endParaRPr lang="en-VN"/>
          </a:p>
        </p:txBody>
      </p:sp>
      <p:sp>
        <p:nvSpPr>
          <p:cNvPr id="3" name="Shape 1"/>
          <p:cNvSpPr/>
          <p:nvPr/>
        </p:nvSpPr>
        <p:spPr>
          <a:xfrm>
            <a:off x="0" y="914400"/>
            <a:ext cx="9144000" cy="36576"/>
          </a:xfrm>
          <a:prstGeom prst="rect">
            <a:avLst/>
          </a:prstGeom>
          <a:solidFill>
            <a:srgbClr val="C8A962"/>
          </a:solidFill>
          <a:ln/>
        </p:spPr>
        <p:txBody>
          <a:bodyPr/>
          <a:lstStyle/>
          <a:p>
            <a:endParaRPr lang="en-VN"/>
          </a:p>
        </p:txBody>
      </p:sp>
      <p:sp>
        <p:nvSpPr>
          <p:cNvPr id="4" name="Text 2"/>
          <p:cNvSpPr/>
          <p:nvPr/>
        </p:nvSpPr>
        <p:spPr>
          <a:xfrm>
            <a:off x="457200" y="0"/>
            <a:ext cx="8229600" cy="548640"/>
          </a:xfrm>
          <a:prstGeom prst="rect">
            <a:avLst/>
          </a:prstGeom>
          <a:noFill/>
          <a:ln/>
        </p:spPr>
        <p:txBody>
          <a:bodyPr wrap="square" rtlCol="0" anchor="b"/>
          <a:lstStyle/>
          <a:p>
            <a:pPr marL="0" indent="0">
              <a:buNone/>
            </a:pPr>
            <a:r>
              <a:rPr lang="en-US" sz="2400" b="1" dirty="0">
                <a:solidFill>
                  <a:srgbClr val="FFFFFF"/>
                </a:solidFill>
                <a:latin typeface="Arial" pitchFamily="34" charset="0"/>
                <a:ea typeface="Arial" pitchFamily="34" charset="-122"/>
                <a:cs typeface="Arial" pitchFamily="34" charset="-120"/>
              </a:rPr>
              <a:t>Thành phần &amp; Công cụ Chi tiết</a:t>
            </a:r>
            <a:endParaRPr lang="en-US" sz="2400" dirty="0"/>
          </a:p>
        </p:txBody>
      </p:sp>
      <p:sp>
        <p:nvSpPr>
          <p:cNvPr id="5" name="Text 3"/>
          <p:cNvSpPr/>
          <p:nvPr/>
        </p:nvSpPr>
        <p:spPr>
          <a:xfrm>
            <a:off x="457200" y="548640"/>
            <a:ext cx="8229600" cy="365760"/>
          </a:xfrm>
          <a:prstGeom prst="rect">
            <a:avLst/>
          </a:prstGeom>
          <a:noFill/>
          <a:ln/>
        </p:spPr>
        <p:txBody>
          <a:bodyPr wrap="square" rtlCol="0" anchor="t"/>
          <a:lstStyle/>
          <a:p>
            <a:pPr marL="0" indent="0">
              <a:buNone/>
            </a:pPr>
            <a:r>
              <a:rPr lang="en-US" sz="1300" dirty="0">
                <a:solidFill>
                  <a:srgbClr val="C8A962"/>
                </a:solidFill>
                <a:latin typeface="Arial" pitchFamily="34" charset="0"/>
                <a:ea typeface="Arial" pitchFamily="34" charset="-122"/>
                <a:cs typeface="Arial" pitchFamily="34" charset="-120"/>
              </a:rPr>
              <a:t>Components &amp; Technology Stack</a:t>
            </a:r>
            <a:endParaRPr lang="en-US" sz="1300" dirty="0"/>
          </a:p>
        </p:txBody>
      </p:sp>
      <p:sp>
        <p:nvSpPr>
          <p:cNvPr id="6" name="Shape 4"/>
          <p:cNvSpPr/>
          <p:nvPr/>
        </p:nvSpPr>
        <p:spPr>
          <a:xfrm>
            <a:off x="0" y="4709160"/>
            <a:ext cx="9144000" cy="434340"/>
          </a:xfrm>
          <a:prstGeom prst="rect">
            <a:avLst/>
          </a:prstGeom>
          <a:solidFill>
            <a:srgbClr val="0D1B4C"/>
          </a:solidFill>
          <a:ln/>
        </p:spPr>
        <p:txBody>
          <a:bodyPr/>
          <a:lstStyle/>
          <a:p>
            <a:endParaRPr lang="en-VN"/>
          </a:p>
        </p:txBody>
      </p:sp>
      <p:sp>
        <p:nvSpPr>
          <p:cNvPr id="7" name="Text 5"/>
          <p:cNvSpPr/>
          <p:nvPr/>
        </p:nvSpPr>
        <p:spPr>
          <a:xfrm>
            <a:off x="457200" y="4709160"/>
            <a:ext cx="6400800" cy="434340"/>
          </a:xfrm>
          <a:prstGeom prst="rect">
            <a:avLst/>
          </a:prstGeom>
          <a:noFill/>
          <a:ln/>
        </p:spPr>
        <p:txBody>
          <a:bodyPr wrap="square" rtlCol="0" anchor="ctr"/>
          <a:lstStyle/>
          <a:p>
            <a:pPr marL="0" indent="0">
              <a:buNone/>
            </a:pPr>
            <a:r>
              <a:rPr lang="en-US" sz="900" dirty="0">
                <a:solidFill>
                  <a:srgbClr val="C8A962"/>
                </a:solidFill>
                <a:latin typeface="Arial" pitchFamily="34" charset="0"/>
                <a:ea typeface="Arial" pitchFamily="34" charset="-122"/>
                <a:cs typeface="Arial" pitchFamily="34" charset="-120"/>
              </a:rPr>
              <a:t>Tiên Phong CDS  |  Novagroup  |  Hub Integration Platform</a:t>
            </a:r>
            <a:endParaRPr lang="en-US" sz="900" dirty="0"/>
          </a:p>
        </p:txBody>
      </p:sp>
      <p:sp>
        <p:nvSpPr>
          <p:cNvPr id="8" name="Text 6"/>
          <p:cNvSpPr/>
          <p:nvPr/>
        </p:nvSpPr>
        <p:spPr>
          <a:xfrm>
            <a:off x="7772400" y="4709160"/>
            <a:ext cx="914400" cy="434340"/>
          </a:xfrm>
          <a:prstGeom prst="rect">
            <a:avLst/>
          </a:prstGeom>
          <a:noFill/>
          <a:ln/>
        </p:spPr>
        <p:txBody>
          <a:bodyPr wrap="square" rtlCol="0" anchor="ctr"/>
          <a:lstStyle/>
          <a:p>
            <a:pPr marL="0" indent="0" algn="r">
              <a:buNone/>
            </a:pPr>
            <a:r>
              <a:rPr lang="en-US" sz="900" dirty="0">
                <a:solidFill>
                  <a:srgbClr val="FFFFFF"/>
                </a:solidFill>
                <a:latin typeface="Arial" pitchFamily="34" charset="0"/>
                <a:ea typeface="Arial" pitchFamily="34" charset="-122"/>
                <a:cs typeface="Arial" pitchFamily="34" charset="-120"/>
              </a:rPr>
              <a:t>9</a:t>
            </a:r>
            <a:endParaRPr lang="en-US" sz="900" dirty="0"/>
          </a:p>
        </p:txBody>
      </p:sp>
      <p:sp>
        <p:nvSpPr>
          <p:cNvPr id="9" name="Shape 7"/>
          <p:cNvSpPr/>
          <p:nvPr/>
        </p:nvSpPr>
        <p:spPr>
          <a:xfrm>
            <a:off x="228600" y="1143000"/>
            <a:ext cx="2743200" cy="1691640"/>
          </a:xfrm>
          <a:prstGeom prst="roundRect">
            <a:avLst>
              <a:gd name="adj" fmla="val 3243"/>
            </a:avLst>
          </a:prstGeom>
          <a:solidFill>
            <a:srgbClr val="EFF6FF"/>
          </a:solidFill>
          <a:ln/>
          <a:effectLst>
            <a:outerShdw blurRad="50800" dist="25400" dir="8100000" algn="bl" rotWithShape="0">
              <a:srgbClr val="000000">
                <a:alpha val="8000"/>
              </a:srgbClr>
            </a:outerShdw>
          </a:effectLst>
        </p:spPr>
        <p:txBody>
          <a:bodyPr/>
          <a:lstStyle/>
          <a:p>
            <a:endParaRPr lang="en-VN"/>
          </a:p>
        </p:txBody>
      </p:sp>
      <p:sp>
        <p:nvSpPr>
          <p:cNvPr id="10" name="Shape 8"/>
          <p:cNvSpPr/>
          <p:nvPr/>
        </p:nvSpPr>
        <p:spPr>
          <a:xfrm>
            <a:off x="228600" y="1143000"/>
            <a:ext cx="2743200" cy="320040"/>
          </a:xfrm>
          <a:prstGeom prst="rect">
            <a:avLst/>
          </a:prstGeom>
          <a:solidFill>
            <a:srgbClr val="2563EB"/>
          </a:solidFill>
          <a:ln/>
        </p:spPr>
        <p:txBody>
          <a:bodyPr/>
          <a:lstStyle/>
          <a:p>
            <a:endParaRPr lang="en-VN"/>
          </a:p>
        </p:txBody>
      </p:sp>
      <p:sp>
        <p:nvSpPr>
          <p:cNvPr id="11" name="Text 9"/>
          <p:cNvSpPr/>
          <p:nvPr/>
        </p:nvSpPr>
        <p:spPr>
          <a:xfrm>
            <a:off x="320040" y="1143000"/>
            <a:ext cx="2560320" cy="320040"/>
          </a:xfrm>
          <a:prstGeom prst="rect">
            <a:avLst/>
          </a:prstGeom>
          <a:noFill/>
          <a:ln/>
        </p:spPr>
        <p:txBody>
          <a:bodyPr wrap="square" rtlCol="0" anchor="ctr"/>
          <a:lstStyle/>
          <a:p>
            <a:pPr marL="0" indent="0">
              <a:buNone/>
            </a:pPr>
            <a:r>
              <a:rPr lang="en-US" sz="1000" b="1" dirty="0">
                <a:solidFill>
                  <a:srgbClr val="FFFFFF"/>
                </a:solidFill>
                <a:latin typeface="Arial" pitchFamily="34" charset="0"/>
                <a:ea typeface="Arial" pitchFamily="34" charset="-122"/>
                <a:cs typeface="Arial" pitchFamily="34" charset="-120"/>
              </a:rPr>
              <a:t>1. API Gateway</a:t>
            </a:r>
            <a:endParaRPr lang="en-US" sz="1000" dirty="0"/>
          </a:p>
        </p:txBody>
      </p:sp>
      <p:sp>
        <p:nvSpPr>
          <p:cNvPr id="12" name="Text 10"/>
          <p:cNvSpPr/>
          <p:nvPr/>
        </p:nvSpPr>
        <p:spPr>
          <a:xfrm>
            <a:off x="320040" y="1508760"/>
            <a:ext cx="2560320" cy="1234440"/>
          </a:xfrm>
          <a:prstGeom prst="rect">
            <a:avLst/>
          </a:prstGeom>
          <a:noFill/>
          <a:ln/>
        </p:spPr>
        <p:txBody>
          <a:bodyPr wrap="square" rtlCol="0" anchor="t"/>
          <a:lstStyle/>
          <a:p>
            <a:pPr marL="0" indent="0">
              <a:lnSpc>
                <a:spcPct val="125000"/>
              </a:lnSpc>
              <a:buNone/>
            </a:pPr>
            <a:r>
              <a:rPr lang="en-US" sz="850" dirty="0">
                <a:solidFill>
                  <a:srgbClr val="1F2937"/>
                </a:solidFill>
                <a:latin typeface="Arial" pitchFamily="34" charset="0"/>
                <a:ea typeface="Arial" pitchFamily="34" charset="-122"/>
                <a:cs typeface="Arial" pitchFamily="34" charset="-120"/>
              </a:rPr>
              <a:t>Kong Gateway / Apache APISIX</a:t>
            </a:r>
            <a:endParaRPr lang="en-US" sz="850" dirty="0"/>
          </a:p>
          <a:p>
            <a:pPr marL="0" indent="0">
              <a:lnSpc>
                <a:spcPct val="125000"/>
              </a:lnSpc>
              <a:buNone/>
            </a:pPr>
            <a:r>
              <a:rPr lang="en-US" sz="850" dirty="0">
                <a:solidFill>
                  <a:srgbClr val="1F2937"/>
                </a:solidFill>
                <a:latin typeface="Arial" pitchFamily="34" charset="0"/>
                <a:ea typeface="Arial" pitchFamily="34" charset="-122"/>
                <a:cs typeface="Arial" pitchFamily="34" charset="-120"/>
              </a:rPr>
              <a:t>• Routing, authentication, rate limiting</a:t>
            </a:r>
            <a:endParaRPr lang="en-US" sz="850" dirty="0"/>
          </a:p>
          <a:p>
            <a:pPr marL="0" indent="0">
              <a:lnSpc>
                <a:spcPct val="125000"/>
              </a:lnSpc>
              <a:buNone/>
            </a:pPr>
            <a:r>
              <a:rPr lang="en-US" sz="850" dirty="0">
                <a:solidFill>
                  <a:srgbClr val="1F2937"/>
                </a:solidFill>
                <a:latin typeface="Arial" pitchFamily="34" charset="0"/>
                <a:ea typeface="Arial" pitchFamily="34" charset="-122"/>
                <a:cs typeface="Arial" pitchFamily="34" charset="-120"/>
              </a:rPr>
              <a:t>• OAuth2/JWT via Keycloak</a:t>
            </a:r>
            <a:endParaRPr lang="en-US" sz="850" dirty="0"/>
          </a:p>
          <a:p>
            <a:pPr marL="0" indent="0">
              <a:lnSpc>
                <a:spcPct val="125000"/>
              </a:lnSpc>
              <a:buNone/>
            </a:pPr>
            <a:r>
              <a:rPr lang="en-US" sz="850" dirty="0">
                <a:solidFill>
                  <a:srgbClr val="1F2937"/>
                </a:solidFill>
                <a:latin typeface="Arial" pitchFamily="34" charset="0"/>
                <a:ea typeface="Arial" pitchFamily="34" charset="-122"/>
                <a:cs typeface="Arial" pitchFamily="34" charset="-120"/>
              </a:rPr>
              <a:t>• Request/Response transformation</a:t>
            </a:r>
            <a:endParaRPr lang="en-US" sz="850" dirty="0"/>
          </a:p>
          <a:p>
            <a:pPr marL="0" indent="0">
              <a:lnSpc>
                <a:spcPct val="125000"/>
              </a:lnSpc>
              <a:buNone/>
            </a:pPr>
            <a:r>
              <a:rPr lang="en-US" sz="850" dirty="0">
                <a:solidFill>
                  <a:srgbClr val="1F2937"/>
                </a:solidFill>
                <a:latin typeface="Arial" pitchFamily="34" charset="0"/>
                <a:ea typeface="Arial" pitchFamily="34" charset="-122"/>
                <a:cs typeface="Arial" pitchFamily="34" charset="-120"/>
              </a:rPr>
              <a:t>• Load balancing, circuit breaker</a:t>
            </a:r>
            <a:endParaRPr lang="en-US" sz="850" dirty="0"/>
          </a:p>
          <a:p>
            <a:pPr marL="0" indent="0">
              <a:lnSpc>
                <a:spcPct val="125000"/>
              </a:lnSpc>
              <a:buNone/>
            </a:pPr>
            <a:r>
              <a:rPr lang="en-US" sz="850" dirty="0">
                <a:solidFill>
                  <a:srgbClr val="1F2937"/>
                </a:solidFill>
                <a:latin typeface="Arial" pitchFamily="34" charset="0"/>
                <a:ea typeface="Arial" pitchFamily="34" charset="-122"/>
                <a:cs typeface="Arial" pitchFamily="34" charset="-120"/>
              </a:rPr>
              <a:t>• 100+ plugins mở rộng</a:t>
            </a:r>
            <a:endParaRPr lang="en-US" sz="850" dirty="0"/>
          </a:p>
        </p:txBody>
      </p:sp>
      <p:sp>
        <p:nvSpPr>
          <p:cNvPr id="13" name="Shape 11"/>
          <p:cNvSpPr/>
          <p:nvPr/>
        </p:nvSpPr>
        <p:spPr>
          <a:xfrm>
            <a:off x="3154680" y="1143000"/>
            <a:ext cx="2743200" cy="1691640"/>
          </a:xfrm>
          <a:prstGeom prst="roundRect">
            <a:avLst>
              <a:gd name="adj" fmla="val 3243"/>
            </a:avLst>
          </a:prstGeom>
          <a:solidFill>
            <a:srgbClr val="E0F7FA"/>
          </a:solidFill>
          <a:ln/>
          <a:effectLst>
            <a:outerShdw blurRad="50800" dist="25400" dir="8100000" algn="bl" rotWithShape="0">
              <a:srgbClr val="000000">
                <a:alpha val="8000"/>
              </a:srgbClr>
            </a:outerShdw>
          </a:effectLst>
        </p:spPr>
        <p:txBody>
          <a:bodyPr/>
          <a:lstStyle/>
          <a:p>
            <a:endParaRPr lang="en-VN"/>
          </a:p>
        </p:txBody>
      </p:sp>
      <p:sp>
        <p:nvSpPr>
          <p:cNvPr id="14" name="Shape 12"/>
          <p:cNvSpPr/>
          <p:nvPr/>
        </p:nvSpPr>
        <p:spPr>
          <a:xfrm>
            <a:off x="3154680" y="1143000"/>
            <a:ext cx="2743200" cy="320040"/>
          </a:xfrm>
          <a:prstGeom prst="rect">
            <a:avLst/>
          </a:prstGeom>
          <a:solidFill>
            <a:srgbClr val="0891B2"/>
          </a:solidFill>
          <a:ln/>
        </p:spPr>
        <p:txBody>
          <a:bodyPr/>
          <a:lstStyle/>
          <a:p>
            <a:endParaRPr lang="en-VN"/>
          </a:p>
        </p:txBody>
      </p:sp>
      <p:sp>
        <p:nvSpPr>
          <p:cNvPr id="15" name="Text 13"/>
          <p:cNvSpPr/>
          <p:nvPr/>
        </p:nvSpPr>
        <p:spPr>
          <a:xfrm>
            <a:off x="3246120" y="1143000"/>
            <a:ext cx="2560320" cy="320040"/>
          </a:xfrm>
          <a:prstGeom prst="rect">
            <a:avLst/>
          </a:prstGeom>
          <a:noFill/>
          <a:ln/>
        </p:spPr>
        <p:txBody>
          <a:bodyPr wrap="square" rtlCol="0" anchor="ctr"/>
          <a:lstStyle/>
          <a:p>
            <a:pPr marL="0" indent="0">
              <a:buNone/>
            </a:pPr>
            <a:r>
              <a:rPr lang="en-US" sz="1000" b="1" dirty="0">
                <a:solidFill>
                  <a:srgbClr val="FFFFFF"/>
                </a:solidFill>
                <a:latin typeface="Arial" pitchFamily="34" charset="0"/>
                <a:ea typeface="Arial" pitchFamily="34" charset="-122"/>
                <a:cs typeface="Arial" pitchFamily="34" charset="-120"/>
              </a:rPr>
              <a:t>2. Event Streaming</a:t>
            </a:r>
            <a:endParaRPr lang="en-US" sz="1000" dirty="0"/>
          </a:p>
        </p:txBody>
      </p:sp>
      <p:sp>
        <p:nvSpPr>
          <p:cNvPr id="16" name="Text 14"/>
          <p:cNvSpPr/>
          <p:nvPr/>
        </p:nvSpPr>
        <p:spPr>
          <a:xfrm>
            <a:off x="3246120" y="1508760"/>
            <a:ext cx="2560320" cy="1234440"/>
          </a:xfrm>
          <a:prstGeom prst="rect">
            <a:avLst/>
          </a:prstGeom>
          <a:noFill/>
          <a:ln/>
        </p:spPr>
        <p:txBody>
          <a:bodyPr wrap="square" rtlCol="0" anchor="t"/>
          <a:lstStyle/>
          <a:p>
            <a:pPr marL="0" indent="0">
              <a:lnSpc>
                <a:spcPct val="125000"/>
              </a:lnSpc>
              <a:buNone/>
            </a:pPr>
            <a:r>
              <a:rPr lang="en-US" sz="850" dirty="0">
                <a:solidFill>
                  <a:srgbClr val="1F2937"/>
                </a:solidFill>
                <a:latin typeface="Arial" pitchFamily="34" charset="0"/>
                <a:ea typeface="Arial" pitchFamily="34" charset="-122"/>
                <a:cs typeface="Arial" pitchFamily="34" charset="-120"/>
              </a:rPr>
              <a:t>Apache Kafka</a:t>
            </a:r>
            <a:endParaRPr lang="en-US" sz="850" dirty="0"/>
          </a:p>
          <a:p>
            <a:pPr marL="0" indent="0">
              <a:lnSpc>
                <a:spcPct val="125000"/>
              </a:lnSpc>
              <a:buNone/>
            </a:pPr>
            <a:r>
              <a:rPr lang="en-US" sz="850" dirty="0">
                <a:solidFill>
                  <a:srgbClr val="1F2937"/>
                </a:solidFill>
                <a:latin typeface="Arial" pitchFamily="34" charset="0"/>
                <a:ea typeface="Arial" pitchFamily="34" charset="-122"/>
                <a:cs typeface="Arial" pitchFamily="34" charset="-120"/>
              </a:rPr>
              <a:t>• Pub/Sub messaging real-time</a:t>
            </a:r>
            <a:endParaRPr lang="en-US" sz="850" dirty="0"/>
          </a:p>
          <a:p>
            <a:pPr marL="0" indent="0">
              <a:lnSpc>
                <a:spcPct val="125000"/>
              </a:lnSpc>
              <a:buNone/>
            </a:pPr>
            <a:r>
              <a:rPr lang="en-US" sz="850" dirty="0">
                <a:solidFill>
                  <a:srgbClr val="1F2937"/>
                </a:solidFill>
                <a:latin typeface="Arial" pitchFamily="34" charset="0"/>
                <a:ea typeface="Arial" pitchFamily="34" charset="-122"/>
                <a:cs typeface="Arial" pitchFamily="34" charset="-120"/>
              </a:rPr>
              <a:t>• Kafka Connect: 200+ connectors</a:t>
            </a:r>
            <a:endParaRPr lang="en-US" sz="850" dirty="0"/>
          </a:p>
          <a:p>
            <a:pPr marL="0" indent="0">
              <a:lnSpc>
                <a:spcPct val="125000"/>
              </a:lnSpc>
              <a:buNone/>
            </a:pPr>
            <a:r>
              <a:rPr lang="en-US" sz="850" dirty="0">
                <a:solidFill>
                  <a:srgbClr val="1F2937"/>
                </a:solidFill>
                <a:latin typeface="Arial" pitchFamily="34" charset="0"/>
                <a:ea typeface="Arial" pitchFamily="34" charset="-122"/>
                <a:cs typeface="Arial" pitchFamily="34" charset="-120"/>
              </a:rPr>
              <a:t>• Debezium CDC: capture thay đổi DB</a:t>
            </a:r>
            <a:endParaRPr lang="en-US" sz="850" dirty="0"/>
          </a:p>
          <a:p>
            <a:pPr marL="0" indent="0">
              <a:lnSpc>
                <a:spcPct val="125000"/>
              </a:lnSpc>
              <a:buNone/>
            </a:pPr>
            <a:r>
              <a:rPr lang="en-US" sz="850" dirty="0">
                <a:solidFill>
                  <a:srgbClr val="1F2937"/>
                </a:solidFill>
                <a:latin typeface="Arial" pitchFamily="34" charset="0"/>
                <a:ea typeface="Arial" pitchFamily="34" charset="-122"/>
                <a:cs typeface="Arial" pitchFamily="34" charset="-120"/>
              </a:rPr>
              <a:t>• ksqlDB: stream processing</a:t>
            </a:r>
            <a:endParaRPr lang="en-US" sz="850" dirty="0"/>
          </a:p>
          <a:p>
            <a:pPr marL="0" indent="0">
              <a:lnSpc>
                <a:spcPct val="125000"/>
              </a:lnSpc>
              <a:buNone/>
            </a:pPr>
            <a:r>
              <a:rPr lang="en-US" sz="850" dirty="0">
                <a:solidFill>
                  <a:srgbClr val="1F2937"/>
                </a:solidFill>
                <a:latin typeface="Arial" pitchFamily="34" charset="0"/>
                <a:ea typeface="Arial" pitchFamily="34" charset="-122"/>
                <a:cs typeface="Arial" pitchFamily="34" charset="-120"/>
              </a:rPr>
              <a:t>• Throughput: triệu msg/giây</a:t>
            </a:r>
            <a:endParaRPr lang="en-US" sz="850" dirty="0"/>
          </a:p>
        </p:txBody>
      </p:sp>
      <p:sp>
        <p:nvSpPr>
          <p:cNvPr id="17" name="Shape 15"/>
          <p:cNvSpPr/>
          <p:nvPr/>
        </p:nvSpPr>
        <p:spPr>
          <a:xfrm>
            <a:off x="6080760" y="1143000"/>
            <a:ext cx="2743200" cy="1691640"/>
          </a:xfrm>
          <a:prstGeom prst="roundRect">
            <a:avLst>
              <a:gd name="adj" fmla="val 3243"/>
            </a:avLst>
          </a:prstGeom>
          <a:solidFill>
            <a:srgbClr val="ECFDF5"/>
          </a:solidFill>
          <a:ln/>
          <a:effectLst>
            <a:outerShdw blurRad="50800" dist="25400" dir="8100000" algn="bl" rotWithShape="0">
              <a:srgbClr val="000000">
                <a:alpha val="8000"/>
              </a:srgbClr>
            </a:outerShdw>
          </a:effectLst>
        </p:spPr>
        <p:txBody>
          <a:bodyPr/>
          <a:lstStyle/>
          <a:p>
            <a:endParaRPr lang="en-VN"/>
          </a:p>
        </p:txBody>
      </p:sp>
      <p:sp>
        <p:nvSpPr>
          <p:cNvPr id="18" name="Shape 16"/>
          <p:cNvSpPr/>
          <p:nvPr/>
        </p:nvSpPr>
        <p:spPr>
          <a:xfrm>
            <a:off x="6080760" y="1143000"/>
            <a:ext cx="2743200" cy="320040"/>
          </a:xfrm>
          <a:prstGeom prst="rect">
            <a:avLst/>
          </a:prstGeom>
          <a:solidFill>
            <a:srgbClr val="059669"/>
          </a:solidFill>
          <a:ln/>
        </p:spPr>
        <p:txBody>
          <a:bodyPr/>
          <a:lstStyle/>
          <a:p>
            <a:endParaRPr lang="en-VN"/>
          </a:p>
        </p:txBody>
      </p:sp>
      <p:sp>
        <p:nvSpPr>
          <p:cNvPr id="19" name="Text 17"/>
          <p:cNvSpPr/>
          <p:nvPr/>
        </p:nvSpPr>
        <p:spPr>
          <a:xfrm>
            <a:off x="6172200" y="1143000"/>
            <a:ext cx="2560320" cy="320040"/>
          </a:xfrm>
          <a:prstGeom prst="rect">
            <a:avLst/>
          </a:prstGeom>
          <a:noFill/>
          <a:ln/>
        </p:spPr>
        <p:txBody>
          <a:bodyPr wrap="square" rtlCol="0" anchor="ctr"/>
          <a:lstStyle/>
          <a:p>
            <a:pPr marL="0" indent="0">
              <a:buNone/>
            </a:pPr>
            <a:r>
              <a:rPr lang="en-US" sz="1000" b="1" dirty="0">
                <a:solidFill>
                  <a:srgbClr val="FFFFFF"/>
                </a:solidFill>
                <a:latin typeface="Arial" pitchFamily="34" charset="0"/>
                <a:ea typeface="Arial" pitchFamily="34" charset="-122"/>
                <a:cs typeface="Arial" pitchFamily="34" charset="-120"/>
              </a:rPr>
              <a:t>3. Workflow Engine</a:t>
            </a:r>
            <a:endParaRPr lang="en-US" sz="1000" dirty="0"/>
          </a:p>
        </p:txBody>
      </p:sp>
      <p:sp>
        <p:nvSpPr>
          <p:cNvPr id="20" name="Text 18"/>
          <p:cNvSpPr/>
          <p:nvPr/>
        </p:nvSpPr>
        <p:spPr>
          <a:xfrm>
            <a:off x="6172200" y="1508760"/>
            <a:ext cx="2560320" cy="1234440"/>
          </a:xfrm>
          <a:prstGeom prst="rect">
            <a:avLst/>
          </a:prstGeom>
          <a:noFill/>
          <a:ln/>
        </p:spPr>
        <p:txBody>
          <a:bodyPr wrap="square" rtlCol="0" anchor="t"/>
          <a:lstStyle/>
          <a:p>
            <a:pPr marL="0" indent="0">
              <a:lnSpc>
                <a:spcPct val="125000"/>
              </a:lnSpc>
              <a:buNone/>
            </a:pPr>
            <a:r>
              <a:rPr lang="en-US" sz="850" dirty="0">
                <a:solidFill>
                  <a:srgbClr val="1F2937"/>
                </a:solidFill>
                <a:latin typeface="Arial" pitchFamily="34" charset="0"/>
                <a:ea typeface="Arial" pitchFamily="34" charset="-122"/>
                <a:cs typeface="Arial" pitchFamily="34" charset="-120"/>
              </a:rPr>
              <a:t>n8n (Self-hosted)</a:t>
            </a:r>
            <a:endParaRPr lang="en-US" sz="850" dirty="0"/>
          </a:p>
          <a:p>
            <a:pPr marL="0" indent="0">
              <a:lnSpc>
                <a:spcPct val="125000"/>
              </a:lnSpc>
              <a:buNone/>
            </a:pPr>
            <a:r>
              <a:rPr lang="en-US" sz="850" dirty="0">
                <a:solidFill>
                  <a:srgbClr val="1F2937"/>
                </a:solidFill>
                <a:latin typeface="Arial" pitchFamily="34" charset="0"/>
                <a:ea typeface="Arial" pitchFamily="34" charset="-122"/>
                <a:cs typeface="Arial" pitchFamily="34" charset="-120"/>
              </a:rPr>
              <a:t>• Visual workflow builder</a:t>
            </a:r>
            <a:endParaRPr lang="en-US" sz="850" dirty="0"/>
          </a:p>
          <a:p>
            <a:pPr marL="0" indent="0">
              <a:lnSpc>
                <a:spcPct val="125000"/>
              </a:lnSpc>
              <a:buNone/>
            </a:pPr>
            <a:r>
              <a:rPr lang="en-US" sz="850" dirty="0">
                <a:solidFill>
                  <a:srgbClr val="1F2937"/>
                </a:solidFill>
                <a:latin typeface="Arial" pitchFamily="34" charset="0"/>
                <a:ea typeface="Arial" pitchFamily="34" charset="-122"/>
                <a:cs typeface="Arial" pitchFamily="34" charset="-120"/>
              </a:rPr>
              <a:t>• 400+ integrations có sẵn</a:t>
            </a:r>
            <a:endParaRPr lang="en-US" sz="850" dirty="0"/>
          </a:p>
          <a:p>
            <a:pPr marL="0" indent="0">
              <a:lnSpc>
                <a:spcPct val="125000"/>
              </a:lnSpc>
              <a:buNone/>
            </a:pPr>
            <a:r>
              <a:rPr lang="en-US" sz="850" dirty="0">
                <a:solidFill>
                  <a:srgbClr val="1F2937"/>
                </a:solidFill>
                <a:latin typeface="Arial" pitchFamily="34" charset="0"/>
                <a:ea typeface="Arial" pitchFamily="34" charset="-122"/>
                <a:cs typeface="Arial" pitchFamily="34" charset="-120"/>
              </a:rPr>
              <a:t>• Custom node (TypeScript)</a:t>
            </a:r>
            <a:endParaRPr lang="en-US" sz="850" dirty="0"/>
          </a:p>
          <a:p>
            <a:pPr marL="0" indent="0">
              <a:lnSpc>
                <a:spcPct val="125000"/>
              </a:lnSpc>
              <a:buNone/>
            </a:pPr>
            <a:r>
              <a:rPr lang="en-US" sz="850" dirty="0">
                <a:solidFill>
                  <a:srgbClr val="1F2937"/>
                </a:solidFill>
                <a:latin typeface="Arial" pitchFamily="34" charset="0"/>
                <a:ea typeface="Arial" pitchFamily="34" charset="-122"/>
                <a:cs typeface="Arial" pitchFamily="34" charset="-120"/>
              </a:rPr>
              <a:t>• Error handling, retry logic</a:t>
            </a:r>
            <a:endParaRPr lang="en-US" sz="850" dirty="0"/>
          </a:p>
          <a:p>
            <a:pPr marL="0" indent="0">
              <a:lnSpc>
                <a:spcPct val="125000"/>
              </a:lnSpc>
              <a:buNone/>
            </a:pPr>
            <a:r>
              <a:rPr lang="en-US" sz="850" dirty="0">
                <a:solidFill>
                  <a:srgbClr val="1F2937"/>
                </a:solidFill>
                <a:latin typeface="Arial" pitchFamily="34" charset="0"/>
                <a:ea typeface="Arial" pitchFamily="34" charset="-122"/>
                <a:cs typeface="Arial" pitchFamily="34" charset="-120"/>
              </a:rPr>
              <a:t>• Scheduling &amp; webhooks</a:t>
            </a:r>
            <a:endParaRPr lang="en-US" sz="850" dirty="0"/>
          </a:p>
        </p:txBody>
      </p:sp>
      <p:sp>
        <p:nvSpPr>
          <p:cNvPr id="21" name="Shape 19"/>
          <p:cNvSpPr/>
          <p:nvPr/>
        </p:nvSpPr>
        <p:spPr>
          <a:xfrm>
            <a:off x="228600" y="2971800"/>
            <a:ext cx="2743200" cy="1691640"/>
          </a:xfrm>
          <a:prstGeom prst="roundRect">
            <a:avLst>
              <a:gd name="adj" fmla="val 3243"/>
            </a:avLst>
          </a:prstGeom>
          <a:solidFill>
            <a:srgbClr val="FFF7ED"/>
          </a:solidFill>
          <a:ln/>
          <a:effectLst>
            <a:outerShdw blurRad="50800" dist="25400" dir="8100000" algn="bl" rotWithShape="0">
              <a:srgbClr val="000000">
                <a:alpha val="8000"/>
              </a:srgbClr>
            </a:outerShdw>
          </a:effectLst>
        </p:spPr>
        <p:txBody>
          <a:bodyPr/>
          <a:lstStyle/>
          <a:p>
            <a:endParaRPr lang="en-VN"/>
          </a:p>
        </p:txBody>
      </p:sp>
      <p:sp>
        <p:nvSpPr>
          <p:cNvPr id="22" name="Shape 20"/>
          <p:cNvSpPr/>
          <p:nvPr/>
        </p:nvSpPr>
        <p:spPr>
          <a:xfrm>
            <a:off x="228600" y="2971800"/>
            <a:ext cx="2743200" cy="320040"/>
          </a:xfrm>
          <a:prstGeom prst="rect">
            <a:avLst/>
          </a:prstGeom>
          <a:solidFill>
            <a:srgbClr val="EA580C"/>
          </a:solidFill>
          <a:ln/>
        </p:spPr>
        <p:txBody>
          <a:bodyPr/>
          <a:lstStyle/>
          <a:p>
            <a:endParaRPr lang="en-VN"/>
          </a:p>
        </p:txBody>
      </p:sp>
      <p:sp>
        <p:nvSpPr>
          <p:cNvPr id="23" name="Text 21"/>
          <p:cNvSpPr/>
          <p:nvPr/>
        </p:nvSpPr>
        <p:spPr>
          <a:xfrm>
            <a:off x="320040" y="2971800"/>
            <a:ext cx="2560320" cy="320040"/>
          </a:xfrm>
          <a:prstGeom prst="rect">
            <a:avLst/>
          </a:prstGeom>
          <a:noFill/>
          <a:ln/>
        </p:spPr>
        <p:txBody>
          <a:bodyPr wrap="square" rtlCol="0" anchor="ctr"/>
          <a:lstStyle/>
          <a:p>
            <a:pPr marL="0" indent="0">
              <a:buNone/>
            </a:pPr>
            <a:r>
              <a:rPr lang="en-US" sz="1000" b="1" dirty="0">
                <a:solidFill>
                  <a:srgbClr val="FFFFFF"/>
                </a:solidFill>
                <a:latin typeface="Arial" pitchFamily="34" charset="0"/>
                <a:ea typeface="Arial" pitchFamily="34" charset="-122"/>
                <a:cs typeface="Arial" pitchFamily="34" charset="-120"/>
              </a:rPr>
              <a:t>4. Data Integration</a:t>
            </a:r>
            <a:endParaRPr lang="en-US" sz="1000" dirty="0"/>
          </a:p>
        </p:txBody>
      </p:sp>
      <p:sp>
        <p:nvSpPr>
          <p:cNvPr id="24" name="Text 22"/>
          <p:cNvSpPr/>
          <p:nvPr/>
        </p:nvSpPr>
        <p:spPr>
          <a:xfrm>
            <a:off x="320040" y="3337560"/>
            <a:ext cx="2560320" cy="1234440"/>
          </a:xfrm>
          <a:prstGeom prst="rect">
            <a:avLst/>
          </a:prstGeom>
          <a:noFill/>
          <a:ln/>
        </p:spPr>
        <p:txBody>
          <a:bodyPr wrap="square" rtlCol="0" anchor="t"/>
          <a:lstStyle/>
          <a:p>
            <a:pPr marL="0" indent="0">
              <a:lnSpc>
                <a:spcPct val="125000"/>
              </a:lnSpc>
              <a:buNone/>
            </a:pPr>
            <a:r>
              <a:rPr lang="en-US" sz="850" dirty="0">
                <a:solidFill>
                  <a:srgbClr val="1F2937"/>
                </a:solidFill>
                <a:latin typeface="Arial" pitchFamily="34" charset="0"/>
                <a:ea typeface="Arial" pitchFamily="34" charset="-122"/>
                <a:cs typeface="Arial" pitchFamily="34" charset="-120"/>
              </a:rPr>
              <a:t>Apache Camel</a:t>
            </a:r>
            <a:endParaRPr lang="en-US" sz="850" dirty="0"/>
          </a:p>
          <a:p>
            <a:pPr marL="0" indent="0">
              <a:lnSpc>
                <a:spcPct val="125000"/>
              </a:lnSpc>
              <a:buNone/>
            </a:pPr>
            <a:r>
              <a:rPr lang="en-US" sz="850" dirty="0">
                <a:solidFill>
                  <a:srgbClr val="1F2937"/>
                </a:solidFill>
                <a:latin typeface="Arial" pitchFamily="34" charset="0"/>
                <a:ea typeface="Arial" pitchFamily="34" charset="-122"/>
                <a:cs typeface="Arial" pitchFamily="34" charset="-120"/>
              </a:rPr>
              <a:t>• 300+ components</a:t>
            </a:r>
            <a:endParaRPr lang="en-US" sz="850" dirty="0"/>
          </a:p>
          <a:p>
            <a:pPr marL="0" indent="0">
              <a:lnSpc>
                <a:spcPct val="125000"/>
              </a:lnSpc>
              <a:buNone/>
            </a:pPr>
            <a:r>
              <a:rPr lang="en-US" sz="850" dirty="0">
                <a:solidFill>
                  <a:srgbClr val="1F2937"/>
                </a:solidFill>
                <a:latin typeface="Arial" pitchFamily="34" charset="0"/>
                <a:ea typeface="Arial" pitchFamily="34" charset="-122"/>
                <a:cs typeface="Arial" pitchFamily="34" charset="-120"/>
              </a:rPr>
              <a:t>• Enterprise Integration Patterns</a:t>
            </a:r>
            <a:endParaRPr lang="en-US" sz="850" dirty="0"/>
          </a:p>
          <a:p>
            <a:pPr marL="0" indent="0">
              <a:lnSpc>
                <a:spcPct val="125000"/>
              </a:lnSpc>
              <a:buNone/>
            </a:pPr>
            <a:r>
              <a:rPr lang="en-US" sz="850" dirty="0">
                <a:solidFill>
                  <a:srgbClr val="1F2937"/>
                </a:solidFill>
                <a:latin typeface="Arial" pitchFamily="34" charset="0"/>
                <a:ea typeface="Arial" pitchFamily="34" charset="-122"/>
                <a:cs typeface="Arial" pitchFamily="34" charset="-120"/>
              </a:rPr>
              <a:t>• XML ↔ JSON ↔ CSV transform</a:t>
            </a:r>
            <a:endParaRPr lang="en-US" sz="850" dirty="0"/>
          </a:p>
          <a:p>
            <a:pPr marL="0" indent="0">
              <a:lnSpc>
                <a:spcPct val="125000"/>
              </a:lnSpc>
              <a:buNone/>
            </a:pPr>
            <a:r>
              <a:rPr lang="en-US" sz="850" dirty="0">
                <a:solidFill>
                  <a:srgbClr val="1F2937"/>
                </a:solidFill>
                <a:latin typeface="Arial" pitchFamily="34" charset="0"/>
                <a:ea typeface="Arial" pitchFamily="34" charset="-122"/>
                <a:cs typeface="Arial" pitchFamily="34" charset="-120"/>
              </a:rPr>
              <a:t>• Legacy system adapter</a:t>
            </a:r>
            <a:endParaRPr lang="en-US" sz="850" dirty="0"/>
          </a:p>
          <a:p>
            <a:pPr marL="0" indent="0">
              <a:lnSpc>
                <a:spcPct val="125000"/>
              </a:lnSpc>
              <a:buNone/>
            </a:pPr>
            <a:r>
              <a:rPr lang="en-US" sz="850" dirty="0">
                <a:solidFill>
                  <a:srgbClr val="1F2937"/>
                </a:solidFill>
                <a:latin typeface="Arial" pitchFamily="34" charset="0"/>
                <a:ea typeface="Arial" pitchFamily="34" charset="-122"/>
                <a:cs typeface="Arial" pitchFamily="34" charset="-120"/>
              </a:rPr>
              <a:t>• High-performance pipeline</a:t>
            </a:r>
            <a:endParaRPr lang="en-US" sz="850" dirty="0"/>
          </a:p>
        </p:txBody>
      </p:sp>
      <p:sp>
        <p:nvSpPr>
          <p:cNvPr id="25" name="Shape 23"/>
          <p:cNvSpPr/>
          <p:nvPr/>
        </p:nvSpPr>
        <p:spPr>
          <a:xfrm>
            <a:off x="3154680" y="2971800"/>
            <a:ext cx="2743200" cy="1691640"/>
          </a:xfrm>
          <a:prstGeom prst="roundRect">
            <a:avLst>
              <a:gd name="adj" fmla="val 3243"/>
            </a:avLst>
          </a:prstGeom>
          <a:solidFill>
            <a:srgbClr val="FEF2F2"/>
          </a:solidFill>
          <a:ln/>
          <a:effectLst>
            <a:outerShdw blurRad="50800" dist="25400" dir="8100000" algn="bl" rotWithShape="0">
              <a:srgbClr val="000000">
                <a:alpha val="8000"/>
              </a:srgbClr>
            </a:outerShdw>
          </a:effectLst>
        </p:spPr>
        <p:txBody>
          <a:bodyPr/>
          <a:lstStyle/>
          <a:p>
            <a:endParaRPr lang="en-VN"/>
          </a:p>
        </p:txBody>
      </p:sp>
      <p:sp>
        <p:nvSpPr>
          <p:cNvPr id="26" name="Shape 24"/>
          <p:cNvSpPr/>
          <p:nvPr/>
        </p:nvSpPr>
        <p:spPr>
          <a:xfrm>
            <a:off x="3154680" y="2971800"/>
            <a:ext cx="2743200" cy="320040"/>
          </a:xfrm>
          <a:prstGeom prst="rect">
            <a:avLst/>
          </a:prstGeom>
          <a:solidFill>
            <a:srgbClr val="DC2626"/>
          </a:solidFill>
          <a:ln/>
        </p:spPr>
        <p:txBody>
          <a:bodyPr/>
          <a:lstStyle/>
          <a:p>
            <a:endParaRPr lang="en-VN"/>
          </a:p>
        </p:txBody>
      </p:sp>
      <p:sp>
        <p:nvSpPr>
          <p:cNvPr id="27" name="Text 25"/>
          <p:cNvSpPr/>
          <p:nvPr/>
        </p:nvSpPr>
        <p:spPr>
          <a:xfrm>
            <a:off x="3246120" y="2971800"/>
            <a:ext cx="2560320" cy="320040"/>
          </a:xfrm>
          <a:prstGeom prst="rect">
            <a:avLst/>
          </a:prstGeom>
          <a:noFill/>
          <a:ln/>
        </p:spPr>
        <p:txBody>
          <a:bodyPr wrap="square" rtlCol="0" anchor="ctr"/>
          <a:lstStyle/>
          <a:p>
            <a:pPr marL="0" indent="0">
              <a:buNone/>
            </a:pPr>
            <a:r>
              <a:rPr lang="en-US" sz="1000" b="1" dirty="0">
                <a:solidFill>
                  <a:srgbClr val="FFFFFF"/>
                </a:solidFill>
                <a:latin typeface="Arial" pitchFamily="34" charset="0"/>
                <a:ea typeface="Arial" pitchFamily="34" charset="-122"/>
                <a:cs typeface="Arial" pitchFamily="34" charset="-120"/>
              </a:rPr>
              <a:t>5. Security &amp; IAM</a:t>
            </a:r>
            <a:endParaRPr lang="en-US" sz="1000" dirty="0"/>
          </a:p>
        </p:txBody>
      </p:sp>
      <p:sp>
        <p:nvSpPr>
          <p:cNvPr id="28" name="Text 26"/>
          <p:cNvSpPr/>
          <p:nvPr/>
        </p:nvSpPr>
        <p:spPr>
          <a:xfrm>
            <a:off x="3246120" y="3337560"/>
            <a:ext cx="2560320" cy="1234440"/>
          </a:xfrm>
          <a:prstGeom prst="rect">
            <a:avLst/>
          </a:prstGeom>
          <a:noFill/>
          <a:ln/>
        </p:spPr>
        <p:txBody>
          <a:bodyPr wrap="square" rtlCol="0" anchor="t"/>
          <a:lstStyle/>
          <a:p>
            <a:pPr marL="0" indent="0">
              <a:lnSpc>
                <a:spcPct val="125000"/>
              </a:lnSpc>
              <a:buNone/>
            </a:pPr>
            <a:r>
              <a:rPr lang="en-US" sz="850" dirty="0">
                <a:solidFill>
                  <a:srgbClr val="1F2937"/>
                </a:solidFill>
                <a:latin typeface="Arial" pitchFamily="34" charset="0"/>
                <a:ea typeface="Arial" pitchFamily="34" charset="-122"/>
                <a:cs typeface="Arial" pitchFamily="34" charset="-120"/>
              </a:rPr>
              <a:t>Keycloak + HashiCorp Vault</a:t>
            </a:r>
            <a:endParaRPr lang="en-US" sz="850" dirty="0"/>
          </a:p>
          <a:p>
            <a:pPr marL="0" indent="0">
              <a:lnSpc>
                <a:spcPct val="125000"/>
              </a:lnSpc>
              <a:buNone/>
            </a:pPr>
            <a:r>
              <a:rPr lang="en-US" sz="850" dirty="0">
                <a:solidFill>
                  <a:srgbClr val="1F2937"/>
                </a:solidFill>
                <a:latin typeface="Arial" pitchFamily="34" charset="0"/>
                <a:ea typeface="Arial" pitchFamily="34" charset="-122"/>
                <a:cs typeface="Arial" pitchFamily="34" charset="-120"/>
              </a:rPr>
              <a:t>• Single Sign-On (SSO) toàn tập đoàn</a:t>
            </a:r>
            <a:endParaRPr lang="en-US" sz="850" dirty="0"/>
          </a:p>
          <a:p>
            <a:pPr marL="0" indent="0">
              <a:lnSpc>
                <a:spcPct val="125000"/>
              </a:lnSpc>
              <a:buNone/>
            </a:pPr>
            <a:r>
              <a:rPr lang="en-US" sz="850" dirty="0">
                <a:solidFill>
                  <a:srgbClr val="1F2937"/>
                </a:solidFill>
                <a:latin typeface="Arial" pitchFamily="34" charset="0"/>
                <a:ea typeface="Arial" pitchFamily="34" charset="-122"/>
                <a:cs typeface="Arial" pitchFamily="34" charset="-120"/>
              </a:rPr>
              <a:t>• OAuth 2.0, OIDC, SAML 2.0</a:t>
            </a:r>
            <a:endParaRPr lang="en-US" sz="850" dirty="0"/>
          </a:p>
          <a:p>
            <a:pPr marL="0" indent="0">
              <a:lnSpc>
                <a:spcPct val="125000"/>
              </a:lnSpc>
              <a:buNone/>
            </a:pPr>
            <a:r>
              <a:rPr lang="en-US" sz="850" dirty="0">
                <a:solidFill>
                  <a:srgbClr val="1F2937"/>
                </a:solidFill>
                <a:latin typeface="Arial" pitchFamily="34" charset="0"/>
                <a:ea typeface="Arial" pitchFamily="34" charset="-122"/>
                <a:cs typeface="Arial" pitchFamily="34" charset="-120"/>
              </a:rPr>
              <a:t>• LDAP/Active Directory integration</a:t>
            </a:r>
            <a:endParaRPr lang="en-US" sz="850" dirty="0"/>
          </a:p>
          <a:p>
            <a:pPr marL="0" indent="0">
              <a:lnSpc>
                <a:spcPct val="125000"/>
              </a:lnSpc>
              <a:buNone/>
            </a:pPr>
            <a:r>
              <a:rPr lang="en-US" sz="850" dirty="0">
                <a:solidFill>
                  <a:srgbClr val="1F2937"/>
                </a:solidFill>
                <a:latin typeface="Arial" pitchFamily="34" charset="0"/>
                <a:ea typeface="Arial" pitchFamily="34" charset="-122"/>
                <a:cs typeface="Arial" pitchFamily="34" charset="-120"/>
              </a:rPr>
              <a:t>• Secret management &amp; rotation</a:t>
            </a:r>
            <a:endParaRPr lang="en-US" sz="850" dirty="0"/>
          </a:p>
          <a:p>
            <a:pPr marL="0" indent="0">
              <a:lnSpc>
                <a:spcPct val="125000"/>
              </a:lnSpc>
              <a:buNone/>
            </a:pPr>
            <a:r>
              <a:rPr lang="en-US" sz="850" dirty="0">
                <a:solidFill>
                  <a:srgbClr val="1F2937"/>
                </a:solidFill>
                <a:latin typeface="Arial" pitchFamily="34" charset="0"/>
                <a:ea typeface="Arial" pitchFamily="34" charset="-122"/>
                <a:cs typeface="Arial" pitchFamily="34" charset="-120"/>
              </a:rPr>
              <a:t>• mTLS service-to-service</a:t>
            </a:r>
            <a:endParaRPr lang="en-US" sz="850" dirty="0"/>
          </a:p>
        </p:txBody>
      </p:sp>
      <p:sp>
        <p:nvSpPr>
          <p:cNvPr id="29" name="Shape 27"/>
          <p:cNvSpPr/>
          <p:nvPr/>
        </p:nvSpPr>
        <p:spPr>
          <a:xfrm>
            <a:off x="6080760" y="2971800"/>
            <a:ext cx="2743200" cy="1691640"/>
          </a:xfrm>
          <a:prstGeom prst="roundRect">
            <a:avLst>
              <a:gd name="adj" fmla="val 3243"/>
            </a:avLst>
          </a:prstGeom>
          <a:solidFill>
            <a:srgbClr val="EFF6FF"/>
          </a:solidFill>
          <a:ln/>
          <a:effectLst>
            <a:outerShdw blurRad="50800" dist="25400" dir="8100000" algn="bl" rotWithShape="0">
              <a:srgbClr val="000000">
                <a:alpha val="8000"/>
              </a:srgbClr>
            </a:outerShdw>
          </a:effectLst>
        </p:spPr>
        <p:txBody>
          <a:bodyPr/>
          <a:lstStyle/>
          <a:p>
            <a:endParaRPr lang="en-VN"/>
          </a:p>
        </p:txBody>
      </p:sp>
      <p:sp>
        <p:nvSpPr>
          <p:cNvPr id="30" name="Shape 28"/>
          <p:cNvSpPr/>
          <p:nvPr/>
        </p:nvSpPr>
        <p:spPr>
          <a:xfrm>
            <a:off x="6080760" y="2971800"/>
            <a:ext cx="2743200" cy="320040"/>
          </a:xfrm>
          <a:prstGeom prst="rect">
            <a:avLst/>
          </a:prstGeom>
          <a:solidFill>
            <a:srgbClr val="0D1B4C"/>
          </a:solidFill>
          <a:ln/>
        </p:spPr>
        <p:txBody>
          <a:bodyPr/>
          <a:lstStyle/>
          <a:p>
            <a:endParaRPr lang="en-VN"/>
          </a:p>
        </p:txBody>
      </p:sp>
      <p:sp>
        <p:nvSpPr>
          <p:cNvPr id="31" name="Text 29"/>
          <p:cNvSpPr/>
          <p:nvPr/>
        </p:nvSpPr>
        <p:spPr>
          <a:xfrm>
            <a:off x="6172200" y="2971800"/>
            <a:ext cx="2560320" cy="320040"/>
          </a:xfrm>
          <a:prstGeom prst="rect">
            <a:avLst/>
          </a:prstGeom>
          <a:noFill/>
          <a:ln/>
        </p:spPr>
        <p:txBody>
          <a:bodyPr wrap="square" rtlCol="0" anchor="ctr"/>
          <a:lstStyle/>
          <a:p>
            <a:pPr marL="0" indent="0">
              <a:buNone/>
            </a:pPr>
            <a:r>
              <a:rPr lang="en-US" sz="1000" b="1" dirty="0">
                <a:solidFill>
                  <a:srgbClr val="FFFFFF"/>
                </a:solidFill>
                <a:latin typeface="Arial" pitchFamily="34" charset="0"/>
                <a:ea typeface="Arial" pitchFamily="34" charset="-122"/>
                <a:cs typeface="Arial" pitchFamily="34" charset="-120"/>
              </a:rPr>
              <a:t>6. Observability</a:t>
            </a:r>
            <a:endParaRPr lang="en-US" sz="1000" dirty="0"/>
          </a:p>
        </p:txBody>
      </p:sp>
      <p:sp>
        <p:nvSpPr>
          <p:cNvPr id="32" name="Text 30"/>
          <p:cNvSpPr/>
          <p:nvPr/>
        </p:nvSpPr>
        <p:spPr>
          <a:xfrm>
            <a:off x="6172200" y="3337560"/>
            <a:ext cx="2560320" cy="1234440"/>
          </a:xfrm>
          <a:prstGeom prst="rect">
            <a:avLst/>
          </a:prstGeom>
          <a:noFill/>
          <a:ln/>
        </p:spPr>
        <p:txBody>
          <a:bodyPr wrap="square" rtlCol="0" anchor="t"/>
          <a:lstStyle/>
          <a:p>
            <a:pPr marL="0" indent="0">
              <a:lnSpc>
                <a:spcPct val="125000"/>
              </a:lnSpc>
              <a:buNone/>
            </a:pPr>
            <a:r>
              <a:rPr lang="en-US" sz="850" dirty="0">
                <a:solidFill>
                  <a:srgbClr val="1F2937"/>
                </a:solidFill>
                <a:latin typeface="Arial" pitchFamily="34" charset="0"/>
                <a:ea typeface="Arial" pitchFamily="34" charset="-122"/>
                <a:cs typeface="Arial" pitchFamily="34" charset="-120"/>
              </a:rPr>
              <a:t>Prometheus + Grafana + ELK</a:t>
            </a:r>
            <a:endParaRPr lang="en-US" sz="850" dirty="0"/>
          </a:p>
          <a:p>
            <a:pPr marL="0" indent="0">
              <a:lnSpc>
                <a:spcPct val="125000"/>
              </a:lnSpc>
              <a:buNone/>
            </a:pPr>
            <a:r>
              <a:rPr lang="en-US" sz="850" dirty="0">
                <a:solidFill>
                  <a:srgbClr val="1F2937"/>
                </a:solidFill>
                <a:latin typeface="Arial" pitchFamily="34" charset="0"/>
                <a:ea typeface="Arial" pitchFamily="34" charset="-122"/>
                <a:cs typeface="Arial" pitchFamily="34" charset="-120"/>
              </a:rPr>
              <a:t>• Metrics thu thập tự động</a:t>
            </a:r>
            <a:endParaRPr lang="en-US" sz="850" dirty="0"/>
          </a:p>
          <a:p>
            <a:pPr marL="0" indent="0">
              <a:lnSpc>
                <a:spcPct val="125000"/>
              </a:lnSpc>
              <a:buNone/>
            </a:pPr>
            <a:r>
              <a:rPr lang="en-US" sz="850" dirty="0">
                <a:solidFill>
                  <a:srgbClr val="1F2937"/>
                </a:solidFill>
                <a:latin typeface="Arial" pitchFamily="34" charset="0"/>
                <a:ea typeface="Arial" pitchFamily="34" charset="-122"/>
                <a:cs typeface="Arial" pitchFamily="34" charset="-120"/>
              </a:rPr>
              <a:t>• Custom dashboards per domain</a:t>
            </a:r>
            <a:endParaRPr lang="en-US" sz="850" dirty="0"/>
          </a:p>
          <a:p>
            <a:pPr marL="0" indent="0">
              <a:lnSpc>
                <a:spcPct val="125000"/>
              </a:lnSpc>
              <a:buNone/>
            </a:pPr>
            <a:r>
              <a:rPr lang="en-US" sz="850" dirty="0">
                <a:solidFill>
                  <a:srgbClr val="1F2937"/>
                </a:solidFill>
                <a:latin typeface="Arial" pitchFamily="34" charset="0"/>
                <a:ea typeface="Arial" pitchFamily="34" charset="-122"/>
                <a:cs typeface="Arial" pitchFamily="34" charset="-120"/>
              </a:rPr>
              <a:t>• Centralized logging (ELK Stack)</a:t>
            </a:r>
            <a:endParaRPr lang="en-US" sz="850" dirty="0"/>
          </a:p>
          <a:p>
            <a:pPr marL="0" indent="0">
              <a:lnSpc>
                <a:spcPct val="125000"/>
              </a:lnSpc>
              <a:buNone/>
            </a:pPr>
            <a:r>
              <a:rPr lang="en-US" sz="850" dirty="0">
                <a:solidFill>
                  <a:srgbClr val="1F2937"/>
                </a:solidFill>
                <a:latin typeface="Arial" pitchFamily="34" charset="0"/>
                <a:ea typeface="Arial" pitchFamily="34" charset="-122"/>
                <a:cs typeface="Arial" pitchFamily="34" charset="-120"/>
              </a:rPr>
              <a:t>• Distributed tracing (Jaeger)</a:t>
            </a:r>
            <a:endParaRPr lang="en-US" sz="850" dirty="0"/>
          </a:p>
          <a:p>
            <a:pPr marL="0" indent="0">
              <a:lnSpc>
                <a:spcPct val="125000"/>
              </a:lnSpc>
              <a:buNone/>
            </a:pPr>
            <a:r>
              <a:rPr lang="en-US" sz="850" dirty="0">
                <a:solidFill>
                  <a:srgbClr val="1F2937"/>
                </a:solidFill>
                <a:latin typeface="Arial" pitchFamily="34" charset="0"/>
                <a:ea typeface="Arial" pitchFamily="34" charset="-122"/>
                <a:cs typeface="Arial" pitchFamily="34" charset="-120"/>
              </a:rPr>
              <a:t>• Alerting &amp; on-call rotation</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1B4C"/>
          </a:solidFill>
          <a:ln/>
        </p:spPr>
        <p:txBody>
          <a:bodyPr/>
          <a:lstStyle/>
          <a:p>
            <a:endParaRPr lang="en-VN"/>
          </a:p>
        </p:txBody>
      </p:sp>
      <p:sp>
        <p:nvSpPr>
          <p:cNvPr id="3" name="Shape 1"/>
          <p:cNvSpPr/>
          <p:nvPr/>
        </p:nvSpPr>
        <p:spPr>
          <a:xfrm>
            <a:off x="0" y="914400"/>
            <a:ext cx="9144000" cy="36576"/>
          </a:xfrm>
          <a:prstGeom prst="rect">
            <a:avLst/>
          </a:prstGeom>
          <a:solidFill>
            <a:srgbClr val="C8A962"/>
          </a:solidFill>
          <a:ln/>
        </p:spPr>
        <p:txBody>
          <a:bodyPr/>
          <a:lstStyle/>
          <a:p>
            <a:endParaRPr lang="en-VN"/>
          </a:p>
        </p:txBody>
      </p:sp>
      <p:sp>
        <p:nvSpPr>
          <p:cNvPr id="4" name="Text 2"/>
          <p:cNvSpPr/>
          <p:nvPr/>
        </p:nvSpPr>
        <p:spPr>
          <a:xfrm>
            <a:off x="457200" y="0"/>
            <a:ext cx="8229600" cy="548640"/>
          </a:xfrm>
          <a:prstGeom prst="rect">
            <a:avLst/>
          </a:prstGeom>
          <a:noFill/>
          <a:ln/>
        </p:spPr>
        <p:txBody>
          <a:bodyPr wrap="square" rtlCol="0" anchor="b"/>
          <a:lstStyle/>
          <a:p>
            <a:pPr marL="0" indent="0">
              <a:buNone/>
            </a:pPr>
            <a:r>
              <a:rPr lang="en-US" sz="2400" b="1" dirty="0">
                <a:solidFill>
                  <a:srgbClr val="FFFFFF"/>
                </a:solidFill>
                <a:latin typeface="Arial" pitchFamily="34" charset="0"/>
                <a:ea typeface="Arial" pitchFamily="34" charset="-122"/>
                <a:cs typeface="Arial" pitchFamily="34" charset="-120"/>
              </a:rPr>
              <a:t>Integration Patterns cho Novagroup</a:t>
            </a:r>
            <a:endParaRPr lang="en-US" sz="2400" dirty="0"/>
          </a:p>
        </p:txBody>
      </p:sp>
      <p:sp>
        <p:nvSpPr>
          <p:cNvPr id="5" name="Text 3"/>
          <p:cNvSpPr/>
          <p:nvPr/>
        </p:nvSpPr>
        <p:spPr>
          <a:xfrm>
            <a:off x="457200" y="548640"/>
            <a:ext cx="8229600" cy="365760"/>
          </a:xfrm>
          <a:prstGeom prst="rect">
            <a:avLst/>
          </a:prstGeom>
          <a:noFill/>
          <a:ln/>
        </p:spPr>
        <p:txBody>
          <a:bodyPr wrap="square" rtlCol="0" anchor="t"/>
          <a:lstStyle/>
          <a:p>
            <a:pPr marL="0" indent="0">
              <a:buNone/>
            </a:pPr>
            <a:r>
              <a:rPr lang="en-US" sz="1300" dirty="0">
                <a:solidFill>
                  <a:srgbClr val="C8A962"/>
                </a:solidFill>
                <a:latin typeface="Arial" pitchFamily="34" charset="0"/>
                <a:ea typeface="Arial" pitchFamily="34" charset="-122"/>
                <a:cs typeface="Arial" pitchFamily="34" charset="-120"/>
              </a:rPr>
              <a:t>Key Integration Use Cases</a:t>
            </a:r>
            <a:endParaRPr lang="en-US" sz="1300" dirty="0"/>
          </a:p>
        </p:txBody>
      </p:sp>
      <p:sp>
        <p:nvSpPr>
          <p:cNvPr id="6" name="Shape 4"/>
          <p:cNvSpPr/>
          <p:nvPr/>
        </p:nvSpPr>
        <p:spPr>
          <a:xfrm>
            <a:off x="0" y="4709160"/>
            <a:ext cx="9144000" cy="434340"/>
          </a:xfrm>
          <a:prstGeom prst="rect">
            <a:avLst/>
          </a:prstGeom>
          <a:solidFill>
            <a:srgbClr val="0D1B4C"/>
          </a:solidFill>
          <a:ln/>
        </p:spPr>
        <p:txBody>
          <a:bodyPr/>
          <a:lstStyle/>
          <a:p>
            <a:endParaRPr lang="en-VN"/>
          </a:p>
        </p:txBody>
      </p:sp>
      <p:sp>
        <p:nvSpPr>
          <p:cNvPr id="7" name="Text 5"/>
          <p:cNvSpPr/>
          <p:nvPr/>
        </p:nvSpPr>
        <p:spPr>
          <a:xfrm>
            <a:off x="457200" y="4709160"/>
            <a:ext cx="6400800" cy="434340"/>
          </a:xfrm>
          <a:prstGeom prst="rect">
            <a:avLst/>
          </a:prstGeom>
          <a:noFill/>
          <a:ln/>
        </p:spPr>
        <p:txBody>
          <a:bodyPr wrap="square" rtlCol="0" anchor="ctr"/>
          <a:lstStyle/>
          <a:p>
            <a:pPr marL="0" indent="0">
              <a:buNone/>
            </a:pPr>
            <a:r>
              <a:rPr lang="en-US" sz="900" dirty="0">
                <a:solidFill>
                  <a:srgbClr val="C8A962"/>
                </a:solidFill>
                <a:latin typeface="Arial" pitchFamily="34" charset="0"/>
                <a:ea typeface="Arial" pitchFamily="34" charset="-122"/>
                <a:cs typeface="Arial" pitchFamily="34" charset="-120"/>
              </a:rPr>
              <a:t>Tiên Phong CDS  |  Novagroup  |  Hub Integration Platform</a:t>
            </a:r>
            <a:endParaRPr lang="en-US" sz="900" dirty="0"/>
          </a:p>
        </p:txBody>
      </p:sp>
      <p:sp>
        <p:nvSpPr>
          <p:cNvPr id="8" name="Text 6"/>
          <p:cNvSpPr/>
          <p:nvPr/>
        </p:nvSpPr>
        <p:spPr>
          <a:xfrm>
            <a:off x="7772400" y="4709160"/>
            <a:ext cx="914400" cy="434340"/>
          </a:xfrm>
          <a:prstGeom prst="rect">
            <a:avLst/>
          </a:prstGeom>
          <a:noFill/>
          <a:ln/>
        </p:spPr>
        <p:txBody>
          <a:bodyPr wrap="square" rtlCol="0" anchor="ctr"/>
          <a:lstStyle/>
          <a:p>
            <a:pPr marL="0" indent="0" algn="r">
              <a:buNone/>
            </a:pPr>
            <a:r>
              <a:rPr lang="en-US" sz="900" dirty="0">
                <a:solidFill>
                  <a:srgbClr val="FFFFFF"/>
                </a:solidFill>
                <a:latin typeface="Arial" pitchFamily="34" charset="0"/>
                <a:ea typeface="Arial" pitchFamily="34" charset="-122"/>
                <a:cs typeface="Arial" pitchFamily="34" charset="-120"/>
              </a:rPr>
              <a:t>10</a:t>
            </a:r>
            <a:endParaRPr lang="en-US" sz="900" dirty="0"/>
          </a:p>
        </p:txBody>
      </p:sp>
      <p:sp>
        <p:nvSpPr>
          <p:cNvPr id="9" name="Shape 7"/>
          <p:cNvSpPr/>
          <p:nvPr/>
        </p:nvSpPr>
        <p:spPr>
          <a:xfrm>
            <a:off x="228600" y="1143000"/>
            <a:ext cx="2743200" cy="1691640"/>
          </a:xfrm>
          <a:prstGeom prst="roundRect">
            <a:avLst>
              <a:gd name="adj" fmla="val 3243"/>
            </a:avLst>
          </a:prstGeom>
          <a:solidFill>
            <a:srgbClr val="FFFFFF"/>
          </a:solidFill>
          <a:ln/>
          <a:effectLst>
            <a:outerShdw blurRad="50800" dist="25400" dir="8100000" algn="bl" rotWithShape="0">
              <a:srgbClr val="000000">
                <a:alpha val="8000"/>
              </a:srgbClr>
            </a:outerShdw>
          </a:effectLst>
        </p:spPr>
        <p:txBody>
          <a:bodyPr/>
          <a:lstStyle/>
          <a:p>
            <a:endParaRPr lang="en-VN"/>
          </a:p>
        </p:txBody>
      </p:sp>
      <p:sp>
        <p:nvSpPr>
          <p:cNvPr id="10" name="Shape 8"/>
          <p:cNvSpPr/>
          <p:nvPr/>
        </p:nvSpPr>
        <p:spPr>
          <a:xfrm>
            <a:off x="228600" y="1143000"/>
            <a:ext cx="2743200" cy="36576"/>
          </a:xfrm>
          <a:prstGeom prst="rect">
            <a:avLst/>
          </a:prstGeom>
          <a:solidFill>
            <a:srgbClr val="2563EB"/>
          </a:solidFill>
          <a:ln/>
        </p:spPr>
        <p:txBody>
          <a:bodyPr/>
          <a:lstStyle/>
          <a:p>
            <a:endParaRPr lang="en-VN"/>
          </a:p>
        </p:txBody>
      </p:sp>
      <p:sp>
        <p:nvSpPr>
          <p:cNvPr id="11" name="Text 9"/>
          <p:cNvSpPr/>
          <p:nvPr/>
        </p:nvSpPr>
        <p:spPr>
          <a:xfrm>
            <a:off x="320040" y="1234440"/>
            <a:ext cx="2560320" cy="365760"/>
          </a:xfrm>
          <a:prstGeom prst="rect">
            <a:avLst/>
          </a:prstGeom>
          <a:noFill/>
          <a:ln/>
        </p:spPr>
        <p:txBody>
          <a:bodyPr wrap="square" rtlCol="0" anchor="ctr"/>
          <a:lstStyle/>
          <a:p>
            <a:pPr marL="0" indent="0">
              <a:buNone/>
            </a:pPr>
            <a:r>
              <a:rPr lang="en-US" sz="1200" b="1" dirty="0">
                <a:solidFill>
                  <a:srgbClr val="2563EB"/>
                </a:solidFill>
                <a:latin typeface="Arial" pitchFamily="34" charset="0"/>
                <a:ea typeface="Arial" pitchFamily="34" charset="-122"/>
                <a:cs typeface="Arial" pitchFamily="34" charset="-120"/>
              </a:rPr>
              <a:t>Customer 360</a:t>
            </a:r>
            <a:endParaRPr lang="en-US" sz="1200" dirty="0"/>
          </a:p>
        </p:txBody>
      </p:sp>
      <p:sp>
        <p:nvSpPr>
          <p:cNvPr id="12" name="Text 10"/>
          <p:cNvSpPr/>
          <p:nvPr/>
        </p:nvSpPr>
        <p:spPr>
          <a:xfrm>
            <a:off x="320040" y="1645920"/>
            <a:ext cx="2560320" cy="1097280"/>
          </a:xfrm>
          <a:prstGeom prst="rect">
            <a:avLst/>
          </a:prstGeom>
          <a:noFill/>
          <a:ln/>
        </p:spPr>
        <p:txBody>
          <a:bodyPr wrap="square" rtlCol="0" anchor="t"/>
          <a:lstStyle/>
          <a:p>
            <a:pPr marL="0" indent="0">
              <a:lnSpc>
                <a:spcPct val="130000"/>
              </a:lnSpc>
              <a:buNone/>
            </a:pPr>
            <a:r>
              <a:rPr lang="en-US" sz="950" dirty="0">
                <a:solidFill>
                  <a:srgbClr val="1F2937"/>
                </a:solidFill>
                <a:latin typeface="Arial" pitchFamily="34" charset="0"/>
                <a:ea typeface="Arial" pitchFamily="34" charset="-122"/>
                <a:cs typeface="Arial" pitchFamily="34" charset="-120"/>
              </a:rPr>
              <a:t>Hợp nhất dữ liệu khách hàng từ CRM, PMS, POS, Sales, Loyalty thành một profile duy nhất xuyên suốt toàn tập đoàn.</a:t>
            </a:r>
            <a:endParaRPr lang="en-US" sz="950" dirty="0"/>
          </a:p>
        </p:txBody>
      </p:sp>
      <p:sp>
        <p:nvSpPr>
          <p:cNvPr id="13" name="Shape 11"/>
          <p:cNvSpPr/>
          <p:nvPr/>
        </p:nvSpPr>
        <p:spPr>
          <a:xfrm>
            <a:off x="3154680" y="1143000"/>
            <a:ext cx="2743200" cy="1691640"/>
          </a:xfrm>
          <a:prstGeom prst="roundRect">
            <a:avLst>
              <a:gd name="adj" fmla="val 3243"/>
            </a:avLst>
          </a:prstGeom>
          <a:solidFill>
            <a:srgbClr val="FFFFFF"/>
          </a:solidFill>
          <a:ln/>
          <a:effectLst>
            <a:outerShdw blurRad="50800" dist="25400" dir="8100000" algn="bl" rotWithShape="0">
              <a:srgbClr val="000000">
                <a:alpha val="8000"/>
              </a:srgbClr>
            </a:outerShdw>
          </a:effectLst>
        </p:spPr>
        <p:txBody>
          <a:bodyPr/>
          <a:lstStyle/>
          <a:p>
            <a:endParaRPr lang="en-VN"/>
          </a:p>
        </p:txBody>
      </p:sp>
      <p:sp>
        <p:nvSpPr>
          <p:cNvPr id="14" name="Shape 12"/>
          <p:cNvSpPr/>
          <p:nvPr/>
        </p:nvSpPr>
        <p:spPr>
          <a:xfrm>
            <a:off x="3154680" y="1143000"/>
            <a:ext cx="2743200" cy="36576"/>
          </a:xfrm>
          <a:prstGeom prst="rect">
            <a:avLst/>
          </a:prstGeom>
          <a:solidFill>
            <a:srgbClr val="059669"/>
          </a:solidFill>
          <a:ln/>
        </p:spPr>
        <p:txBody>
          <a:bodyPr/>
          <a:lstStyle/>
          <a:p>
            <a:endParaRPr lang="en-VN"/>
          </a:p>
        </p:txBody>
      </p:sp>
      <p:sp>
        <p:nvSpPr>
          <p:cNvPr id="15" name="Text 13"/>
          <p:cNvSpPr/>
          <p:nvPr/>
        </p:nvSpPr>
        <p:spPr>
          <a:xfrm>
            <a:off x="3246120" y="1234440"/>
            <a:ext cx="2560320" cy="365760"/>
          </a:xfrm>
          <a:prstGeom prst="rect">
            <a:avLst/>
          </a:prstGeom>
          <a:noFill/>
          <a:ln/>
        </p:spPr>
        <p:txBody>
          <a:bodyPr wrap="square" rtlCol="0" anchor="ctr"/>
          <a:lstStyle/>
          <a:p>
            <a:pPr marL="0" indent="0">
              <a:buNone/>
            </a:pPr>
            <a:r>
              <a:rPr lang="en-US" sz="1200" b="1" dirty="0">
                <a:solidFill>
                  <a:srgbClr val="059669"/>
                </a:solidFill>
                <a:latin typeface="Arial" pitchFamily="34" charset="0"/>
                <a:ea typeface="Arial" pitchFamily="34" charset="-122"/>
                <a:cs typeface="Arial" pitchFamily="34" charset="-120"/>
              </a:rPr>
              <a:t>Revenue Consolidation</a:t>
            </a:r>
            <a:endParaRPr lang="en-US" sz="1200" dirty="0"/>
          </a:p>
        </p:txBody>
      </p:sp>
      <p:sp>
        <p:nvSpPr>
          <p:cNvPr id="16" name="Text 14"/>
          <p:cNvSpPr/>
          <p:nvPr/>
        </p:nvSpPr>
        <p:spPr>
          <a:xfrm>
            <a:off x="3246120" y="1645920"/>
            <a:ext cx="2560320" cy="1097280"/>
          </a:xfrm>
          <a:prstGeom prst="rect">
            <a:avLst/>
          </a:prstGeom>
          <a:noFill/>
          <a:ln/>
        </p:spPr>
        <p:txBody>
          <a:bodyPr wrap="square" rtlCol="0" anchor="t"/>
          <a:lstStyle/>
          <a:p>
            <a:pPr marL="0" indent="0">
              <a:lnSpc>
                <a:spcPct val="130000"/>
              </a:lnSpc>
              <a:buNone/>
            </a:pPr>
            <a:r>
              <a:rPr lang="en-US" sz="950" dirty="0">
                <a:solidFill>
                  <a:srgbClr val="1F2937"/>
                </a:solidFill>
                <a:latin typeface="Arial" pitchFamily="34" charset="0"/>
                <a:ea typeface="Arial" pitchFamily="34" charset="-122"/>
                <a:cs typeface="Arial" pitchFamily="34" charset="-120"/>
              </a:rPr>
              <a:t>Tổng hợp doanh thu real-time từ BĐS, Hospitality, Retail, F&amp;B vào Data Warehouse phục vụ BI dashboard.</a:t>
            </a:r>
            <a:endParaRPr lang="en-US" sz="950" dirty="0"/>
          </a:p>
        </p:txBody>
      </p:sp>
      <p:sp>
        <p:nvSpPr>
          <p:cNvPr id="17" name="Shape 15"/>
          <p:cNvSpPr/>
          <p:nvPr/>
        </p:nvSpPr>
        <p:spPr>
          <a:xfrm>
            <a:off x="6080760" y="1143000"/>
            <a:ext cx="2743200" cy="1691640"/>
          </a:xfrm>
          <a:prstGeom prst="roundRect">
            <a:avLst>
              <a:gd name="adj" fmla="val 3243"/>
            </a:avLst>
          </a:prstGeom>
          <a:solidFill>
            <a:srgbClr val="FFFFFF"/>
          </a:solidFill>
          <a:ln/>
          <a:effectLst>
            <a:outerShdw blurRad="50800" dist="25400" dir="8100000" algn="bl" rotWithShape="0">
              <a:srgbClr val="000000">
                <a:alpha val="8000"/>
              </a:srgbClr>
            </a:outerShdw>
          </a:effectLst>
        </p:spPr>
        <p:txBody>
          <a:bodyPr/>
          <a:lstStyle/>
          <a:p>
            <a:endParaRPr lang="en-VN"/>
          </a:p>
        </p:txBody>
      </p:sp>
      <p:sp>
        <p:nvSpPr>
          <p:cNvPr id="18" name="Shape 16"/>
          <p:cNvSpPr/>
          <p:nvPr/>
        </p:nvSpPr>
        <p:spPr>
          <a:xfrm>
            <a:off x="6080760" y="1143000"/>
            <a:ext cx="2743200" cy="36576"/>
          </a:xfrm>
          <a:prstGeom prst="rect">
            <a:avLst/>
          </a:prstGeom>
          <a:solidFill>
            <a:srgbClr val="0891B2"/>
          </a:solidFill>
          <a:ln/>
        </p:spPr>
        <p:txBody>
          <a:bodyPr/>
          <a:lstStyle/>
          <a:p>
            <a:endParaRPr lang="en-VN"/>
          </a:p>
        </p:txBody>
      </p:sp>
      <p:sp>
        <p:nvSpPr>
          <p:cNvPr id="19" name="Text 17"/>
          <p:cNvSpPr/>
          <p:nvPr/>
        </p:nvSpPr>
        <p:spPr>
          <a:xfrm>
            <a:off x="6172200" y="1234440"/>
            <a:ext cx="2560320" cy="365760"/>
          </a:xfrm>
          <a:prstGeom prst="rect">
            <a:avLst/>
          </a:prstGeom>
          <a:noFill/>
          <a:ln/>
        </p:spPr>
        <p:txBody>
          <a:bodyPr wrap="square" rtlCol="0" anchor="ctr"/>
          <a:lstStyle/>
          <a:p>
            <a:pPr marL="0" indent="0">
              <a:buNone/>
            </a:pPr>
            <a:r>
              <a:rPr lang="en-US" sz="1200" b="1" dirty="0">
                <a:solidFill>
                  <a:srgbClr val="0891B2"/>
                </a:solidFill>
                <a:latin typeface="Arial" pitchFamily="34" charset="0"/>
                <a:ea typeface="Arial" pitchFamily="34" charset="-122"/>
                <a:cs typeface="Arial" pitchFamily="34" charset="-120"/>
              </a:rPr>
              <a:t>Cross-Selling</a:t>
            </a:r>
            <a:endParaRPr lang="en-US" sz="1200" dirty="0"/>
          </a:p>
        </p:txBody>
      </p:sp>
      <p:sp>
        <p:nvSpPr>
          <p:cNvPr id="20" name="Text 18"/>
          <p:cNvSpPr/>
          <p:nvPr/>
        </p:nvSpPr>
        <p:spPr>
          <a:xfrm>
            <a:off x="6172200" y="1645920"/>
            <a:ext cx="2560320" cy="1097280"/>
          </a:xfrm>
          <a:prstGeom prst="rect">
            <a:avLst/>
          </a:prstGeom>
          <a:noFill/>
          <a:ln/>
        </p:spPr>
        <p:txBody>
          <a:bodyPr wrap="square" rtlCol="0" anchor="t"/>
          <a:lstStyle/>
          <a:p>
            <a:pPr marL="0" indent="0">
              <a:lnSpc>
                <a:spcPct val="130000"/>
              </a:lnSpc>
              <a:buNone/>
            </a:pPr>
            <a:r>
              <a:rPr lang="en-US" sz="950" dirty="0">
                <a:solidFill>
                  <a:srgbClr val="1F2937"/>
                </a:solidFill>
                <a:latin typeface="Arial" pitchFamily="34" charset="0"/>
                <a:ea typeface="Arial" pitchFamily="34" charset="-122"/>
                <a:cs typeface="Arial" pitchFamily="34" charset="-120"/>
              </a:rPr>
              <a:t>Khách mua nhà Novaland → tự động offer ưu đãi khách sạn, F&amp;B. Event-driven via Kafka.</a:t>
            </a:r>
            <a:endParaRPr lang="en-US" sz="950" dirty="0"/>
          </a:p>
        </p:txBody>
      </p:sp>
      <p:sp>
        <p:nvSpPr>
          <p:cNvPr id="21" name="Shape 19"/>
          <p:cNvSpPr/>
          <p:nvPr/>
        </p:nvSpPr>
        <p:spPr>
          <a:xfrm>
            <a:off x="228600" y="2971800"/>
            <a:ext cx="2743200" cy="1691640"/>
          </a:xfrm>
          <a:prstGeom prst="roundRect">
            <a:avLst>
              <a:gd name="adj" fmla="val 3243"/>
            </a:avLst>
          </a:prstGeom>
          <a:solidFill>
            <a:srgbClr val="FFFFFF"/>
          </a:solidFill>
          <a:ln/>
          <a:effectLst>
            <a:outerShdw blurRad="50800" dist="25400" dir="8100000" algn="bl" rotWithShape="0">
              <a:srgbClr val="000000">
                <a:alpha val="8000"/>
              </a:srgbClr>
            </a:outerShdw>
          </a:effectLst>
        </p:spPr>
        <p:txBody>
          <a:bodyPr/>
          <a:lstStyle/>
          <a:p>
            <a:endParaRPr lang="en-VN"/>
          </a:p>
        </p:txBody>
      </p:sp>
      <p:sp>
        <p:nvSpPr>
          <p:cNvPr id="22" name="Shape 20"/>
          <p:cNvSpPr/>
          <p:nvPr/>
        </p:nvSpPr>
        <p:spPr>
          <a:xfrm>
            <a:off x="228600" y="2971800"/>
            <a:ext cx="2743200" cy="36576"/>
          </a:xfrm>
          <a:prstGeom prst="rect">
            <a:avLst/>
          </a:prstGeom>
          <a:solidFill>
            <a:srgbClr val="EA580C"/>
          </a:solidFill>
          <a:ln/>
        </p:spPr>
        <p:txBody>
          <a:bodyPr/>
          <a:lstStyle/>
          <a:p>
            <a:endParaRPr lang="en-VN"/>
          </a:p>
        </p:txBody>
      </p:sp>
      <p:sp>
        <p:nvSpPr>
          <p:cNvPr id="23" name="Text 21"/>
          <p:cNvSpPr/>
          <p:nvPr/>
        </p:nvSpPr>
        <p:spPr>
          <a:xfrm>
            <a:off x="320040" y="3063240"/>
            <a:ext cx="2560320" cy="365760"/>
          </a:xfrm>
          <a:prstGeom prst="rect">
            <a:avLst/>
          </a:prstGeom>
          <a:noFill/>
          <a:ln/>
        </p:spPr>
        <p:txBody>
          <a:bodyPr wrap="square" rtlCol="0" anchor="ctr"/>
          <a:lstStyle/>
          <a:p>
            <a:pPr marL="0" indent="0">
              <a:buNone/>
            </a:pPr>
            <a:r>
              <a:rPr lang="en-US" sz="1200" b="1" dirty="0">
                <a:solidFill>
                  <a:srgbClr val="EA580C"/>
                </a:solidFill>
                <a:latin typeface="Arial" pitchFamily="34" charset="0"/>
                <a:ea typeface="Arial" pitchFamily="34" charset="-122"/>
                <a:cs typeface="Arial" pitchFamily="34" charset="-120"/>
              </a:rPr>
              <a:t>Booking-to-Revenue</a:t>
            </a:r>
            <a:endParaRPr lang="en-US" sz="1200" dirty="0"/>
          </a:p>
        </p:txBody>
      </p:sp>
      <p:sp>
        <p:nvSpPr>
          <p:cNvPr id="24" name="Text 22"/>
          <p:cNvSpPr/>
          <p:nvPr/>
        </p:nvSpPr>
        <p:spPr>
          <a:xfrm>
            <a:off x="320040" y="3474720"/>
            <a:ext cx="2560320" cy="1097280"/>
          </a:xfrm>
          <a:prstGeom prst="rect">
            <a:avLst/>
          </a:prstGeom>
          <a:noFill/>
          <a:ln/>
        </p:spPr>
        <p:txBody>
          <a:bodyPr wrap="square" rtlCol="0" anchor="t"/>
          <a:lstStyle/>
          <a:p>
            <a:pPr marL="0" indent="0">
              <a:lnSpc>
                <a:spcPct val="130000"/>
              </a:lnSpc>
              <a:buNone/>
            </a:pPr>
            <a:r>
              <a:rPr lang="en-US" sz="950" dirty="0">
                <a:solidFill>
                  <a:srgbClr val="1F2937"/>
                </a:solidFill>
                <a:latin typeface="Arial" pitchFamily="34" charset="0"/>
                <a:ea typeface="Arial" pitchFamily="34" charset="-122"/>
                <a:cs typeface="Arial" pitchFamily="34" charset="-120"/>
              </a:rPr>
              <a:t>Channel Manager → PMS → Update inventory → Accounting → Housekeeping → Guest notification.</a:t>
            </a:r>
            <a:endParaRPr lang="en-US" sz="950" dirty="0"/>
          </a:p>
        </p:txBody>
      </p:sp>
      <p:sp>
        <p:nvSpPr>
          <p:cNvPr id="25" name="Shape 23"/>
          <p:cNvSpPr/>
          <p:nvPr/>
        </p:nvSpPr>
        <p:spPr>
          <a:xfrm>
            <a:off x="3154680" y="2971800"/>
            <a:ext cx="2743200" cy="1691640"/>
          </a:xfrm>
          <a:prstGeom prst="roundRect">
            <a:avLst>
              <a:gd name="adj" fmla="val 3243"/>
            </a:avLst>
          </a:prstGeom>
          <a:solidFill>
            <a:srgbClr val="FFFFFF"/>
          </a:solidFill>
          <a:ln/>
          <a:effectLst>
            <a:outerShdw blurRad="50800" dist="25400" dir="8100000" algn="bl" rotWithShape="0">
              <a:srgbClr val="000000">
                <a:alpha val="8000"/>
              </a:srgbClr>
            </a:outerShdw>
          </a:effectLst>
        </p:spPr>
        <p:txBody>
          <a:bodyPr/>
          <a:lstStyle/>
          <a:p>
            <a:endParaRPr lang="en-VN"/>
          </a:p>
        </p:txBody>
      </p:sp>
      <p:sp>
        <p:nvSpPr>
          <p:cNvPr id="26" name="Shape 24"/>
          <p:cNvSpPr/>
          <p:nvPr/>
        </p:nvSpPr>
        <p:spPr>
          <a:xfrm>
            <a:off x="3154680" y="2971800"/>
            <a:ext cx="2743200" cy="36576"/>
          </a:xfrm>
          <a:prstGeom prst="rect">
            <a:avLst/>
          </a:prstGeom>
          <a:solidFill>
            <a:srgbClr val="0D1B4C"/>
          </a:solidFill>
          <a:ln/>
        </p:spPr>
        <p:txBody>
          <a:bodyPr/>
          <a:lstStyle/>
          <a:p>
            <a:endParaRPr lang="en-VN"/>
          </a:p>
        </p:txBody>
      </p:sp>
      <p:sp>
        <p:nvSpPr>
          <p:cNvPr id="27" name="Text 25"/>
          <p:cNvSpPr/>
          <p:nvPr/>
        </p:nvSpPr>
        <p:spPr>
          <a:xfrm>
            <a:off x="3246120" y="3063240"/>
            <a:ext cx="2560320" cy="365760"/>
          </a:xfrm>
          <a:prstGeom prst="rect">
            <a:avLst/>
          </a:prstGeom>
          <a:noFill/>
          <a:ln/>
        </p:spPr>
        <p:txBody>
          <a:bodyPr wrap="square" rtlCol="0" anchor="ctr"/>
          <a:lstStyle/>
          <a:p>
            <a:pPr marL="0" indent="0">
              <a:buNone/>
            </a:pPr>
            <a:r>
              <a:rPr lang="en-US" sz="1200" b="1" dirty="0">
                <a:solidFill>
                  <a:srgbClr val="0D1B4C"/>
                </a:solidFill>
                <a:latin typeface="Arial" pitchFamily="34" charset="0"/>
                <a:ea typeface="Arial" pitchFamily="34" charset="-122"/>
                <a:cs typeface="Arial" pitchFamily="34" charset="-120"/>
              </a:rPr>
              <a:t>Master Data Sync</a:t>
            </a:r>
            <a:endParaRPr lang="en-US" sz="1200" dirty="0"/>
          </a:p>
        </p:txBody>
      </p:sp>
      <p:sp>
        <p:nvSpPr>
          <p:cNvPr id="28" name="Text 26"/>
          <p:cNvSpPr/>
          <p:nvPr/>
        </p:nvSpPr>
        <p:spPr>
          <a:xfrm>
            <a:off x="3246120" y="3474720"/>
            <a:ext cx="2560320" cy="1097280"/>
          </a:xfrm>
          <a:prstGeom prst="rect">
            <a:avLst/>
          </a:prstGeom>
          <a:noFill/>
          <a:ln/>
        </p:spPr>
        <p:txBody>
          <a:bodyPr wrap="square" rtlCol="0" anchor="t"/>
          <a:lstStyle/>
          <a:p>
            <a:pPr marL="0" indent="0">
              <a:lnSpc>
                <a:spcPct val="130000"/>
              </a:lnSpc>
              <a:buNone/>
            </a:pPr>
            <a:r>
              <a:rPr lang="en-US" sz="950" dirty="0">
                <a:solidFill>
                  <a:srgbClr val="1F2937"/>
                </a:solidFill>
                <a:latin typeface="Arial" pitchFamily="34" charset="0"/>
                <a:ea typeface="Arial" pitchFamily="34" charset="-122"/>
                <a:cs typeface="Arial" pitchFamily="34" charset="-120"/>
              </a:rPr>
              <a:t>Đồng bộ Customer, Product, Employee, Organization master data giữa tất cả hệ thống.</a:t>
            </a:r>
            <a:endParaRPr lang="en-US" sz="950" dirty="0"/>
          </a:p>
        </p:txBody>
      </p:sp>
      <p:sp>
        <p:nvSpPr>
          <p:cNvPr id="29" name="Shape 27"/>
          <p:cNvSpPr/>
          <p:nvPr/>
        </p:nvSpPr>
        <p:spPr>
          <a:xfrm>
            <a:off x="6080760" y="2971800"/>
            <a:ext cx="2743200" cy="1691640"/>
          </a:xfrm>
          <a:prstGeom prst="roundRect">
            <a:avLst>
              <a:gd name="adj" fmla="val 3243"/>
            </a:avLst>
          </a:prstGeom>
          <a:solidFill>
            <a:srgbClr val="FFFFFF"/>
          </a:solidFill>
          <a:ln/>
          <a:effectLst>
            <a:outerShdw blurRad="50800" dist="25400" dir="8100000" algn="bl" rotWithShape="0">
              <a:srgbClr val="000000">
                <a:alpha val="8000"/>
              </a:srgbClr>
            </a:outerShdw>
          </a:effectLst>
        </p:spPr>
        <p:txBody>
          <a:bodyPr/>
          <a:lstStyle/>
          <a:p>
            <a:endParaRPr lang="en-VN"/>
          </a:p>
        </p:txBody>
      </p:sp>
      <p:sp>
        <p:nvSpPr>
          <p:cNvPr id="30" name="Shape 28"/>
          <p:cNvSpPr/>
          <p:nvPr/>
        </p:nvSpPr>
        <p:spPr>
          <a:xfrm>
            <a:off x="6080760" y="2971800"/>
            <a:ext cx="2743200" cy="36576"/>
          </a:xfrm>
          <a:prstGeom prst="rect">
            <a:avLst/>
          </a:prstGeom>
          <a:solidFill>
            <a:srgbClr val="DC2626"/>
          </a:solidFill>
          <a:ln/>
        </p:spPr>
        <p:txBody>
          <a:bodyPr/>
          <a:lstStyle/>
          <a:p>
            <a:endParaRPr lang="en-VN"/>
          </a:p>
        </p:txBody>
      </p:sp>
      <p:sp>
        <p:nvSpPr>
          <p:cNvPr id="31" name="Text 29"/>
          <p:cNvSpPr/>
          <p:nvPr/>
        </p:nvSpPr>
        <p:spPr>
          <a:xfrm>
            <a:off x="6172200" y="3063240"/>
            <a:ext cx="2560320" cy="365760"/>
          </a:xfrm>
          <a:prstGeom prst="rect">
            <a:avLst/>
          </a:prstGeom>
          <a:noFill/>
          <a:ln/>
        </p:spPr>
        <p:txBody>
          <a:bodyPr wrap="square" rtlCol="0" anchor="ctr"/>
          <a:lstStyle/>
          <a:p>
            <a:pPr marL="0" indent="0">
              <a:buNone/>
            </a:pPr>
            <a:r>
              <a:rPr lang="en-US" sz="1200" b="1" dirty="0">
                <a:solidFill>
                  <a:srgbClr val="DC2626"/>
                </a:solidFill>
                <a:latin typeface="Arial" pitchFamily="34" charset="0"/>
                <a:ea typeface="Arial" pitchFamily="34" charset="-122"/>
                <a:cs typeface="Arial" pitchFamily="34" charset="-120"/>
              </a:rPr>
              <a:t>Compliance &amp; Audit</a:t>
            </a:r>
            <a:endParaRPr lang="en-US" sz="1200" dirty="0"/>
          </a:p>
        </p:txBody>
      </p:sp>
      <p:sp>
        <p:nvSpPr>
          <p:cNvPr id="32" name="Text 30"/>
          <p:cNvSpPr/>
          <p:nvPr/>
        </p:nvSpPr>
        <p:spPr>
          <a:xfrm>
            <a:off x="6172200" y="3474720"/>
            <a:ext cx="2560320" cy="1097280"/>
          </a:xfrm>
          <a:prstGeom prst="rect">
            <a:avLst/>
          </a:prstGeom>
          <a:noFill/>
          <a:ln/>
        </p:spPr>
        <p:txBody>
          <a:bodyPr wrap="square" rtlCol="0" anchor="t"/>
          <a:lstStyle/>
          <a:p>
            <a:pPr marL="0" indent="0">
              <a:lnSpc>
                <a:spcPct val="130000"/>
              </a:lnSpc>
              <a:buNone/>
            </a:pPr>
            <a:r>
              <a:rPr lang="en-US" sz="950" dirty="0">
                <a:solidFill>
                  <a:srgbClr val="1F2937"/>
                </a:solidFill>
                <a:latin typeface="Arial" pitchFamily="34" charset="0"/>
                <a:ea typeface="Arial" pitchFamily="34" charset="-122"/>
                <a:cs typeface="Arial" pitchFamily="34" charset="-120"/>
              </a:rPr>
              <a:t>Audit trail cho mọi giao dịch. Tuân thủ Luật An ninh mạng VN, e-invoice, báo cáo thuế tự động.</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B4C"/>
        </a:solidFill>
        <a:effectLst/>
      </p:bgPr>
    </p:bg>
    <p:spTree>
      <p:nvGrpSpPr>
        <p:cNvPr id="1" name=""/>
        <p:cNvGrpSpPr/>
        <p:nvPr/>
      </p:nvGrpSpPr>
      <p:grpSpPr>
        <a:xfrm>
          <a:off x="0" y="0"/>
          <a:ext cx="0" cy="0"/>
          <a:chOff x="0" y="0"/>
          <a:chExt cx="0" cy="0"/>
        </a:xfrm>
      </p:grpSpPr>
      <p:sp>
        <p:nvSpPr>
          <p:cNvPr id="2" name="Shape 0"/>
          <p:cNvSpPr/>
          <p:nvPr/>
        </p:nvSpPr>
        <p:spPr>
          <a:xfrm rot="-1800000">
            <a:off x="6858000" y="274320"/>
            <a:ext cx="2011680" cy="0"/>
          </a:xfrm>
          <a:prstGeom prst="line">
            <a:avLst/>
          </a:prstGeom>
          <a:noFill/>
          <a:ln w="25400">
            <a:solidFill>
              <a:srgbClr val="C8A962"/>
            </a:solidFill>
            <a:prstDash val="solid"/>
          </a:ln>
        </p:spPr>
        <p:txBody>
          <a:bodyPr/>
          <a:lstStyle/>
          <a:p>
            <a:endParaRPr lang="en-VN"/>
          </a:p>
        </p:txBody>
      </p:sp>
      <p:sp>
        <p:nvSpPr>
          <p:cNvPr id="3" name="Shape 1"/>
          <p:cNvSpPr/>
          <p:nvPr/>
        </p:nvSpPr>
        <p:spPr>
          <a:xfrm rot="-1800000">
            <a:off x="7315200" y="91440"/>
            <a:ext cx="2011680" cy="0"/>
          </a:xfrm>
          <a:prstGeom prst="line">
            <a:avLst/>
          </a:prstGeom>
          <a:noFill/>
          <a:ln w="12700">
            <a:solidFill>
              <a:srgbClr val="C8A962"/>
            </a:solidFill>
            <a:prstDash val="solid"/>
          </a:ln>
        </p:spPr>
        <p:txBody>
          <a:bodyPr/>
          <a:lstStyle/>
          <a:p>
            <a:endParaRPr lang="en-VN"/>
          </a:p>
        </p:txBody>
      </p:sp>
      <p:sp>
        <p:nvSpPr>
          <p:cNvPr id="4" name="Shape 2"/>
          <p:cNvSpPr/>
          <p:nvPr/>
        </p:nvSpPr>
        <p:spPr>
          <a:xfrm rot="-1800000">
            <a:off x="274320" y="4114800"/>
            <a:ext cx="2011680" cy="0"/>
          </a:xfrm>
          <a:prstGeom prst="line">
            <a:avLst/>
          </a:prstGeom>
          <a:noFill/>
          <a:ln w="25400">
            <a:solidFill>
              <a:srgbClr val="C8A962"/>
            </a:solidFill>
            <a:prstDash val="solid"/>
          </a:ln>
        </p:spPr>
        <p:txBody>
          <a:bodyPr/>
          <a:lstStyle/>
          <a:p>
            <a:endParaRPr lang="en-VN"/>
          </a:p>
        </p:txBody>
      </p:sp>
      <p:sp>
        <p:nvSpPr>
          <p:cNvPr id="5" name="Shape 3"/>
          <p:cNvSpPr/>
          <p:nvPr/>
        </p:nvSpPr>
        <p:spPr>
          <a:xfrm rot="-1800000">
            <a:off x="0" y="4389120"/>
            <a:ext cx="2011680" cy="0"/>
          </a:xfrm>
          <a:prstGeom prst="line">
            <a:avLst/>
          </a:prstGeom>
          <a:noFill/>
          <a:ln w="12700">
            <a:solidFill>
              <a:srgbClr val="C8A962"/>
            </a:solidFill>
            <a:prstDash val="solid"/>
          </a:ln>
        </p:spPr>
        <p:txBody>
          <a:bodyPr/>
          <a:lstStyle/>
          <a:p>
            <a:endParaRPr lang="en-VN"/>
          </a:p>
        </p:txBody>
      </p:sp>
      <p:sp>
        <p:nvSpPr>
          <p:cNvPr id="6" name="Text 4"/>
          <p:cNvSpPr/>
          <p:nvPr/>
        </p:nvSpPr>
        <p:spPr>
          <a:xfrm>
            <a:off x="457200" y="1645920"/>
            <a:ext cx="7315200" cy="1097280"/>
          </a:xfrm>
          <a:prstGeom prst="rect">
            <a:avLst/>
          </a:prstGeom>
          <a:noFill/>
          <a:ln/>
        </p:spPr>
        <p:txBody>
          <a:bodyPr wrap="square" rtlCol="0" anchor="ctr"/>
          <a:lstStyle/>
          <a:p>
            <a:pPr marL="0" indent="0">
              <a:buNone/>
            </a:pPr>
            <a:r>
              <a:rPr lang="en-US" sz="3600" b="1" dirty="0">
                <a:solidFill>
                  <a:srgbClr val="FFFFFF"/>
                </a:solidFill>
                <a:latin typeface="Arial" pitchFamily="34" charset="0"/>
                <a:ea typeface="Arial" pitchFamily="34" charset="-122"/>
                <a:cs typeface="Arial" pitchFamily="34" charset="-120"/>
              </a:rPr>
              <a:t>QUY TRÌNH</a:t>
            </a:r>
            <a:endParaRPr lang="en-US" sz="3600" dirty="0"/>
          </a:p>
          <a:p>
            <a:pPr marL="0" indent="0">
              <a:buNone/>
            </a:pPr>
            <a:r>
              <a:rPr lang="en-US" sz="3600" b="1" dirty="0">
                <a:solidFill>
                  <a:srgbClr val="FFFFFF"/>
                </a:solidFill>
                <a:latin typeface="Arial" pitchFamily="34" charset="0"/>
                <a:ea typeface="Arial" pitchFamily="34" charset="-122"/>
                <a:cs typeface="Arial" pitchFamily="34" charset="-120"/>
              </a:rPr>
              <a:t>TRIỂN KHAI</a:t>
            </a:r>
            <a:endParaRPr lang="en-US" sz="3600" dirty="0"/>
          </a:p>
        </p:txBody>
      </p:sp>
      <p:sp>
        <p:nvSpPr>
          <p:cNvPr id="7" name="Text 5"/>
          <p:cNvSpPr/>
          <p:nvPr/>
        </p:nvSpPr>
        <p:spPr>
          <a:xfrm>
            <a:off x="457200" y="2743200"/>
            <a:ext cx="7315200" cy="548640"/>
          </a:xfrm>
          <a:prstGeom prst="rect">
            <a:avLst/>
          </a:prstGeom>
          <a:noFill/>
          <a:ln/>
        </p:spPr>
        <p:txBody>
          <a:bodyPr wrap="square" rtlCol="0" anchor="t"/>
          <a:lstStyle/>
          <a:p>
            <a:pPr marL="0" indent="0">
              <a:buNone/>
            </a:pPr>
            <a:r>
              <a:rPr lang="en-US" sz="1600" dirty="0">
                <a:solidFill>
                  <a:srgbClr val="C8A962"/>
                </a:solidFill>
                <a:latin typeface="Arial" pitchFamily="34" charset="0"/>
                <a:ea typeface="Arial" pitchFamily="34" charset="-122"/>
                <a:cs typeface="Arial" pitchFamily="34" charset="-120"/>
              </a:rPr>
              <a:t>Roadmap 4 giai đoạn, tổng thời gian 12 tháng</a:t>
            </a:r>
            <a:endParaRPr lang="en-US" sz="1600" dirty="0"/>
          </a:p>
        </p:txBody>
      </p:sp>
      <p:sp>
        <p:nvSpPr>
          <p:cNvPr id="8" name="Shape 6"/>
          <p:cNvSpPr/>
          <p:nvPr/>
        </p:nvSpPr>
        <p:spPr>
          <a:xfrm>
            <a:off x="0" y="4937760"/>
            <a:ext cx="9144000" cy="205740"/>
          </a:xfrm>
          <a:prstGeom prst="rect">
            <a:avLst/>
          </a:prstGeom>
          <a:solidFill>
            <a:srgbClr val="C8A962"/>
          </a:solidFill>
          <a:ln/>
        </p:spPr>
        <p:txBody>
          <a:bodyPr/>
          <a:lstStyle/>
          <a:p>
            <a:endParaRPr lang="en-VN"/>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1B4C"/>
          </a:solidFill>
          <a:ln/>
        </p:spPr>
        <p:txBody>
          <a:bodyPr/>
          <a:lstStyle/>
          <a:p>
            <a:endParaRPr lang="en-VN"/>
          </a:p>
        </p:txBody>
      </p:sp>
      <p:sp>
        <p:nvSpPr>
          <p:cNvPr id="3" name="Shape 1"/>
          <p:cNvSpPr/>
          <p:nvPr/>
        </p:nvSpPr>
        <p:spPr>
          <a:xfrm>
            <a:off x="0" y="914400"/>
            <a:ext cx="9144000" cy="36576"/>
          </a:xfrm>
          <a:prstGeom prst="rect">
            <a:avLst/>
          </a:prstGeom>
          <a:solidFill>
            <a:srgbClr val="C8A962"/>
          </a:solidFill>
          <a:ln/>
        </p:spPr>
        <p:txBody>
          <a:bodyPr/>
          <a:lstStyle/>
          <a:p>
            <a:endParaRPr lang="en-VN"/>
          </a:p>
        </p:txBody>
      </p:sp>
      <p:sp>
        <p:nvSpPr>
          <p:cNvPr id="4" name="Text 2"/>
          <p:cNvSpPr/>
          <p:nvPr/>
        </p:nvSpPr>
        <p:spPr>
          <a:xfrm>
            <a:off x="457200" y="0"/>
            <a:ext cx="8229600" cy="548640"/>
          </a:xfrm>
          <a:prstGeom prst="rect">
            <a:avLst/>
          </a:prstGeom>
          <a:noFill/>
          <a:ln/>
        </p:spPr>
        <p:txBody>
          <a:bodyPr wrap="square" rtlCol="0" anchor="b"/>
          <a:lstStyle/>
          <a:p>
            <a:pPr marL="0" indent="0">
              <a:buNone/>
            </a:pPr>
            <a:r>
              <a:rPr lang="en-US" sz="2400" b="1" dirty="0">
                <a:solidFill>
                  <a:srgbClr val="FFFFFF"/>
                </a:solidFill>
                <a:latin typeface="Arial" pitchFamily="34" charset="0"/>
                <a:ea typeface="Arial" pitchFamily="34" charset="-122"/>
                <a:cs typeface="Arial" pitchFamily="34" charset="-120"/>
              </a:rPr>
              <a:t>Lộ trình Triển khai 4 Giai đoạn</a:t>
            </a:r>
            <a:endParaRPr lang="en-US" sz="2400" dirty="0"/>
          </a:p>
        </p:txBody>
      </p:sp>
      <p:sp>
        <p:nvSpPr>
          <p:cNvPr id="5" name="Text 3"/>
          <p:cNvSpPr/>
          <p:nvPr/>
        </p:nvSpPr>
        <p:spPr>
          <a:xfrm>
            <a:off x="457200" y="548640"/>
            <a:ext cx="8229600" cy="365760"/>
          </a:xfrm>
          <a:prstGeom prst="rect">
            <a:avLst/>
          </a:prstGeom>
          <a:noFill/>
          <a:ln/>
        </p:spPr>
        <p:txBody>
          <a:bodyPr wrap="square" rtlCol="0" anchor="t"/>
          <a:lstStyle/>
          <a:p>
            <a:pPr marL="0" indent="0">
              <a:buNone/>
            </a:pPr>
            <a:r>
              <a:rPr lang="en-US" sz="1300" dirty="0">
                <a:solidFill>
                  <a:srgbClr val="C8A962"/>
                </a:solidFill>
                <a:latin typeface="Arial" pitchFamily="34" charset="0"/>
                <a:ea typeface="Arial" pitchFamily="34" charset="-122"/>
                <a:cs typeface="Arial" pitchFamily="34" charset="-120"/>
              </a:rPr>
              <a:t>Implementation Roadmap - 12 Months</a:t>
            </a:r>
            <a:endParaRPr lang="en-US" sz="1300" dirty="0"/>
          </a:p>
        </p:txBody>
      </p:sp>
      <p:sp>
        <p:nvSpPr>
          <p:cNvPr id="6" name="Shape 4"/>
          <p:cNvSpPr/>
          <p:nvPr/>
        </p:nvSpPr>
        <p:spPr>
          <a:xfrm>
            <a:off x="0" y="4709160"/>
            <a:ext cx="9144000" cy="434340"/>
          </a:xfrm>
          <a:prstGeom prst="rect">
            <a:avLst/>
          </a:prstGeom>
          <a:solidFill>
            <a:srgbClr val="0D1B4C"/>
          </a:solidFill>
          <a:ln/>
        </p:spPr>
        <p:txBody>
          <a:bodyPr/>
          <a:lstStyle/>
          <a:p>
            <a:endParaRPr lang="en-VN"/>
          </a:p>
        </p:txBody>
      </p:sp>
      <p:sp>
        <p:nvSpPr>
          <p:cNvPr id="7" name="Text 5"/>
          <p:cNvSpPr/>
          <p:nvPr/>
        </p:nvSpPr>
        <p:spPr>
          <a:xfrm>
            <a:off x="457200" y="4709160"/>
            <a:ext cx="6400800" cy="434340"/>
          </a:xfrm>
          <a:prstGeom prst="rect">
            <a:avLst/>
          </a:prstGeom>
          <a:noFill/>
          <a:ln/>
        </p:spPr>
        <p:txBody>
          <a:bodyPr wrap="square" rtlCol="0" anchor="ctr"/>
          <a:lstStyle/>
          <a:p>
            <a:pPr marL="0" indent="0">
              <a:buNone/>
            </a:pPr>
            <a:r>
              <a:rPr lang="en-US" sz="900" dirty="0">
                <a:solidFill>
                  <a:srgbClr val="C8A962"/>
                </a:solidFill>
                <a:latin typeface="Arial" pitchFamily="34" charset="0"/>
                <a:ea typeface="Arial" pitchFamily="34" charset="-122"/>
                <a:cs typeface="Arial" pitchFamily="34" charset="-120"/>
              </a:rPr>
              <a:t>Tiên Phong CDS  |  Novagroup  |  Hub Integration Platform</a:t>
            </a:r>
            <a:endParaRPr lang="en-US" sz="900" dirty="0"/>
          </a:p>
        </p:txBody>
      </p:sp>
      <p:sp>
        <p:nvSpPr>
          <p:cNvPr id="8" name="Text 6"/>
          <p:cNvSpPr/>
          <p:nvPr/>
        </p:nvSpPr>
        <p:spPr>
          <a:xfrm>
            <a:off x="7772400" y="4709160"/>
            <a:ext cx="914400" cy="434340"/>
          </a:xfrm>
          <a:prstGeom prst="rect">
            <a:avLst/>
          </a:prstGeom>
          <a:noFill/>
          <a:ln/>
        </p:spPr>
        <p:txBody>
          <a:bodyPr wrap="square" rtlCol="0" anchor="ctr"/>
          <a:lstStyle/>
          <a:p>
            <a:pPr marL="0" indent="0" algn="r">
              <a:buNone/>
            </a:pPr>
            <a:r>
              <a:rPr lang="en-US" sz="900" dirty="0">
                <a:solidFill>
                  <a:srgbClr val="FFFFFF"/>
                </a:solidFill>
                <a:latin typeface="Arial" pitchFamily="34" charset="0"/>
                <a:ea typeface="Arial" pitchFamily="34" charset="-122"/>
                <a:cs typeface="Arial" pitchFamily="34" charset="-120"/>
              </a:rPr>
              <a:t>12</a:t>
            </a:r>
            <a:endParaRPr lang="en-US" sz="900" dirty="0"/>
          </a:p>
        </p:txBody>
      </p:sp>
      <p:sp>
        <p:nvSpPr>
          <p:cNvPr id="9" name="Shape 7"/>
          <p:cNvSpPr/>
          <p:nvPr/>
        </p:nvSpPr>
        <p:spPr>
          <a:xfrm>
            <a:off x="182880" y="1143000"/>
            <a:ext cx="2103120" cy="3383280"/>
          </a:xfrm>
          <a:prstGeom prst="roundRect">
            <a:avLst>
              <a:gd name="adj" fmla="val 2609"/>
            </a:avLst>
          </a:prstGeom>
          <a:solidFill>
            <a:srgbClr val="FFFFFF"/>
          </a:solidFill>
          <a:ln/>
          <a:effectLst>
            <a:outerShdw blurRad="50800" dist="25400" dir="8100000" algn="bl" rotWithShape="0">
              <a:srgbClr val="000000">
                <a:alpha val="8000"/>
              </a:srgbClr>
            </a:outerShdw>
          </a:effectLst>
        </p:spPr>
        <p:txBody>
          <a:bodyPr/>
          <a:lstStyle/>
          <a:p>
            <a:endParaRPr lang="en-VN"/>
          </a:p>
        </p:txBody>
      </p:sp>
      <p:sp>
        <p:nvSpPr>
          <p:cNvPr id="10" name="Shape 8"/>
          <p:cNvSpPr/>
          <p:nvPr/>
        </p:nvSpPr>
        <p:spPr>
          <a:xfrm>
            <a:off x="182880" y="1143000"/>
            <a:ext cx="2103120" cy="594360"/>
          </a:xfrm>
          <a:prstGeom prst="rect">
            <a:avLst/>
          </a:prstGeom>
          <a:solidFill>
            <a:srgbClr val="2563EB"/>
          </a:solidFill>
          <a:ln/>
        </p:spPr>
        <p:txBody>
          <a:bodyPr/>
          <a:lstStyle/>
          <a:p>
            <a:endParaRPr lang="en-VN"/>
          </a:p>
        </p:txBody>
      </p:sp>
      <p:sp>
        <p:nvSpPr>
          <p:cNvPr id="11" name="Text 9"/>
          <p:cNvSpPr/>
          <p:nvPr/>
        </p:nvSpPr>
        <p:spPr>
          <a:xfrm>
            <a:off x="182880" y="1143000"/>
            <a:ext cx="2103120" cy="320040"/>
          </a:xfrm>
          <a:prstGeom prst="rect">
            <a:avLst/>
          </a:prstGeom>
          <a:noFill/>
          <a:ln/>
        </p:spPr>
        <p:txBody>
          <a:bodyPr wrap="square"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Phase 1</a:t>
            </a:r>
            <a:endParaRPr lang="en-US" sz="1000" dirty="0"/>
          </a:p>
        </p:txBody>
      </p:sp>
      <p:sp>
        <p:nvSpPr>
          <p:cNvPr id="12" name="Text 10"/>
          <p:cNvSpPr/>
          <p:nvPr/>
        </p:nvSpPr>
        <p:spPr>
          <a:xfrm>
            <a:off x="182880" y="1417320"/>
            <a:ext cx="2103120" cy="320040"/>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Foundation</a:t>
            </a:r>
            <a:endParaRPr lang="en-US" sz="1300" dirty="0"/>
          </a:p>
        </p:txBody>
      </p:sp>
      <p:sp>
        <p:nvSpPr>
          <p:cNvPr id="13" name="Shape 11"/>
          <p:cNvSpPr/>
          <p:nvPr/>
        </p:nvSpPr>
        <p:spPr>
          <a:xfrm>
            <a:off x="457200" y="1828800"/>
            <a:ext cx="1554480" cy="274320"/>
          </a:xfrm>
          <a:prstGeom prst="roundRect">
            <a:avLst>
              <a:gd name="adj" fmla="val 13333"/>
            </a:avLst>
          </a:prstGeom>
          <a:solidFill>
            <a:srgbClr val="F3F4F6"/>
          </a:solidFill>
          <a:ln/>
        </p:spPr>
        <p:txBody>
          <a:bodyPr/>
          <a:lstStyle/>
          <a:p>
            <a:endParaRPr lang="en-VN"/>
          </a:p>
        </p:txBody>
      </p:sp>
      <p:sp>
        <p:nvSpPr>
          <p:cNvPr id="14" name="Text 12"/>
          <p:cNvSpPr/>
          <p:nvPr/>
        </p:nvSpPr>
        <p:spPr>
          <a:xfrm>
            <a:off x="457200" y="1828800"/>
            <a:ext cx="1554480" cy="274320"/>
          </a:xfrm>
          <a:prstGeom prst="rect">
            <a:avLst/>
          </a:prstGeom>
          <a:noFill/>
          <a:ln/>
        </p:spPr>
        <p:txBody>
          <a:bodyPr wrap="square" rtlCol="0" anchor="ctr"/>
          <a:lstStyle/>
          <a:p>
            <a:pPr marL="0" indent="0" algn="ctr">
              <a:buNone/>
            </a:pPr>
            <a:r>
              <a:rPr lang="en-US" sz="900" b="1" dirty="0">
                <a:solidFill>
                  <a:srgbClr val="2563EB"/>
                </a:solidFill>
                <a:latin typeface="Arial" pitchFamily="34" charset="0"/>
                <a:ea typeface="Arial" pitchFamily="34" charset="-122"/>
                <a:cs typeface="Arial" pitchFamily="34" charset="-120"/>
              </a:rPr>
              <a:t>Tháng 1-3</a:t>
            </a:r>
            <a:endParaRPr lang="en-US" sz="900" dirty="0"/>
          </a:p>
        </p:txBody>
      </p:sp>
      <p:sp>
        <p:nvSpPr>
          <p:cNvPr id="15" name="Text 13"/>
          <p:cNvSpPr/>
          <p:nvPr/>
        </p:nvSpPr>
        <p:spPr>
          <a:xfrm>
            <a:off x="274320" y="2240280"/>
            <a:ext cx="1920240" cy="2194560"/>
          </a:xfrm>
          <a:prstGeom prst="rect">
            <a:avLst/>
          </a:prstGeom>
          <a:noFill/>
          <a:ln/>
        </p:spPr>
        <p:txBody>
          <a:bodyPr wrap="square" rtlCol="0" anchor="t"/>
          <a:lstStyle/>
          <a:p>
            <a:pPr marL="0" indent="0">
              <a:lnSpc>
                <a:spcPct val="135000"/>
              </a:lnSpc>
              <a:buNone/>
            </a:pPr>
            <a:r>
              <a:rPr lang="en-US" sz="850" dirty="0">
                <a:solidFill>
                  <a:srgbClr val="1F2937"/>
                </a:solidFill>
                <a:latin typeface="Arial" pitchFamily="34" charset="0"/>
                <a:ea typeface="Arial" pitchFamily="34" charset="-122"/>
                <a:cs typeface="Arial" pitchFamily="34" charset="-120"/>
              </a:rPr>
              <a:t>• Setup Kubernetes cluster</a:t>
            </a:r>
            <a:endParaRPr lang="en-US" sz="850" dirty="0"/>
          </a:p>
          <a:p>
            <a:pPr marL="0" indent="0">
              <a:lnSpc>
                <a:spcPct val="135000"/>
              </a:lnSpc>
              <a:buNone/>
            </a:pPr>
            <a:r>
              <a:rPr lang="en-US" sz="850" dirty="0">
                <a:solidFill>
                  <a:srgbClr val="1F2937"/>
                </a:solidFill>
                <a:latin typeface="Arial" pitchFamily="34" charset="0"/>
                <a:ea typeface="Arial" pitchFamily="34" charset="-122"/>
                <a:cs typeface="Arial" pitchFamily="34" charset="-120"/>
              </a:rPr>
              <a:t>• Deploy Kong API Gateway</a:t>
            </a:r>
            <a:endParaRPr lang="en-US" sz="850" dirty="0"/>
          </a:p>
          <a:p>
            <a:pPr marL="0" indent="0">
              <a:lnSpc>
                <a:spcPct val="135000"/>
              </a:lnSpc>
              <a:buNone/>
            </a:pPr>
            <a:r>
              <a:rPr lang="en-US" sz="850" dirty="0">
                <a:solidFill>
                  <a:srgbClr val="1F2937"/>
                </a:solidFill>
                <a:latin typeface="Arial" pitchFamily="34" charset="0"/>
                <a:ea typeface="Arial" pitchFamily="34" charset="-122"/>
                <a:cs typeface="Arial" pitchFamily="34" charset="-120"/>
              </a:rPr>
              <a:t>• Deploy Keycloak (SSO)</a:t>
            </a:r>
            <a:endParaRPr lang="en-US" sz="850" dirty="0"/>
          </a:p>
          <a:p>
            <a:pPr marL="0" indent="0">
              <a:lnSpc>
                <a:spcPct val="135000"/>
              </a:lnSpc>
              <a:buNone/>
            </a:pPr>
            <a:r>
              <a:rPr lang="en-US" sz="850" dirty="0">
                <a:solidFill>
                  <a:srgbClr val="1F2937"/>
                </a:solidFill>
                <a:latin typeface="Arial" pitchFamily="34" charset="0"/>
                <a:ea typeface="Arial" pitchFamily="34" charset="-122"/>
                <a:cs typeface="Arial" pitchFamily="34" charset="-120"/>
              </a:rPr>
              <a:t>• Setup monitoring stack</a:t>
            </a:r>
            <a:endParaRPr lang="en-US" sz="850" dirty="0"/>
          </a:p>
          <a:p>
            <a:pPr marL="0" indent="0">
              <a:lnSpc>
                <a:spcPct val="135000"/>
              </a:lnSpc>
              <a:buNone/>
            </a:pPr>
            <a:r>
              <a:rPr lang="en-US" sz="850" dirty="0">
                <a:solidFill>
                  <a:srgbClr val="1F2937"/>
                </a:solidFill>
                <a:latin typeface="Arial" pitchFamily="34" charset="0"/>
                <a:ea typeface="Arial" pitchFamily="34" charset="-122"/>
                <a:cs typeface="Arial" pitchFamily="34" charset="-120"/>
              </a:rPr>
              <a:t>• CI/CD pipeline</a:t>
            </a:r>
            <a:endParaRPr lang="en-US" sz="850" dirty="0"/>
          </a:p>
          <a:p>
            <a:pPr marL="0" indent="0">
              <a:lnSpc>
                <a:spcPct val="135000"/>
              </a:lnSpc>
              <a:buNone/>
            </a:pPr>
            <a:r>
              <a:rPr lang="en-US" sz="850" dirty="0">
                <a:solidFill>
                  <a:srgbClr val="1F2937"/>
                </a:solidFill>
                <a:latin typeface="Arial" pitchFamily="34" charset="0"/>
                <a:ea typeface="Arial" pitchFamily="34" charset="-122"/>
                <a:cs typeface="Arial" pitchFamily="34" charset="-120"/>
              </a:rPr>
              <a:t>• Tích hợp 2-3 hệ thống critical</a:t>
            </a:r>
            <a:endParaRPr lang="en-US" sz="850" dirty="0"/>
          </a:p>
        </p:txBody>
      </p:sp>
      <p:sp>
        <p:nvSpPr>
          <p:cNvPr id="16" name="Text 14"/>
          <p:cNvSpPr/>
          <p:nvPr/>
        </p:nvSpPr>
        <p:spPr>
          <a:xfrm>
            <a:off x="2286000" y="1371600"/>
            <a:ext cx="137160" cy="365760"/>
          </a:xfrm>
          <a:prstGeom prst="rect">
            <a:avLst/>
          </a:prstGeom>
          <a:noFill/>
          <a:ln/>
        </p:spPr>
        <p:txBody>
          <a:bodyPr wrap="square" rtlCol="0" anchor="ctr"/>
          <a:lstStyle/>
          <a:p>
            <a:pPr marL="0" indent="0" algn="ctr">
              <a:buNone/>
            </a:pPr>
            <a:r>
              <a:rPr lang="en-US" sz="1400" dirty="0">
                <a:solidFill>
                  <a:srgbClr val="C8A962"/>
                </a:solidFill>
                <a:latin typeface="Arial" pitchFamily="34" charset="0"/>
                <a:ea typeface="Arial" pitchFamily="34" charset="-122"/>
                <a:cs typeface="Arial" pitchFamily="34" charset="-120"/>
              </a:rPr>
              <a:t>→</a:t>
            </a:r>
            <a:endParaRPr lang="en-US" sz="1400" dirty="0"/>
          </a:p>
        </p:txBody>
      </p:sp>
      <p:sp>
        <p:nvSpPr>
          <p:cNvPr id="17" name="Shape 15"/>
          <p:cNvSpPr/>
          <p:nvPr/>
        </p:nvSpPr>
        <p:spPr>
          <a:xfrm>
            <a:off x="2423160" y="1143000"/>
            <a:ext cx="2103120" cy="3383280"/>
          </a:xfrm>
          <a:prstGeom prst="roundRect">
            <a:avLst>
              <a:gd name="adj" fmla="val 2609"/>
            </a:avLst>
          </a:prstGeom>
          <a:solidFill>
            <a:srgbClr val="FFFFFF"/>
          </a:solidFill>
          <a:ln/>
          <a:effectLst>
            <a:outerShdw blurRad="50800" dist="25400" dir="8100000" algn="bl" rotWithShape="0">
              <a:srgbClr val="000000">
                <a:alpha val="8000"/>
              </a:srgbClr>
            </a:outerShdw>
          </a:effectLst>
        </p:spPr>
        <p:txBody>
          <a:bodyPr/>
          <a:lstStyle/>
          <a:p>
            <a:endParaRPr lang="en-VN"/>
          </a:p>
        </p:txBody>
      </p:sp>
      <p:sp>
        <p:nvSpPr>
          <p:cNvPr id="18" name="Shape 16"/>
          <p:cNvSpPr/>
          <p:nvPr/>
        </p:nvSpPr>
        <p:spPr>
          <a:xfrm>
            <a:off x="2423160" y="1143000"/>
            <a:ext cx="2103120" cy="594360"/>
          </a:xfrm>
          <a:prstGeom prst="rect">
            <a:avLst/>
          </a:prstGeom>
          <a:solidFill>
            <a:srgbClr val="0891B2"/>
          </a:solidFill>
          <a:ln/>
        </p:spPr>
        <p:txBody>
          <a:bodyPr/>
          <a:lstStyle/>
          <a:p>
            <a:endParaRPr lang="en-VN"/>
          </a:p>
        </p:txBody>
      </p:sp>
      <p:sp>
        <p:nvSpPr>
          <p:cNvPr id="19" name="Text 17"/>
          <p:cNvSpPr/>
          <p:nvPr/>
        </p:nvSpPr>
        <p:spPr>
          <a:xfrm>
            <a:off x="2423160" y="1143000"/>
            <a:ext cx="2103120" cy="320040"/>
          </a:xfrm>
          <a:prstGeom prst="rect">
            <a:avLst/>
          </a:prstGeom>
          <a:noFill/>
          <a:ln/>
        </p:spPr>
        <p:txBody>
          <a:bodyPr wrap="square"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Phase 2</a:t>
            </a:r>
            <a:endParaRPr lang="en-US" sz="1000" dirty="0"/>
          </a:p>
        </p:txBody>
      </p:sp>
      <p:sp>
        <p:nvSpPr>
          <p:cNvPr id="20" name="Text 18"/>
          <p:cNvSpPr/>
          <p:nvPr/>
        </p:nvSpPr>
        <p:spPr>
          <a:xfrm>
            <a:off x="2423160" y="1417320"/>
            <a:ext cx="2103120" cy="320040"/>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Core Integration</a:t>
            </a:r>
            <a:endParaRPr lang="en-US" sz="1300" dirty="0"/>
          </a:p>
        </p:txBody>
      </p:sp>
      <p:sp>
        <p:nvSpPr>
          <p:cNvPr id="21" name="Shape 19"/>
          <p:cNvSpPr/>
          <p:nvPr/>
        </p:nvSpPr>
        <p:spPr>
          <a:xfrm>
            <a:off x="2697480" y="1828800"/>
            <a:ext cx="1554480" cy="274320"/>
          </a:xfrm>
          <a:prstGeom prst="roundRect">
            <a:avLst>
              <a:gd name="adj" fmla="val 13333"/>
            </a:avLst>
          </a:prstGeom>
          <a:solidFill>
            <a:srgbClr val="F3F4F6"/>
          </a:solidFill>
          <a:ln/>
        </p:spPr>
        <p:txBody>
          <a:bodyPr/>
          <a:lstStyle/>
          <a:p>
            <a:endParaRPr lang="en-VN"/>
          </a:p>
        </p:txBody>
      </p:sp>
      <p:sp>
        <p:nvSpPr>
          <p:cNvPr id="22" name="Text 20"/>
          <p:cNvSpPr/>
          <p:nvPr/>
        </p:nvSpPr>
        <p:spPr>
          <a:xfrm>
            <a:off x="2697480" y="1828800"/>
            <a:ext cx="1554480" cy="274320"/>
          </a:xfrm>
          <a:prstGeom prst="rect">
            <a:avLst/>
          </a:prstGeom>
          <a:noFill/>
          <a:ln/>
        </p:spPr>
        <p:txBody>
          <a:bodyPr wrap="square" rtlCol="0" anchor="ctr"/>
          <a:lstStyle/>
          <a:p>
            <a:pPr marL="0" indent="0" algn="ctr">
              <a:buNone/>
            </a:pPr>
            <a:r>
              <a:rPr lang="en-US" sz="900" b="1" dirty="0">
                <a:solidFill>
                  <a:srgbClr val="0891B2"/>
                </a:solidFill>
                <a:latin typeface="Arial" pitchFamily="34" charset="0"/>
                <a:ea typeface="Arial" pitchFamily="34" charset="-122"/>
                <a:cs typeface="Arial" pitchFamily="34" charset="-120"/>
              </a:rPr>
              <a:t>Tháng 4-6</a:t>
            </a:r>
            <a:endParaRPr lang="en-US" sz="900" dirty="0"/>
          </a:p>
        </p:txBody>
      </p:sp>
      <p:sp>
        <p:nvSpPr>
          <p:cNvPr id="23" name="Text 21"/>
          <p:cNvSpPr/>
          <p:nvPr/>
        </p:nvSpPr>
        <p:spPr>
          <a:xfrm>
            <a:off x="2514600" y="2240280"/>
            <a:ext cx="1920240" cy="2194560"/>
          </a:xfrm>
          <a:prstGeom prst="rect">
            <a:avLst/>
          </a:prstGeom>
          <a:noFill/>
          <a:ln/>
        </p:spPr>
        <p:txBody>
          <a:bodyPr wrap="square" rtlCol="0" anchor="t"/>
          <a:lstStyle/>
          <a:p>
            <a:pPr marL="0" indent="0">
              <a:lnSpc>
                <a:spcPct val="135000"/>
              </a:lnSpc>
              <a:buNone/>
            </a:pPr>
            <a:r>
              <a:rPr lang="en-US" sz="850" dirty="0">
                <a:solidFill>
                  <a:srgbClr val="1F2937"/>
                </a:solidFill>
                <a:latin typeface="Arial" pitchFamily="34" charset="0"/>
                <a:ea typeface="Arial" pitchFamily="34" charset="-122"/>
                <a:cs typeface="Arial" pitchFamily="34" charset="-120"/>
              </a:rPr>
              <a:t>• Deploy Kafka cluster</a:t>
            </a:r>
            <a:endParaRPr lang="en-US" sz="850" dirty="0"/>
          </a:p>
          <a:p>
            <a:pPr marL="0" indent="0">
              <a:lnSpc>
                <a:spcPct val="135000"/>
              </a:lnSpc>
              <a:buNone/>
            </a:pPr>
            <a:r>
              <a:rPr lang="en-US" sz="850" dirty="0">
                <a:solidFill>
                  <a:srgbClr val="1F2937"/>
                </a:solidFill>
                <a:latin typeface="Arial" pitchFamily="34" charset="0"/>
                <a:ea typeface="Arial" pitchFamily="34" charset="-122"/>
                <a:cs typeface="Arial" pitchFamily="34" charset="-120"/>
              </a:rPr>
              <a:t>• Deploy n8n workflow engine</a:t>
            </a:r>
            <a:endParaRPr lang="en-US" sz="850" dirty="0"/>
          </a:p>
          <a:p>
            <a:pPr marL="0" indent="0">
              <a:lnSpc>
                <a:spcPct val="135000"/>
              </a:lnSpc>
              <a:buNone/>
            </a:pPr>
            <a:r>
              <a:rPr lang="en-US" sz="850" dirty="0">
                <a:solidFill>
                  <a:srgbClr val="1F2937"/>
                </a:solidFill>
                <a:latin typeface="Arial" pitchFamily="34" charset="0"/>
                <a:ea typeface="Arial" pitchFamily="34" charset="-122"/>
                <a:cs typeface="Arial" pitchFamily="34" charset="-120"/>
              </a:rPr>
              <a:t>• Customer sync CRM ↔ ERP</a:t>
            </a:r>
            <a:endParaRPr lang="en-US" sz="850" dirty="0"/>
          </a:p>
          <a:p>
            <a:pPr marL="0" indent="0">
              <a:lnSpc>
                <a:spcPct val="135000"/>
              </a:lnSpc>
              <a:buNone/>
            </a:pPr>
            <a:r>
              <a:rPr lang="en-US" sz="850" dirty="0">
                <a:solidFill>
                  <a:srgbClr val="1F2937"/>
                </a:solidFill>
                <a:latin typeface="Arial" pitchFamily="34" charset="0"/>
                <a:ea typeface="Arial" pitchFamily="34" charset="-122"/>
                <a:cs typeface="Arial" pitchFamily="34" charset="-120"/>
              </a:rPr>
              <a:t>• Financial flow POS → ERP</a:t>
            </a:r>
            <a:endParaRPr lang="en-US" sz="850" dirty="0"/>
          </a:p>
          <a:p>
            <a:pPr marL="0" indent="0">
              <a:lnSpc>
                <a:spcPct val="135000"/>
              </a:lnSpc>
              <a:buNone/>
            </a:pPr>
            <a:r>
              <a:rPr lang="en-US" sz="850" dirty="0">
                <a:solidFill>
                  <a:srgbClr val="1F2937"/>
                </a:solidFill>
                <a:latin typeface="Arial" pitchFamily="34" charset="0"/>
                <a:ea typeface="Arial" pitchFamily="34" charset="-122"/>
                <a:cs typeface="Arial" pitchFamily="34" charset="-120"/>
              </a:rPr>
              <a:t>• Booking flow PMS → CRM → Finance</a:t>
            </a:r>
            <a:endParaRPr lang="en-US" sz="850" dirty="0"/>
          </a:p>
          <a:p>
            <a:pPr marL="0" indent="0">
              <a:lnSpc>
                <a:spcPct val="135000"/>
              </a:lnSpc>
              <a:buNone/>
            </a:pPr>
            <a:r>
              <a:rPr lang="en-US" sz="850" dirty="0">
                <a:solidFill>
                  <a:srgbClr val="1F2937"/>
                </a:solidFill>
                <a:latin typeface="Arial" pitchFamily="34" charset="0"/>
                <a:ea typeface="Arial" pitchFamily="34" charset="-122"/>
                <a:cs typeface="Arial" pitchFamily="34" charset="-120"/>
              </a:rPr>
              <a:t>• Service registry (Consul)</a:t>
            </a:r>
            <a:endParaRPr lang="en-US" sz="850" dirty="0"/>
          </a:p>
        </p:txBody>
      </p:sp>
      <p:sp>
        <p:nvSpPr>
          <p:cNvPr id="24" name="Text 22"/>
          <p:cNvSpPr/>
          <p:nvPr/>
        </p:nvSpPr>
        <p:spPr>
          <a:xfrm>
            <a:off x="4526280" y="1371600"/>
            <a:ext cx="137160" cy="365760"/>
          </a:xfrm>
          <a:prstGeom prst="rect">
            <a:avLst/>
          </a:prstGeom>
          <a:noFill/>
          <a:ln/>
        </p:spPr>
        <p:txBody>
          <a:bodyPr wrap="square" rtlCol="0" anchor="ctr"/>
          <a:lstStyle/>
          <a:p>
            <a:pPr marL="0" indent="0" algn="ctr">
              <a:buNone/>
            </a:pPr>
            <a:r>
              <a:rPr lang="en-US" sz="1400" dirty="0">
                <a:solidFill>
                  <a:srgbClr val="C8A962"/>
                </a:solidFill>
                <a:latin typeface="Arial" pitchFamily="34" charset="0"/>
                <a:ea typeface="Arial" pitchFamily="34" charset="-122"/>
                <a:cs typeface="Arial" pitchFamily="34" charset="-120"/>
              </a:rPr>
              <a:t>→</a:t>
            </a:r>
            <a:endParaRPr lang="en-US" sz="1400" dirty="0"/>
          </a:p>
        </p:txBody>
      </p:sp>
      <p:sp>
        <p:nvSpPr>
          <p:cNvPr id="25" name="Shape 23"/>
          <p:cNvSpPr/>
          <p:nvPr/>
        </p:nvSpPr>
        <p:spPr>
          <a:xfrm>
            <a:off x="4663440" y="1143000"/>
            <a:ext cx="2103120" cy="3383280"/>
          </a:xfrm>
          <a:prstGeom prst="roundRect">
            <a:avLst>
              <a:gd name="adj" fmla="val 2609"/>
            </a:avLst>
          </a:prstGeom>
          <a:solidFill>
            <a:srgbClr val="FFFFFF"/>
          </a:solidFill>
          <a:ln/>
          <a:effectLst>
            <a:outerShdw blurRad="50800" dist="25400" dir="8100000" algn="bl" rotWithShape="0">
              <a:srgbClr val="000000">
                <a:alpha val="8000"/>
              </a:srgbClr>
            </a:outerShdw>
          </a:effectLst>
        </p:spPr>
        <p:txBody>
          <a:bodyPr/>
          <a:lstStyle/>
          <a:p>
            <a:endParaRPr lang="en-VN"/>
          </a:p>
        </p:txBody>
      </p:sp>
      <p:sp>
        <p:nvSpPr>
          <p:cNvPr id="26" name="Shape 24"/>
          <p:cNvSpPr/>
          <p:nvPr/>
        </p:nvSpPr>
        <p:spPr>
          <a:xfrm>
            <a:off x="4663440" y="1143000"/>
            <a:ext cx="2103120" cy="594360"/>
          </a:xfrm>
          <a:prstGeom prst="rect">
            <a:avLst/>
          </a:prstGeom>
          <a:solidFill>
            <a:srgbClr val="059669"/>
          </a:solidFill>
          <a:ln/>
        </p:spPr>
        <p:txBody>
          <a:bodyPr/>
          <a:lstStyle/>
          <a:p>
            <a:endParaRPr lang="en-VN"/>
          </a:p>
        </p:txBody>
      </p:sp>
      <p:sp>
        <p:nvSpPr>
          <p:cNvPr id="27" name="Text 25"/>
          <p:cNvSpPr/>
          <p:nvPr/>
        </p:nvSpPr>
        <p:spPr>
          <a:xfrm>
            <a:off x="4663440" y="1143000"/>
            <a:ext cx="2103120" cy="320040"/>
          </a:xfrm>
          <a:prstGeom prst="rect">
            <a:avLst/>
          </a:prstGeom>
          <a:noFill/>
          <a:ln/>
        </p:spPr>
        <p:txBody>
          <a:bodyPr wrap="square"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Phase 3</a:t>
            </a:r>
            <a:endParaRPr lang="en-US" sz="1000" dirty="0"/>
          </a:p>
        </p:txBody>
      </p:sp>
      <p:sp>
        <p:nvSpPr>
          <p:cNvPr id="28" name="Text 26"/>
          <p:cNvSpPr/>
          <p:nvPr/>
        </p:nvSpPr>
        <p:spPr>
          <a:xfrm>
            <a:off x="4663440" y="1417320"/>
            <a:ext cx="2103120" cy="320040"/>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Expansion</a:t>
            </a:r>
            <a:endParaRPr lang="en-US" sz="1300" dirty="0"/>
          </a:p>
        </p:txBody>
      </p:sp>
      <p:sp>
        <p:nvSpPr>
          <p:cNvPr id="29" name="Shape 27"/>
          <p:cNvSpPr/>
          <p:nvPr/>
        </p:nvSpPr>
        <p:spPr>
          <a:xfrm>
            <a:off x="4937760" y="1828800"/>
            <a:ext cx="1554480" cy="274320"/>
          </a:xfrm>
          <a:prstGeom prst="roundRect">
            <a:avLst>
              <a:gd name="adj" fmla="val 13333"/>
            </a:avLst>
          </a:prstGeom>
          <a:solidFill>
            <a:srgbClr val="F3F4F6"/>
          </a:solidFill>
          <a:ln/>
        </p:spPr>
        <p:txBody>
          <a:bodyPr/>
          <a:lstStyle/>
          <a:p>
            <a:endParaRPr lang="en-VN"/>
          </a:p>
        </p:txBody>
      </p:sp>
      <p:sp>
        <p:nvSpPr>
          <p:cNvPr id="30" name="Text 28"/>
          <p:cNvSpPr/>
          <p:nvPr/>
        </p:nvSpPr>
        <p:spPr>
          <a:xfrm>
            <a:off x="4937760" y="1828800"/>
            <a:ext cx="1554480" cy="274320"/>
          </a:xfrm>
          <a:prstGeom prst="rect">
            <a:avLst/>
          </a:prstGeom>
          <a:noFill/>
          <a:ln/>
        </p:spPr>
        <p:txBody>
          <a:bodyPr wrap="square" rtlCol="0" anchor="ctr"/>
          <a:lstStyle/>
          <a:p>
            <a:pPr marL="0" indent="0" algn="ctr">
              <a:buNone/>
            </a:pPr>
            <a:r>
              <a:rPr lang="en-US" sz="900" b="1" dirty="0">
                <a:solidFill>
                  <a:srgbClr val="059669"/>
                </a:solidFill>
                <a:latin typeface="Arial" pitchFamily="34" charset="0"/>
                <a:ea typeface="Arial" pitchFamily="34" charset="-122"/>
                <a:cs typeface="Arial" pitchFamily="34" charset="-120"/>
              </a:rPr>
              <a:t>Tháng 7-9</a:t>
            </a:r>
            <a:endParaRPr lang="en-US" sz="900" dirty="0"/>
          </a:p>
        </p:txBody>
      </p:sp>
      <p:sp>
        <p:nvSpPr>
          <p:cNvPr id="31" name="Text 29"/>
          <p:cNvSpPr/>
          <p:nvPr/>
        </p:nvSpPr>
        <p:spPr>
          <a:xfrm>
            <a:off x="4754880" y="2240280"/>
            <a:ext cx="1920240" cy="2194560"/>
          </a:xfrm>
          <a:prstGeom prst="rect">
            <a:avLst/>
          </a:prstGeom>
          <a:noFill/>
          <a:ln/>
        </p:spPr>
        <p:txBody>
          <a:bodyPr wrap="square" rtlCol="0" anchor="t"/>
          <a:lstStyle/>
          <a:p>
            <a:pPr marL="0" indent="0">
              <a:lnSpc>
                <a:spcPct val="135000"/>
              </a:lnSpc>
              <a:buNone/>
            </a:pPr>
            <a:r>
              <a:rPr lang="en-US" sz="850" dirty="0">
                <a:solidFill>
                  <a:srgbClr val="1F2937"/>
                </a:solidFill>
                <a:latin typeface="Arial" pitchFamily="34" charset="0"/>
                <a:ea typeface="Arial" pitchFamily="34" charset="-122"/>
                <a:cs typeface="Arial" pitchFamily="34" charset="-120"/>
              </a:rPr>
              <a:t>• Tích hợp PMS, POS, HRM, DMS</a:t>
            </a:r>
            <a:endParaRPr lang="en-US" sz="850" dirty="0"/>
          </a:p>
          <a:p>
            <a:pPr marL="0" indent="0">
              <a:lnSpc>
                <a:spcPct val="135000"/>
              </a:lnSpc>
              <a:buNone/>
            </a:pPr>
            <a:r>
              <a:rPr lang="en-US" sz="850" dirty="0">
                <a:solidFill>
                  <a:srgbClr val="1F2937"/>
                </a:solidFill>
                <a:latin typeface="Arial" pitchFamily="34" charset="0"/>
                <a:ea typeface="Arial" pitchFamily="34" charset="-122"/>
                <a:cs typeface="Arial" pitchFamily="34" charset="-120"/>
              </a:rPr>
              <a:t>• Event-driven patterns (Kafka)</a:t>
            </a:r>
            <a:endParaRPr lang="en-US" sz="850" dirty="0"/>
          </a:p>
          <a:p>
            <a:pPr marL="0" indent="0">
              <a:lnSpc>
                <a:spcPct val="135000"/>
              </a:lnSpc>
              <a:buNone/>
            </a:pPr>
            <a:r>
              <a:rPr lang="en-US" sz="850" dirty="0">
                <a:solidFill>
                  <a:srgbClr val="1F2937"/>
                </a:solidFill>
                <a:latin typeface="Arial" pitchFamily="34" charset="0"/>
                <a:ea typeface="Arial" pitchFamily="34" charset="-122"/>
                <a:cs typeface="Arial" pitchFamily="34" charset="-120"/>
              </a:rPr>
              <a:t>• Master Data Management</a:t>
            </a:r>
            <a:endParaRPr lang="en-US" sz="850" dirty="0"/>
          </a:p>
          <a:p>
            <a:pPr marL="0" indent="0">
              <a:lnSpc>
                <a:spcPct val="135000"/>
              </a:lnSpc>
              <a:buNone/>
            </a:pPr>
            <a:r>
              <a:rPr lang="en-US" sz="850" dirty="0">
                <a:solidFill>
                  <a:srgbClr val="1F2937"/>
                </a:solidFill>
                <a:latin typeface="Arial" pitchFamily="34" charset="0"/>
                <a:ea typeface="Arial" pitchFamily="34" charset="-122"/>
                <a:cs typeface="Arial" pitchFamily="34" charset="-120"/>
              </a:rPr>
              <a:t>• Cross-BU integration</a:t>
            </a:r>
            <a:endParaRPr lang="en-US" sz="850" dirty="0"/>
          </a:p>
          <a:p>
            <a:pPr marL="0" indent="0">
              <a:lnSpc>
                <a:spcPct val="135000"/>
              </a:lnSpc>
              <a:buNone/>
            </a:pPr>
            <a:r>
              <a:rPr lang="en-US" sz="850" dirty="0">
                <a:solidFill>
                  <a:srgbClr val="1F2937"/>
                </a:solidFill>
                <a:latin typeface="Arial" pitchFamily="34" charset="0"/>
                <a:ea typeface="Arial" pitchFamily="34" charset="-122"/>
                <a:cs typeface="Arial" pitchFamily="34" charset="-120"/>
              </a:rPr>
              <a:t>• Advanced monitoring &amp; alerting</a:t>
            </a:r>
            <a:endParaRPr lang="en-US" sz="850" dirty="0"/>
          </a:p>
        </p:txBody>
      </p:sp>
      <p:sp>
        <p:nvSpPr>
          <p:cNvPr id="32" name="Text 30"/>
          <p:cNvSpPr/>
          <p:nvPr/>
        </p:nvSpPr>
        <p:spPr>
          <a:xfrm>
            <a:off x="6766560" y="1371600"/>
            <a:ext cx="137160" cy="365760"/>
          </a:xfrm>
          <a:prstGeom prst="rect">
            <a:avLst/>
          </a:prstGeom>
          <a:noFill/>
          <a:ln/>
        </p:spPr>
        <p:txBody>
          <a:bodyPr wrap="square" rtlCol="0" anchor="ctr"/>
          <a:lstStyle/>
          <a:p>
            <a:pPr marL="0" indent="0" algn="ctr">
              <a:buNone/>
            </a:pPr>
            <a:r>
              <a:rPr lang="en-US" sz="1400" dirty="0">
                <a:solidFill>
                  <a:srgbClr val="C8A962"/>
                </a:solidFill>
                <a:latin typeface="Arial" pitchFamily="34" charset="0"/>
                <a:ea typeface="Arial" pitchFamily="34" charset="-122"/>
                <a:cs typeface="Arial" pitchFamily="34" charset="-120"/>
              </a:rPr>
              <a:t>→</a:t>
            </a:r>
            <a:endParaRPr lang="en-US" sz="1400" dirty="0"/>
          </a:p>
        </p:txBody>
      </p:sp>
      <p:sp>
        <p:nvSpPr>
          <p:cNvPr id="33" name="Shape 31"/>
          <p:cNvSpPr/>
          <p:nvPr/>
        </p:nvSpPr>
        <p:spPr>
          <a:xfrm>
            <a:off x="6903720" y="1143000"/>
            <a:ext cx="2103120" cy="3383280"/>
          </a:xfrm>
          <a:prstGeom prst="roundRect">
            <a:avLst>
              <a:gd name="adj" fmla="val 2609"/>
            </a:avLst>
          </a:prstGeom>
          <a:solidFill>
            <a:srgbClr val="FFFFFF"/>
          </a:solidFill>
          <a:ln/>
          <a:effectLst>
            <a:outerShdw blurRad="50800" dist="25400" dir="8100000" algn="bl" rotWithShape="0">
              <a:srgbClr val="000000">
                <a:alpha val="8000"/>
              </a:srgbClr>
            </a:outerShdw>
          </a:effectLst>
        </p:spPr>
        <p:txBody>
          <a:bodyPr/>
          <a:lstStyle/>
          <a:p>
            <a:endParaRPr lang="en-VN"/>
          </a:p>
        </p:txBody>
      </p:sp>
      <p:sp>
        <p:nvSpPr>
          <p:cNvPr id="34" name="Shape 32"/>
          <p:cNvSpPr/>
          <p:nvPr/>
        </p:nvSpPr>
        <p:spPr>
          <a:xfrm>
            <a:off x="6903720" y="1143000"/>
            <a:ext cx="2103120" cy="594360"/>
          </a:xfrm>
          <a:prstGeom prst="rect">
            <a:avLst/>
          </a:prstGeom>
          <a:solidFill>
            <a:srgbClr val="C8A962"/>
          </a:solidFill>
          <a:ln/>
        </p:spPr>
        <p:txBody>
          <a:bodyPr/>
          <a:lstStyle/>
          <a:p>
            <a:endParaRPr lang="en-VN"/>
          </a:p>
        </p:txBody>
      </p:sp>
      <p:sp>
        <p:nvSpPr>
          <p:cNvPr id="35" name="Text 33"/>
          <p:cNvSpPr/>
          <p:nvPr/>
        </p:nvSpPr>
        <p:spPr>
          <a:xfrm>
            <a:off x="6903720" y="1143000"/>
            <a:ext cx="2103120" cy="320040"/>
          </a:xfrm>
          <a:prstGeom prst="rect">
            <a:avLst/>
          </a:prstGeom>
          <a:noFill/>
          <a:ln/>
        </p:spPr>
        <p:txBody>
          <a:bodyPr wrap="square"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Phase 4</a:t>
            </a:r>
            <a:endParaRPr lang="en-US" sz="1000" dirty="0"/>
          </a:p>
        </p:txBody>
      </p:sp>
      <p:sp>
        <p:nvSpPr>
          <p:cNvPr id="36" name="Text 34"/>
          <p:cNvSpPr/>
          <p:nvPr/>
        </p:nvSpPr>
        <p:spPr>
          <a:xfrm>
            <a:off x="6903720" y="1417320"/>
            <a:ext cx="2103120" cy="320040"/>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Optimization</a:t>
            </a:r>
            <a:endParaRPr lang="en-US" sz="1300" dirty="0"/>
          </a:p>
        </p:txBody>
      </p:sp>
      <p:sp>
        <p:nvSpPr>
          <p:cNvPr id="37" name="Shape 35"/>
          <p:cNvSpPr/>
          <p:nvPr/>
        </p:nvSpPr>
        <p:spPr>
          <a:xfrm>
            <a:off x="7178040" y="1828800"/>
            <a:ext cx="1554480" cy="274320"/>
          </a:xfrm>
          <a:prstGeom prst="roundRect">
            <a:avLst>
              <a:gd name="adj" fmla="val 13333"/>
            </a:avLst>
          </a:prstGeom>
          <a:solidFill>
            <a:srgbClr val="F3F4F6"/>
          </a:solidFill>
          <a:ln/>
        </p:spPr>
        <p:txBody>
          <a:bodyPr/>
          <a:lstStyle/>
          <a:p>
            <a:endParaRPr lang="en-VN"/>
          </a:p>
        </p:txBody>
      </p:sp>
      <p:sp>
        <p:nvSpPr>
          <p:cNvPr id="38" name="Text 36"/>
          <p:cNvSpPr/>
          <p:nvPr/>
        </p:nvSpPr>
        <p:spPr>
          <a:xfrm>
            <a:off x="7178040" y="1828800"/>
            <a:ext cx="1554480" cy="274320"/>
          </a:xfrm>
          <a:prstGeom prst="rect">
            <a:avLst/>
          </a:prstGeom>
          <a:noFill/>
          <a:ln/>
        </p:spPr>
        <p:txBody>
          <a:bodyPr wrap="square" rtlCol="0" anchor="ctr"/>
          <a:lstStyle/>
          <a:p>
            <a:pPr marL="0" indent="0" algn="ctr">
              <a:buNone/>
            </a:pPr>
            <a:r>
              <a:rPr lang="en-US" sz="900" b="1" dirty="0">
                <a:solidFill>
                  <a:srgbClr val="C8A962"/>
                </a:solidFill>
                <a:latin typeface="Arial" pitchFamily="34" charset="0"/>
                <a:ea typeface="Arial" pitchFamily="34" charset="-122"/>
                <a:cs typeface="Arial" pitchFamily="34" charset="-120"/>
              </a:rPr>
              <a:t>Tháng 10-12</a:t>
            </a:r>
            <a:endParaRPr lang="en-US" sz="900" dirty="0"/>
          </a:p>
        </p:txBody>
      </p:sp>
      <p:sp>
        <p:nvSpPr>
          <p:cNvPr id="39" name="Text 37"/>
          <p:cNvSpPr/>
          <p:nvPr/>
        </p:nvSpPr>
        <p:spPr>
          <a:xfrm>
            <a:off x="6995160" y="2240280"/>
            <a:ext cx="1920240" cy="2194560"/>
          </a:xfrm>
          <a:prstGeom prst="rect">
            <a:avLst/>
          </a:prstGeom>
          <a:noFill/>
          <a:ln/>
        </p:spPr>
        <p:txBody>
          <a:bodyPr wrap="square" rtlCol="0" anchor="t"/>
          <a:lstStyle/>
          <a:p>
            <a:pPr marL="0" indent="0">
              <a:lnSpc>
                <a:spcPct val="135000"/>
              </a:lnSpc>
              <a:buNone/>
            </a:pPr>
            <a:r>
              <a:rPr lang="en-US" sz="850" dirty="0">
                <a:solidFill>
                  <a:srgbClr val="1F2937"/>
                </a:solidFill>
                <a:latin typeface="Arial" pitchFamily="34" charset="0"/>
                <a:ea typeface="Arial" pitchFamily="34" charset="-122"/>
                <a:cs typeface="Arial" pitchFamily="34" charset="-120"/>
              </a:rPr>
              <a:t>• Data Warehouse integration</a:t>
            </a:r>
            <a:endParaRPr lang="en-US" sz="850" dirty="0"/>
          </a:p>
          <a:p>
            <a:pPr marL="0" indent="0">
              <a:lnSpc>
                <a:spcPct val="135000"/>
              </a:lnSpc>
              <a:buNone/>
            </a:pPr>
            <a:r>
              <a:rPr lang="en-US" sz="850" dirty="0">
                <a:solidFill>
                  <a:srgbClr val="1F2937"/>
                </a:solidFill>
                <a:latin typeface="Arial" pitchFamily="34" charset="0"/>
                <a:ea typeface="Arial" pitchFamily="34" charset="-122"/>
                <a:cs typeface="Arial" pitchFamily="34" charset="-120"/>
              </a:rPr>
              <a:t>• BI/Analytics pipeline</a:t>
            </a:r>
            <a:endParaRPr lang="en-US" sz="850" dirty="0"/>
          </a:p>
          <a:p>
            <a:pPr marL="0" indent="0">
              <a:lnSpc>
                <a:spcPct val="135000"/>
              </a:lnSpc>
              <a:buNone/>
            </a:pPr>
            <a:r>
              <a:rPr lang="en-US" sz="850" dirty="0">
                <a:solidFill>
                  <a:srgbClr val="1F2937"/>
                </a:solidFill>
                <a:latin typeface="Arial" pitchFamily="34" charset="0"/>
                <a:ea typeface="Arial" pitchFamily="34" charset="-122"/>
                <a:cs typeface="Arial" pitchFamily="34" charset="-120"/>
              </a:rPr>
              <a:t>• External partner integration</a:t>
            </a:r>
            <a:endParaRPr lang="en-US" sz="850" dirty="0"/>
          </a:p>
          <a:p>
            <a:pPr marL="0" indent="0">
              <a:lnSpc>
                <a:spcPct val="135000"/>
              </a:lnSpc>
              <a:buNone/>
            </a:pPr>
            <a:r>
              <a:rPr lang="en-US" sz="850" dirty="0">
                <a:solidFill>
                  <a:srgbClr val="1F2937"/>
                </a:solidFill>
                <a:latin typeface="Arial" pitchFamily="34" charset="0"/>
                <a:ea typeface="Arial" pitchFamily="34" charset="-122"/>
                <a:cs typeface="Arial" pitchFamily="34" charset="-120"/>
              </a:rPr>
              <a:t>• Performance optimization</a:t>
            </a:r>
            <a:endParaRPr lang="en-US" sz="850" dirty="0"/>
          </a:p>
          <a:p>
            <a:pPr marL="0" indent="0">
              <a:lnSpc>
                <a:spcPct val="135000"/>
              </a:lnSpc>
              <a:buNone/>
            </a:pPr>
            <a:r>
              <a:rPr lang="en-US" sz="850" dirty="0">
                <a:solidFill>
                  <a:srgbClr val="1F2937"/>
                </a:solidFill>
                <a:latin typeface="Arial" pitchFamily="34" charset="0"/>
                <a:ea typeface="Arial" pitchFamily="34" charset="-122"/>
                <a:cs typeface="Arial" pitchFamily="34" charset="-120"/>
              </a:rPr>
              <a:t>• Disaster Recovery (cloud)</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1B4C"/>
          </a:solidFill>
          <a:ln/>
        </p:spPr>
        <p:txBody>
          <a:bodyPr/>
          <a:lstStyle/>
          <a:p>
            <a:endParaRPr lang="en-VN"/>
          </a:p>
        </p:txBody>
      </p:sp>
      <p:sp>
        <p:nvSpPr>
          <p:cNvPr id="3" name="Shape 1"/>
          <p:cNvSpPr/>
          <p:nvPr/>
        </p:nvSpPr>
        <p:spPr>
          <a:xfrm>
            <a:off x="0" y="914400"/>
            <a:ext cx="9144000" cy="36576"/>
          </a:xfrm>
          <a:prstGeom prst="rect">
            <a:avLst/>
          </a:prstGeom>
          <a:solidFill>
            <a:srgbClr val="C8A962"/>
          </a:solidFill>
          <a:ln/>
        </p:spPr>
        <p:txBody>
          <a:bodyPr/>
          <a:lstStyle/>
          <a:p>
            <a:endParaRPr lang="en-VN"/>
          </a:p>
        </p:txBody>
      </p:sp>
      <p:sp>
        <p:nvSpPr>
          <p:cNvPr id="4" name="Text 2"/>
          <p:cNvSpPr/>
          <p:nvPr/>
        </p:nvSpPr>
        <p:spPr>
          <a:xfrm>
            <a:off x="457200" y="0"/>
            <a:ext cx="8229600" cy="548640"/>
          </a:xfrm>
          <a:prstGeom prst="rect">
            <a:avLst/>
          </a:prstGeom>
          <a:noFill/>
          <a:ln/>
        </p:spPr>
        <p:txBody>
          <a:bodyPr wrap="square" rtlCol="0" anchor="b"/>
          <a:lstStyle/>
          <a:p>
            <a:pPr marL="0" indent="0">
              <a:buNone/>
            </a:pPr>
            <a:r>
              <a:rPr lang="en-US" sz="2400" b="1" dirty="0">
                <a:solidFill>
                  <a:srgbClr val="FFFFFF"/>
                </a:solidFill>
                <a:latin typeface="Arial" pitchFamily="34" charset="0"/>
                <a:ea typeface="Arial" pitchFamily="34" charset="-122"/>
                <a:cs typeface="Arial" pitchFamily="34" charset="-120"/>
              </a:rPr>
              <a:t>Mô hình Triển khai Hybrid</a:t>
            </a:r>
            <a:endParaRPr lang="en-US" sz="2400" dirty="0"/>
          </a:p>
        </p:txBody>
      </p:sp>
      <p:sp>
        <p:nvSpPr>
          <p:cNvPr id="5" name="Text 3"/>
          <p:cNvSpPr/>
          <p:nvPr/>
        </p:nvSpPr>
        <p:spPr>
          <a:xfrm>
            <a:off x="457200" y="548640"/>
            <a:ext cx="8229600" cy="365760"/>
          </a:xfrm>
          <a:prstGeom prst="rect">
            <a:avLst/>
          </a:prstGeom>
          <a:noFill/>
          <a:ln/>
        </p:spPr>
        <p:txBody>
          <a:bodyPr wrap="square" rtlCol="0" anchor="t"/>
          <a:lstStyle/>
          <a:p>
            <a:pPr marL="0" indent="0">
              <a:buNone/>
            </a:pPr>
            <a:r>
              <a:rPr lang="en-US" sz="1300" dirty="0">
                <a:solidFill>
                  <a:srgbClr val="C8A962"/>
                </a:solidFill>
                <a:latin typeface="Arial" pitchFamily="34" charset="0"/>
                <a:ea typeface="Arial" pitchFamily="34" charset="-122"/>
                <a:cs typeface="Arial" pitchFamily="34" charset="-120"/>
              </a:rPr>
              <a:t>Deployment Model - On-Premise + Cloud</a:t>
            </a:r>
            <a:endParaRPr lang="en-US" sz="1300" dirty="0"/>
          </a:p>
        </p:txBody>
      </p:sp>
      <p:sp>
        <p:nvSpPr>
          <p:cNvPr id="6" name="Shape 4"/>
          <p:cNvSpPr/>
          <p:nvPr/>
        </p:nvSpPr>
        <p:spPr>
          <a:xfrm>
            <a:off x="0" y="4709160"/>
            <a:ext cx="9144000" cy="434340"/>
          </a:xfrm>
          <a:prstGeom prst="rect">
            <a:avLst/>
          </a:prstGeom>
          <a:solidFill>
            <a:srgbClr val="0D1B4C"/>
          </a:solidFill>
          <a:ln/>
        </p:spPr>
        <p:txBody>
          <a:bodyPr/>
          <a:lstStyle/>
          <a:p>
            <a:endParaRPr lang="en-VN"/>
          </a:p>
        </p:txBody>
      </p:sp>
      <p:sp>
        <p:nvSpPr>
          <p:cNvPr id="7" name="Text 5"/>
          <p:cNvSpPr/>
          <p:nvPr/>
        </p:nvSpPr>
        <p:spPr>
          <a:xfrm>
            <a:off x="457200" y="4709160"/>
            <a:ext cx="6400800" cy="434340"/>
          </a:xfrm>
          <a:prstGeom prst="rect">
            <a:avLst/>
          </a:prstGeom>
          <a:noFill/>
          <a:ln/>
        </p:spPr>
        <p:txBody>
          <a:bodyPr wrap="square" rtlCol="0" anchor="ctr"/>
          <a:lstStyle/>
          <a:p>
            <a:pPr marL="0" indent="0">
              <a:buNone/>
            </a:pPr>
            <a:r>
              <a:rPr lang="en-US" sz="900" dirty="0">
                <a:solidFill>
                  <a:srgbClr val="C8A962"/>
                </a:solidFill>
                <a:latin typeface="Arial" pitchFamily="34" charset="0"/>
                <a:ea typeface="Arial" pitchFamily="34" charset="-122"/>
                <a:cs typeface="Arial" pitchFamily="34" charset="-120"/>
              </a:rPr>
              <a:t>Tiên Phong CDS  |  Novagroup  |  Hub Integration Platform</a:t>
            </a:r>
            <a:endParaRPr lang="en-US" sz="900" dirty="0"/>
          </a:p>
        </p:txBody>
      </p:sp>
      <p:sp>
        <p:nvSpPr>
          <p:cNvPr id="8" name="Text 6"/>
          <p:cNvSpPr/>
          <p:nvPr/>
        </p:nvSpPr>
        <p:spPr>
          <a:xfrm>
            <a:off x="7772400" y="4709160"/>
            <a:ext cx="914400" cy="434340"/>
          </a:xfrm>
          <a:prstGeom prst="rect">
            <a:avLst/>
          </a:prstGeom>
          <a:noFill/>
          <a:ln/>
        </p:spPr>
        <p:txBody>
          <a:bodyPr wrap="square" rtlCol="0" anchor="ctr"/>
          <a:lstStyle/>
          <a:p>
            <a:pPr marL="0" indent="0" algn="r">
              <a:buNone/>
            </a:pPr>
            <a:r>
              <a:rPr lang="en-US" sz="900" dirty="0">
                <a:solidFill>
                  <a:srgbClr val="FFFFFF"/>
                </a:solidFill>
                <a:latin typeface="Arial" pitchFamily="34" charset="0"/>
                <a:ea typeface="Arial" pitchFamily="34" charset="-122"/>
                <a:cs typeface="Arial" pitchFamily="34" charset="-120"/>
              </a:rPr>
              <a:t>13</a:t>
            </a:r>
            <a:endParaRPr lang="en-US" sz="900" dirty="0"/>
          </a:p>
        </p:txBody>
      </p:sp>
      <p:sp>
        <p:nvSpPr>
          <p:cNvPr id="9" name="Shape 7"/>
          <p:cNvSpPr/>
          <p:nvPr/>
        </p:nvSpPr>
        <p:spPr>
          <a:xfrm>
            <a:off x="274320" y="1188720"/>
            <a:ext cx="3931920" cy="3200400"/>
          </a:xfrm>
          <a:prstGeom prst="roundRect">
            <a:avLst>
              <a:gd name="adj" fmla="val 2857"/>
            </a:avLst>
          </a:prstGeom>
          <a:solidFill>
            <a:srgbClr val="EFF6FF"/>
          </a:solidFill>
          <a:ln w="25400">
            <a:solidFill>
              <a:srgbClr val="0D1B4C"/>
            </a:solidFill>
            <a:prstDash val="solid"/>
          </a:ln>
        </p:spPr>
        <p:txBody>
          <a:bodyPr/>
          <a:lstStyle/>
          <a:p>
            <a:endParaRPr lang="en-VN"/>
          </a:p>
        </p:txBody>
      </p:sp>
      <p:sp>
        <p:nvSpPr>
          <p:cNvPr id="10" name="Text 8"/>
          <p:cNvSpPr/>
          <p:nvPr/>
        </p:nvSpPr>
        <p:spPr>
          <a:xfrm>
            <a:off x="365760" y="1234440"/>
            <a:ext cx="3749040" cy="320040"/>
          </a:xfrm>
          <a:prstGeom prst="rect">
            <a:avLst/>
          </a:prstGeom>
          <a:noFill/>
          <a:ln/>
        </p:spPr>
        <p:txBody>
          <a:bodyPr wrap="square" rtlCol="0" anchor="ctr"/>
          <a:lstStyle/>
          <a:p>
            <a:pPr marL="0" indent="0" algn="ctr">
              <a:buNone/>
            </a:pPr>
            <a:r>
              <a:rPr lang="en-US" sz="1000" b="1" dirty="0">
                <a:solidFill>
                  <a:srgbClr val="0D1B4C"/>
                </a:solidFill>
                <a:latin typeface="Arial" pitchFamily="34" charset="0"/>
                <a:ea typeface="Arial" pitchFamily="34" charset="-122"/>
                <a:cs typeface="Arial" pitchFamily="34" charset="-120"/>
              </a:rPr>
              <a:t>NVG PRIVATE CLOUD / ON-PREMISE</a:t>
            </a:r>
            <a:endParaRPr lang="en-US" sz="1000" dirty="0"/>
          </a:p>
        </p:txBody>
      </p:sp>
      <p:sp>
        <p:nvSpPr>
          <p:cNvPr id="11" name="Text 9"/>
          <p:cNvSpPr/>
          <p:nvPr/>
        </p:nvSpPr>
        <p:spPr>
          <a:xfrm>
            <a:off x="457200" y="1600200"/>
            <a:ext cx="3566160" cy="320040"/>
          </a:xfrm>
          <a:prstGeom prst="rect">
            <a:avLst/>
          </a:prstGeom>
          <a:noFill/>
          <a:ln/>
        </p:spPr>
        <p:txBody>
          <a:bodyPr wrap="square" rtlCol="0" anchor="ctr"/>
          <a:lstStyle/>
          <a:p>
            <a:pPr marL="0" indent="0">
              <a:buNone/>
            </a:pPr>
            <a:r>
              <a:rPr lang="en-US" sz="950" dirty="0">
                <a:solidFill>
                  <a:srgbClr val="1F2937"/>
                </a:solidFill>
                <a:latin typeface="Arial" pitchFamily="34" charset="0"/>
                <a:ea typeface="Arial" pitchFamily="34" charset="-122"/>
                <a:cs typeface="Arial" pitchFamily="34" charset="-120"/>
              </a:rPr>
              <a:t>✓  Core Integration Hub</a:t>
            </a:r>
            <a:endParaRPr lang="en-US" sz="950" dirty="0"/>
          </a:p>
        </p:txBody>
      </p:sp>
      <p:sp>
        <p:nvSpPr>
          <p:cNvPr id="12" name="Text 10"/>
          <p:cNvSpPr/>
          <p:nvPr/>
        </p:nvSpPr>
        <p:spPr>
          <a:xfrm>
            <a:off x="457200" y="1920240"/>
            <a:ext cx="3566160" cy="320040"/>
          </a:xfrm>
          <a:prstGeom prst="rect">
            <a:avLst/>
          </a:prstGeom>
          <a:noFill/>
          <a:ln/>
        </p:spPr>
        <p:txBody>
          <a:bodyPr wrap="square" rtlCol="0" anchor="ctr"/>
          <a:lstStyle/>
          <a:p>
            <a:pPr marL="0" indent="0">
              <a:buNone/>
            </a:pPr>
            <a:r>
              <a:rPr lang="en-US" sz="950" dirty="0">
                <a:solidFill>
                  <a:srgbClr val="1F2937"/>
                </a:solidFill>
                <a:latin typeface="Arial" pitchFamily="34" charset="0"/>
                <a:ea typeface="Arial" pitchFamily="34" charset="-122"/>
                <a:cs typeface="Arial" pitchFamily="34" charset="-120"/>
              </a:rPr>
              <a:t>✓  API Gateway (Kong)</a:t>
            </a:r>
            <a:endParaRPr lang="en-US" sz="950" dirty="0"/>
          </a:p>
        </p:txBody>
      </p:sp>
      <p:sp>
        <p:nvSpPr>
          <p:cNvPr id="13" name="Text 11"/>
          <p:cNvSpPr/>
          <p:nvPr/>
        </p:nvSpPr>
        <p:spPr>
          <a:xfrm>
            <a:off x="457200" y="2240280"/>
            <a:ext cx="3566160" cy="320040"/>
          </a:xfrm>
          <a:prstGeom prst="rect">
            <a:avLst/>
          </a:prstGeom>
          <a:noFill/>
          <a:ln/>
        </p:spPr>
        <p:txBody>
          <a:bodyPr wrap="square" rtlCol="0" anchor="ctr"/>
          <a:lstStyle/>
          <a:p>
            <a:pPr marL="0" indent="0">
              <a:buNone/>
            </a:pPr>
            <a:r>
              <a:rPr lang="en-US" sz="950" dirty="0">
                <a:solidFill>
                  <a:srgbClr val="1F2937"/>
                </a:solidFill>
                <a:latin typeface="Arial" pitchFamily="34" charset="0"/>
                <a:ea typeface="Arial" pitchFamily="34" charset="-122"/>
                <a:cs typeface="Arial" pitchFamily="34" charset="-120"/>
              </a:rPr>
              <a:t>✓  Kafka Cluster (3+ brokers)</a:t>
            </a:r>
            <a:endParaRPr lang="en-US" sz="950" dirty="0"/>
          </a:p>
        </p:txBody>
      </p:sp>
      <p:sp>
        <p:nvSpPr>
          <p:cNvPr id="14" name="Text 12"/>
          <p:cNvSpPr/>
          <p:nvPr/>
        </p:nvSpPr>
        <p:spPr>
          <a:xfrm>
            <a:off x="457200" y="2560320"/>
            <a:ext cx="3566160" cy="320040"/>
          </a:xfrm>
          <a:prstGeom prst="rect">
            <a:avLst/>
          </a:prstGeom>
          <a:noFill/>
          <a:ln/>
        </p:spPr>
        <p:txBody>
          <a:bodyPr wrap="square" rtlCol="0" anchor="ctr"/>
          <a:lstStyle/>
          <a:p>
            <a:pPr marL="0" indent="0">
              <a:buNone/>
            </a:pPr>
            <a:r>
              <a:rPr lang="en-US" sz="950" dirty="0">
                <a:solidFill>
                  <a:srgbClr val="1F2937"/>
                </a:solidFill>
                <a:latin typeface="Arial" pitchFamily="34" charset="0"/>
                <a:ea typeface="Arial" pitchFamily="34" charset="-122"/>
                <a:cs typeface="Arial" pitchFamily="34" charset="-120"/>
              </a:rPr>
              <a:t>✓  n8n Workflows</a:t>
            </a:r>
            <a:endParaRPr lang="en-US" sz="950" dirty="0"/>
          </a:p>
        </p:txBody>
      </p:sp>
      <p:sp>
        <p:nvSpPr>
          <p:cNvPr id="15" name="Text 13"/>
          <p:cNvSpPr/>
          <p:nvPr/>
        </p:nvSpPr>
        <p:spPr>
          <a:xfrm>
            <a:off x="457200" y="2880360"/>
            <a:ext cx="3566160" cy="320040"/>
          </a:xfrm>
          <a:prstGeom prst="rect">
            <a:avLst/>
          </a:prstGeom>
          <a:noFill/>
          <a:ln/>
        </p:spPr>
        <p:txBody>
          <a:bodyPr wrap="square" rtlCol="0" anchor="ctr"/>
          <a:lstStyle/>
          <a:p>
            <a:pPr marL="0" indent="0">
              <a:buNone/>
            </a:pPr>
            <a:r>
              <a:rPr lang="en-US" sz="950" dirty="0">
                <a:solidFill>
                  <a:srgbClr val="1F2937"/>
                </a:solidFill>
                <a:latin typeface="Arial" pitchFamily="34" charset="0"/>
                <a:ea typeface="Arial" pitchFamily="34" charset="-122"/>
                <a:cs typeface="Arial" pitchFamily="34" charset="-120"/>
              </a:rPr>
              <a:t>✓  Keycloak (IAM)</a:t>
            </a:r>
            <a:endParaRPr lang="en-US" sz="950" dirty="0"/>
          </a:p>
        </p:txBody>
      </p:sp>
      <p:sp>
        <p:nvSpPr>
          <p:cNvPr id="16" name="Text 14"/>
          <p:cNvSpPr/>
          <p:nvPr/>
        </p:nvSpPr>
        <p:spPr>
          <a:xfrm>
            <a:off x="457200" y="3200400"/>
            <a:ext cx="3566160" cy="320040"/>
          </a:xfrm>
          <a:prstGeom prst="rect">
            <a:avLst/>
          </a:prstGeom>
          <a:noFill/>
          <a:ln/>
        </p:spPr>
        <p:txBody>
          <a:bodyPr wrap="square" rtlCol="0" anchor="ctr"/>
          <a:lstStyle/>
          <a:p>
            <a:pPr marL="0" indent="0">
              <a:buNone/>
            </a:pPr>
            <a:r>
              <a:rPr lang="en-US" sz="950" dirty="0">
                <a:solidFill>
                  <a:srgbClr val="1F2937"/>
                </a:solidFill>
                <a:latin typeface="Arial" pitchFamily="34" charset="0"/>
                <a:ea typeface="Arial" pitchFamily="34" charset="-122"/>
                <a:cs typeface="Arial" pitchFamily="34" charset="-120"/>
              </a:rPr>
              <a:t>✓  Core Databases (PostgreSQL HA)</a:t>
            </a:r>
            <a:endParaRPr lang="en-US" sz="950" dirty="0"/>
          </a:p>
        </p:txBody>
      </p:sp>
      <p:sp>
        <p:nvSpPr>
          <p:cNvPr id="17" name="Text 15"/>
          <p:cNvSpPr/>
          <p:nvPr/>
        </p:nvSpPr>
        <p:spPr>
          <a:xfrm>
            <a:off x="457200" y="3520440"/>
            <a:ext cx="3566160" cy="320040"/>
          </a:xfrm>
          <a:prstGeom prst="rect">
            <a:avLst/>
          </a:prstGeom>
          <a:noFill/>
          <a:ln/>
        </p:spPr>
        <p:txBody>
          <a:bodyPr wrap="square" rtlCol="0" anchor="ctr"/>
          <a:lstStyle/>
          <a:p>
            <a:pPr marL="0" indent="0">
              <a:buNone/>
            </a:pPr>
            <a:r>
              <a:rPr lang="en-US" sz="950" dirty="0">
                <a:solidFill>
                  <a:srgbClr val="1F2937"/>
                </a:solidFill>
                <a:latin typeface="Arial" pitchFamily="34" charset="0"/>
                <a:ea typeface="Arial" pitchFamily="34" charset="-122"/>
                <a:cs typeface="Arial" pitchFamily="34" charset="-120"/>
              </a:rPr>
              <a:t>✓  ELK Stack &amp; Monitoring</a:t>
            </a:r>
            <a:endParaRPr lang="en-US" sz="950" dirty="0"/>
          </a:p>
        </p:txBody>
      </p:sp>
      <p:sp>
        <p:nvSpPr>
          <p:cNvPr id="18" name="Text 16"/>
          <p:cNvSpPr/>
          <p:nvPr/>
        </p:nvSpPr>
        <p:spPr>
          <a:xfrm>
            <a:off x="457200" y="3840480"/>
            <a:ext cx="3566160" cy="320040"/>
          </a:xfrm>
          <a:prstGeom prst="rect">
            <a:avLst/>
          </a:prstGeom>
          <a:noFill/>
          <a:ln/>
        </p:spPr>
        <p:txBody>
          <a:bodyPr wrap="square" rtlCol="0" anchor="ctr"/>
          <a:lstStyle/>
          <a:p>
            <a:pPr marL="0" indent="0">
              <a:buNone/>
            </a:pPr>
            <a:r>
              <a:rPr lang="en-US" sz="950" dirty="0">
                <a:solidFill>
                  <a:srgbClr val="1F2937"/>
                </a:solidFill>
                <a:latin typeface="Arial" pitchFamily="34" charset="0"/>
                <a:ea typeface="Arial" pitchFamily="34" charset="-122"/>
                <a:cs typeface="Arial" pitchFamily="34" charset="-120"/>
              </a:rPr>
              <a:t>✓  Dữ liệu nhạy cảm</a:t>
            </a:r>
            <a:endParaRPr lang="en-US" sz="950" dirty="0"/>
          </a:p>
        </p:txBody>
      </p:sp>
      <p:sp>
        <p:nvSpPr>
          <p:cNvPr id="19" name="Shape 17"/>
          <p:cNvSpPr/>
          <p:nvPr/>
        </p:nvSpPr>
        <p:spPr>
          <a:xfrm>
            <a:off x="4937760" y="1188720"/>
            <a:ext cx="3931920" cy="3200400"/>
          </a:xfrm>
          <a:prstGeom prst="roundRect">
            <a:avLst>
              <a:gd name="adj" fmla="val 2857"/>
            </a:avLst>
          </a:prstGeom>
          <a:solidFill>
            <a:srgbClr val="FFF7ED"/>
          </a:solidFill>
          <a:ln w="25400">
            <a:solidFill>
              <a:srgbClr val="EA580C"/>
            </a:solidFill>
            <a:prstDash val="solid"/>
          </a:ln>
        </p:spPr>
        <p:txBody>
          <a:bodyPr/>
          <a:lstStyle/>
          <a:p>
            <a:endParaRPr lang="en-VN"/>
          </a:p>
        </p:txBody>
      </p:sp>
      <p:sp>
        <p:nvSpPr>
          <p:cNvPr id="20" name="Text 18"/>
          <p:cNvSpPr/>
          <p:nvPr/>
        </p:nvSpPr>
        <p:spPr>
          <a:xfrm>
            <a:off x="5029200" y="1234440"/>
            <a:ext cx="3749040" cy="320040"/>
          </a:xfrm>
          <a:prstGeom prst="rect">
            <a:avLst/>
          </a:prstGeom>
          <a:noFill/>
          <a:ln/>
        </p:spPr>
        <p:txBody>
          <a:bodyPr wrap="square" rtlCol="0" anchor="ctr"/>
          <a:lstStyle/>
          <a:p>
            <a:pPr marL="0" indent="0" algn="ctr">
              <a:buNone/>
            </a:pPr>
            <a:r>
              <a:rPr lang="en-US" sz="1000" b="1" dirty="0">
                <a:solidFill>
                  <a:srgbClr val="EA580C"/>
                </a:solidFill>
                <a:latin typeface="Arial" pitchFamily="34" charset="0"/>
                <a:ea typeface="Arial" pitchFamily="34" charset="-122"/>
                <a:cs typeface="Arial" pitchFamily="34" charset="-120"/>
              </a:rPr>
              <a:t>PUBLIC CLOUD (AWS / AZURE)</a:t>
            </a:r>
            <a:endParaRPr lang="en-US" sz="1000" dirty="0"/>
          </a:p>
        </p:txBody>
      </p:sp>
      <p:sp>
        <p:nvSpPr>
          <p:cNvPr id="21" name="Text 19"/>
          <p:cNvSpPr/>
          <p:nvPr/>
        </p:nvSpPr>
        <p:spPr>
          <a:xfrm>
            <a:off x="5120640" y="1600200"/>
            <a:ext cx="3566160" cy="320040"/>
          </a:xfrm>
          <a:prstGeom prst="rect">
            <a:avLst/>
          </a:prstGeom>
          <a:noFill/>
          <a:ln/>
        </p:spPr>
        <p:txBody>
          <a:bodyPr wrap="square" rtlCol="0" anchor="ctr"/>
          <a:lstStyle/>
          <a:p>
            <a:pPr marL="0" indent="0">
              <a:buNone/>
            </a:pPr>
            <a:r>
              <a:rPr lang="en-US" sz="950" dirty="0">
                <a:solidFill>
                  <a:srgbClr val="1F2937"/>
                </a:solidFill>
                <a:latin typeface="Arial" pitchFamily="34" charset="0"/>
                <a:ea typeface="Arial" pitchFamily="34" charset="-122"/>
                <a:cs typeface="Arial" pitchFamily="34" charset="-120"/>
              </a:rPr>
              <a:t>✓  CDN, WAF, DDoS Protection</a:t>
            </a:r>
            <a:endParaRPr lang="en-US" sz="950" dirty="0"/>
          </a:p>
        </p:txBody>
      </p:sp>
      <p:sp>
        <p:nvSpPr>
          <p:cNvPr id="22" name="Text 20"/>
          <p:cNvSpPr/>
          <p:nvPr/>
        </p:nvSpPr>
        <p:spPr>
          <a:xfrm>
            <a:off x="5120640" y="1920240"/>
            <a:ext cx="3566160" cy="320040"/>
          </a:xfrm>
          <a:prstGeom prst="rect">
            <a:avLst/>
          </a:prstGeom>
          <a:noFill/>
          <a:ln/>
        </p:spPr>
        <p:txBody>
          <a:bodyPr wrap="square" rtlCol="0" anchor="ctr"/>
          <a:lstStyle/>
          <a:p>
            <a:pPr marL="0" indent="0">
              <a:buNone/>
            </a:pPr>
            <a:r>
              <a:rPr lang="en-US" sz="950" dirty="0">
                <a:solidFill>
                  <a:srgbClr val="1F2937"/>
                </a:solidFill>
                <a:latin typeface="Arial" pitchFamily="34" charset="0"/>
                <a:ea typeface="Arial" pitchFamily="34" charset="-122"/>
                <a:cs typeface="Arial" pitchFamily="34" charset="-120"/>
              </a:rPr>
              <a:t>✓  External API Gateway</a:t>
            </a:r>
            <a:endParaRPr lang="en-US" sz="950" dirty="0"/>
          </a:p>
        </p:txBody>
      </p:sp>
      <p:sp>
        <p:nvSpPr>
          <p:cNvPr id="23" name="Text 21"/>
          <p:cNvSpPr/>
          <p:nvPr/>
        </p:nvSpPr>
        <p:spPr>
          <a:xfrm>
            <a:off x="5120640" y="2240280"/>
            <a:ext cx="3566160" cy="320040"/>
          </a:xfrm>
          <a:prstGeom prst="rect">
            <a:avLst/>
          </a:prstGeom>
          <a:noFill/>
          <a:ln/>
        </p:spPr>
        <p:txBody>
          <a:bodyPr wrap="square" rtlCol="0" anchor="ctr"/>
          <a:lstStyle/>
          <a:p>
            <a:pPr marL="0" indent="0">
              <a:buNone/>
            </a:pPr>
            <a:r>
              <a:rPr lang="en-US" sz="950" dirty="0">
                <a:solidFill>
                  <a:srgbClr val="1F2937"/>
                </a:solidFill>
                <a:latin typeface="Arial" pitchFamily="34" charset="0"/>
                <a:ea typeface="Arial" pitchFamily="34" charset="-122"/>
                <a:cs typeface="Arial" pitchFamily="34" charset="-120"/>
              </a:rPr>
              <a:t>✓  DR / Backup Site</a:t>
            </a:r>
            <a:endParaRPr lang="en-US" sz="950" dirty="0"/>
          </a:p>
        </p:txBody>
      </p:sp>
      <p:sp>
        <p:nvSpPr>
          <p:cNvPr id="24" name="Text 22"/>
          <p:cNvSpPr/>
          <p:nvPr/>
        </p:nvSpPr>
        <p:spPr>
          <a:xfrm>
            <a:off x="5120640" y="2560320"/>
            <a:ext cx="3566160" cy="320040"/>
          </a:xfrm>
          <a:prstGeom prst="rect">
            <a:avLst/>
          </a:prstGeom>
          <a:noFill/>
          <a:ln/>
        </p:spPr>
        <p:txBody>
          <a:bodyPr wrap="square" rtlCol="0" anchor="ctr"/>
          <a:lstStyle/>
          <a:p>
            <a:pPr marL="0" indent="0">
              <a:buNone/>
            </a:pPr>
            <a:r>
              <a:rPr lang="en-US" sz="950" dirty="0">
                <a:solidFill>
                  <a:srgbClr val="1F2937"/>
                </a:solidFill>
                <a:latin typeface="Arial" pitchFamily="34" charset="0"/>
                <a:ea typeface="Arial" pitchFamily="34" charset="-122"/>
                <a:cs typeface="Arial" pitchFamily="34" charset="-120"/>
              </a:rPr>
              <a:t>✓  Dev/Staging Environment</a:t>
            </a:r>
            <a:endParaRPr lang="en-US" sz="950" dirty="0"/>
          </a:p>
        </p:txBody>
      </p:sp>
      <p:sp>
        <p:nvSpPr>
          <p:cNvPr id="25" name="Text 23"/>
          <p:cNvSpPr/>
          <p:nvPr/>
        </p:nvSpPr>
        <p:spPr>
          <a:xfrm>
            <a:off x="5120640" y="2880360"/>
            <a:ext cx="3566160" cy="320040"/>
          </a:xfrm>
          <a:prstGeom prst="rect">
            <a:avLst/>
          </a:prstGeom>
          <a:noFill/>
          <a:ln/>
        </p:spPr>
        <p:txBody>
          <a:bodyPr wrap="square" rtlCol="0" anchor="ctr"/>
          <a:lstStyle/>
          <a:p>
            <a:pPr marL="0" indent="0">
              <a:buNone/>
            </a:pPr>
            <a:r>
              <a:rPr lang="en-US" sz="950" dirty="0">
                <a:solidFill>
                  <a:srgbClr val="1F2937"/>
                </a:solidFill>
                <a:latin typeface="Arial" pitchFamily="34" charset="0"/>
                <a:ea typeface="Arial" pitchFamily="34" charset="-122"/>
                <a:cs typeface="Arial" pitchFamily="34" charset="-120"/>
              </a:rPr>
              <a:t>✓  AI/ML Services</a:t>
            </a:r>
            <a:endParaRPr lang="en-US" sz="950" dirty="0"/>
          </a:p>
        </p:txBody>
      </p:sp>
      <p:sp>
        <p:nvSpPr>
          <p:cNvPr id="26" name="Text 24"/>
          <p:cNvSpPr/>
          <p:nvPr/>
        </p:nvSpPr>
        <p:spPr>
          <a:xfrm>
            <a:off x="5120640" y="3200400"/>
            <a:ext cx="3566160" cy="320040"/>
          </a:xfrm>
          <a:prstGeom prst="rect">
            <a:avLst/>
          </a:prstGeom>
          <a:noFill/>
          <a:ln/>
        </p:spPr>
        <p:txBody>
          <a:bodyPr wrap="square" rtlCol="0" anchor="ctr"/>
          <a:lstStyle/>
          <a:p>
            <a:pPr marL="0" indent="0">
              <a:buNone/>
            </a:pPr>
            <a:r>
              <a:rPr lang="en-US" sz="950" dirty="0">
                <a:solidFill>
                  <a:srgbClr val="1F2937"/>
                </a:solidFill>
                <a:latin typeface="Arial" pitchFamily="34" charset="0"/>
                <a:ea typeface="Arial" pitchFamily="34" charset="-122"/>
                <a:cs typeface="Arial" pitchFamily="34" charset="-120"/>
              </a:rPr>
              <a:t>✓  Object Storage (archival)</a:t>
            </a:r>
            <a:endParaRPr lang="en-US" sz="950" dirty="0"/>
          </a:p>
        </p:txBody>
      </p:sp>
      <p:sp>
        <p:nvSpPr>
          <p:cNvPr id="27" name="Text 25"/>
          <p:cNvSpPr/>
          <p:nvPr/>
        </p:nvSpPr>
        <p:spPr>
          <a:xfrm>
            <a:off x="5120640" y="3520440"/>
            <a:ext cx="3566160" cy="320040"/>
          </a:xfrm>
          <a:prstGeom prst="rect">
            <a:avLst/>
          </a:prstGeom>
          <a:noFill/>
          <a:ln/>
        </p:spPr>
        <p:txBody>
          <a:bodyPr wrap="square" rtlCol="0" anchor="ctr"/>
          <a:lstStyle/>
          <a:p>
            <a:pPr marL="0" indent="0">
              <a:buNone/>
            </a:pPr>
            <a:r>
              <a:rPr lang="en-US" sz="950" dirty="0">
                <a:solidFill>
                  <a:srgbClr val="1F2937"/>
                </a:solidFill>
                <a:latin typeface="Arial" pitchFamily="34" charset="0"/>
                <a:ea typeface="Arial" pitchFamily="34" charset="-122"/>
                <a:cs typeface="Arial" pitchFamily="34" charset="-120"/>
              </a:rPr>
              <a:t>✓  SaaS Connectors</a:t>
            </a:r>
            <a:endParaRPr lang="en-US" sz="950" dirty="0"/>
          </a:p>
        </p:txBody>
      </p:sp>
      <p:sp>
        <p:nvSpPr>
          <p:cNvPr id="28" name="Text 26"/>
          <p:cNvSpPr/>
          <p:nvPr/>
        </p:nvSpPr>
        <p:spPr>
          <a:xfrm>
            <a:off x="5120640" y="3840480"/>
            <a:ext cx="3566160" cy="320040"/>
          </a:xfrm>
          <a:prstGeom prst="rect">
            <a:avLst/>
          </a:prstGeom>
          <a:noFill/>
          <a:ln/>
        </p:spPr>
        <p:txBody>
          <a:bodyPr wrap="square" rtlCol="0" anchor="ctr"/>
          <a:lstStyle/>
          <a:p>
            <a:pPr marL="0" indent="0">
              <a:buNone/>
            </a:pPr>
            <a:r>
              <a:rPr lang="en-US" sz="950" dirty="0">
                <a:solidFill>
                  <a:srgbClr val="1F2937"/>
                </a:solidFill>
                <a:latin typeface="Arial" pitchFamily="34" charset="0"/>
                <a:ea typeface="Arial" pitchFamily="34" charset="-122"/>
                <a:cs typeface="Arial" pitchFamily="34" charset="-120"/>
              </a:rPr>
              <a:t>✓  Burst Capacity</a:t>
            </a:r>
            <a:endParaRPr lang="en-US" sz="950" dirty="0"/>
          </a:p>
        </p:txBody>
      </p:sp>
      <p:sp>
        <p:nvSpPr>
          <p:cNvPr id="29" name="Shape 27"/>
          <p:cNvSpPr/>
          <p:nvPr/>
        </p:nvSpPr>
        <p:spPr>
          <a:xfrm>
            <a:off x="3794760" y="2468880"/>
            <a:ext cx="1554480" cy="411480"/>
          </a:xfrm>
          <a:prstGeom prst="roundRect">
            <a:avLst>
              <a:gd name="adj" fmla="val 22222"/>
            </a:avLst>
          </a:prstGeom>
          <a:solidFill>
            <a:srgbClr val="0D1B4C"/>
          </a:solidFill>
          <a:ln/>
        </p:spPr>
        <p:txBody>
          <a:bodyPr/>
          <a:lstStyle/>
          <a:p>
            <a:endParaRPr lang="en-VN"/>
          </a:p>
        </p:txBody>
      </p:sp>
      <p:sp>
        <p:nvSpPr>
          <p:cNvPr id="30" name="Text 28"/>
          <p:cNvSpPr/>
          <p:nvPr/>
        </p:nvSpPr>
        <p:spPr>
          <a:xfrm>
            <a:off x="3794760" y="2468880"/>
            <a:ext cx="1554480" cy="411480"/>
          </a:xfrm>
          <a:prstGeom prst="rect">
            <a:avLst/>
          </a:prstGeom>
          <a:noFill/>
          <a:ln/>
        </p:spPr>
        <p:txBody>
          <a:bodyPr wrap="square" rtlCol="0" anchor="ctr"/>
          <a:lstStyle/>
          <a:p>
            <a:pPr marL="0" indent="0" algn="ctr">
              <a:buNone/>
            </a:pPr>
            <a:r>
              <a:rPr lang="en-US" sz="800" b="1" dirty="0">
                <a:solidFill>
                  <a:srgbClr val="C8A962"/>
                </a:solidFill>
                <a:latin typeface="Arial" pitchFamily="34" charset="0"/>
                <a:ea typeface="Arial" pitchFamily="34" charset="-122"/>
                <a:cs typeface="Arial" pitchFamily="34" charset="-120"/>
              </a:rPr>
              <a:t>VPN / Direct Connect</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1B4C"/>
        </a:solidFill>
        <a:effectLst/>
      </p:bgPr>
    </p:bg>
    <p:spTree>
      <p:nvGrpSpPr>
        <p:cNvPr id="1" name=""/>
        <p:cNvGrpSpPr/>
        <p:nvPr/>
      </p:nvGrpSpPr>
      <p:grpSpPr>
        <a:xfrm>
          <a:off x="0" y="0"/>
          <a:ext cx="0" cy="0"/>
          <a:chOff x="0" y="0"/>
          <a:chExt cx="0" cy="0"/>
        </a:xfrm>
      </p:grpSpPr>
      <p:sp>
        <p:nvSpPr>
          <p:cNvPr id="2" name="Shape 0"/>
          <p:cNvSpPr/>
          <p:nvPr/>
        </p:nvSpPr>
        <p:spPr>
          <a:xfrm rot="-1800000">
            <a:off x="6858000" y="274320"/>
            <a:ext cx="2011680" cy="0"/>
          </a:xfrm>
          <a:prstGeom prst="line">
            <a:avLst/>
          </a:prstGeom>
          <a:noFill/>
          <a:ln w="25400">
            <a:solidFill>
              <a:srgbClr val="C8A962"/>
            </a:solidFill>
            <a:prstDash val="solid"/>
          </a:ln>
        </p:spPr>
        <p:txBody>
          <a:bodyPr/>
          <a:lstStyle/>
          <a:p>
            <a:endParaRPr lang="en-VN"/>
          </a:p>
        </p:txBody>
      </p:sp>
      <p:sp>
        <p:nvSpPr>
          <p:cNvPr id="3" name="Shape 1"/>
          <p:cNvSpPr/>
          <p:nvPr/>
        </p:nvSpPr>
        <p:spPr>
          <a:xfrm rot="-1800000">
            <a:off x="7315200" y="91440"/>
            <a:ext cx="2011680" cy="0"/>
          </a:xfrm>
          <a:prstGeom prst="line">
            <a:avLst/>
          </a:prstGeom>
          <a:noFill/>
          <a:ln w="12700">
            <a:solidFill>
              <a:srgbClr val="C8A962"/>
            </a:solidFill>
            <a:prstDash val="solid"/>
          </a:ln>
        </p:spPr>
        <p:txBody>
          <a:bodyPr/>
          <a:lstStyle/>
          <a:p>
            <a:endParaRPr lang="en-VN"/>
          </a:p>
        </p:txBody>
      </p:sp>
      <p:sp>
        <p:nvSpPr>
          <p:cNvPr id="4" name="Shape 2"/>
          <p:cNvSpPr/>
          <p:nvPr/>
        </p:nvSpPr>
        <p:spPr>
          <a:xfrm rot="-1800000">
            <a:off x="274320" y="4114800"/>
            <a:ext cx="2011680" cy="0"/>
          </a:xfrm>
          <a:prstGeom prst="line">
            <a:avLst/>
          </a:prstGeom>
          <a:noFill/>
          <a:ln w="25400">
            <a:solidFill>
              <a:srgbClr val="C8A962"/>
            </a:solidFill>
            <a:prstDash val="solid"/>
          </a:ln>
        </p:spPr>
        <p:txBody>
          <a:bodyPr/>
          <a:lstStyle/>
          <a:p>
            <a:endParaRPr lang="en-VN"/>
          </a:p>
        </p:txBody>
      </p:sp>
      <p:sp>
        <p:nvSpPr>
          <p:cNvPr id="5" name="Shape 3"/>
          <p:cNvSpPr/>
          <p:nvPr/>
        </p:nvSpPr>
        <p:spPr>
          <a:xfrm rot="-1800000">
            <a:off x="0" y="4389120"/>
            <a:ext cx="2011680" cy="0"/>
          </a:xfrm>
          <a:prstGeom prst="line">
            <a:avLst/>
          </a:prstGeom>
          <a:noFill/>
          <a:ln w="12700">
            <a:solidFill>
              <a:srgbClr val="C8A962"/>
            </a:solidFill>
            <a:prstDash val="solid"/>
          </a:ln>
        </p:spPr>
        <p:txBody>
          <a:bodyPr/>
          <a:lstStyle/>
          <a:p>
            <a:endParaRPr lang="en-VN"/>
          </a:p>
        </p:txBody>
      </p:sp>
      <p:sp>
        <p:nvSpPr>
          <p:cNvPr id="6" name="Text 4"/>
          <p:cNvSpPr/>
          <p:nvPr/>
        </p:nvSpPr>
        <p:spPr>
          <a:xfrm>
            <a:off x="457200" y="1645920"/>
            <a:ext cx="7315200" cy="1097280"/>
          </a:xfrm>
          <a:prstGeom prst="rect">
            <a:avLst/>
          </a:prstGeom>
          <a:noFill/>
          <a:ln/>
        </p:spPr>
        <p:txBody>
          <a:bodyPr wrap="square" rtlCol="0" anchor="ctr"/>
          <a:lstStyle/>
          <a:p>
            <a:pPr marL="0" indent="0">
              <a:buNone/>
            </a:pPr>
            <a:r>
              <a:rPr lang="en-US" sz="3600" b="1" dirty="0">
                <a:solidFill>
                  <a:srgbClr val="FFFFFF"/>
                </a:solidFill>
                <a:latin typeface="Arial" pitchFamily="34" charset="0"/>
                <a:ea typeface="Arial" pitchFamily="34" charset="-122"/>
                <a:cs typeface="Arial" pitchFamily="34" charset="-120"/>
              </a:rPr>
              <a:t>GIÁ TRỊ</a:t>
            </a:r>
            <a:endParaRPr lang="en-US" sz="3600" dirty="0"/>
          </a:p>
          <a:p>
            <a:pPr marL="0" indent="0">
              <a:buNone/>
            </a:pPr>
            <a:r>
              <a:rPr lang="en-US" sz="3600" b="1" dirty="0">
                <a:solidFill>
                  <a:srgbClr val="FFFFFF"/>
                </a:solidFill>
                <a:latin typeface="Arial" pitchFamily="34" charset="0"/>
                <a:ea typeface="Arial" pitchFamily="34" charset="-122"/>
                <a:cs typeface="Arial" pitchFamily="34" charset="-120"/>
              </a:rPr>
              <a:t>MANG LẠI</a:t>
            </a:r>
            <a:endParaRPr lang="en-US" sz="3600" dirty="0"/>
          </a:p>
        </p:txBody>
      </p:sp>
      <p:sp>
        <p:nvSpPr>
          <p:cNvPr id="7" name="Text 5"/>
          <p:cNvSpPr/>
          <p:nvPr/>
        </p:nvSpPr>
        <p:spPr>
          <a:xfrm>
            <a:off x="457200" y="2743200"/>
            <a:ext cx="7315200" cy="548640"/>
          </a:xfrm>
          <a:prstGeom prst="rect">
            <a:avLst/>
          </a:prstGeom>
          <a:noFill/>
          <a:ln/>
        </p:spPr>
        <p:txBody>
          <a:bodyPr wrap="square" rtlCol="0" anchor="t"/>
          <a:lstStyle/>
          <a:p>
            <a:pPr marL="0" indent="0">
              <a:buNone/>
            </a:pPr>
            <a:r>
              <a:rPr lang="en-US" sz="1600" dirty="0">
                <a:solidFill>
                  <a:srgbClr val="C8A962"/>
                </a:solidFill>
                <a:latin typeface="Arial" pitchFamily="34" charset="0"/>
                <a:ea typeface="Arial" pitchFamily="34" charset="-122"/>
                <a:cs typeface="Arial" pitchFamily="34" charset="-120"/>
              </a:rPr>
              <a:t>Lợi ích kinh doanh và kỹ thuật cho Novagroup</a:t>
            </a:r>
            <a:endParaRPr lang="en-US" sz="1600" dirty="0"/>
          </a:p>
        </p:txBody>
      </p:sp>
      <p:sp>
        <p:nvSpPr>
          <p:cNvPr id="8" name="Shape 6"/>
          <p:cNvSpPr/>
          <p:nvPr/>
        </p:nvSpPr>
        <p:spPr>
          <a:xfrm>
            <a:off x="0" y="4937760"/>
            <a:ext cx="9144000" cy="205740"/>
          </a:xfrm>
          <a:prstGeom prst="rect">
            <a:avLst/>
          </a:prstGeom>
          <a:solidFill>
            <a:srgbClr val="C8A962"/>
          </a:solidFill>
          <a:ln/>
        </p:spPr>
        <p:txBody>
          <a:bodyPr/>
          <a:lstStyle/>
          <a:p>
            <a:endParaRPr lang="en-VN"/>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1B4C"/>
          </a:solidFill>
          <a:ln/>
        </p:spPr>
        <p:txBody>
          <a:bodyPr/>
          <a:lstStyle/>
          <a:p>
            <a:endParaRPr lang="en-VN"/>
          </a:p>
        </p:txBody>
      </p:sp>
      <p:sp>
        <p:nvSpPr>
          <p:cNvPr id="3" name="Shape 1"/>
          <p:cNvSpPr/>
          <p:nvPr/>
        </p:nvSpPr>
        <p:spPr>
          <a:xfrm>
            <a:off x="0" y="914400"/>
            <a:ext cx="9144000" cy="36576"/>
          </a:xfrm>
          <a:prstGeom prst="rect">
            <a:avLst/>
          </a:prstGeom>
          <a:solidFill>
            <a:srgbClr val="C8A962"/>
          </a:solidFill>
          <a:ln/>
        </p:spPr>
        <p:txBody>
          <a:bodyPr/>
          <a:lstStyle/>
          <a:p>
            <a:endParaRPr lang="en-VN"/>
          </a:p>
        </p:txBody>
      </p:sp>
      <p:sp>
        <p:nvSpPr>
          <p:cNvPr id="4" name="Text 2"/>
          <p:cNvSpPr/>
          <p:nvPr/>
        </p:nvSpPr>
        <p:spPr>
          <a:xfrm>
            <a:off x="457200" y="0"/>
            <a:ext cx="8229600" cy="548640"/>
          </a:xfrm>
          <a:prstGeom prst="rect">
            <a:avLst/>
          </a:prstGeom>
          <a:noFill/>
          <a:ln/>
        </p:spPr>
        <p:txBody>
          <a:bodyPr wrap="square" rtlCol="0" anchor="b"/>
          <a:lstStyle/>
          <a:p>
            <a:pPr marL="0" indent="0">
              <a:buNone/>
            </a:pPr>
            <a:r>
              <a:rPr lang="en-US" sz="2400" b="1" dirty="0">
                <a:solidFill>
                  <a:srgbClr val="FFFFFF"/>
                </a:solidFill>
                <a:latin typeface="Arial" pitchFamily="34" charset="0"/>
                <a:ea typeface="Arial" pitchFamily="34" charset="-122"/>
                <a:cs typeface="Arial" pitchFamily="34" charset="-120"/>
              </a:rPr>
              <a:t>Giá trị Mang Lại</a:t>
            </a:r>
            <a:endParaRPr lang="en-US" sz="2400" dirty="0"/>
          </a:p>
        </p:txBody>
      </p:sp>
      <p:sp>
        <p:nvSpPr>
          <p:cNvPr id="5" name="Text 3"/>
          <p:cNvSpPr/>
          <p:nvPr/>
        </p:nvSpPr>
        <p:spPr>
          <a:xfrm>
            <a:off x="457200" y="548640"/>
            <a:ext cx="8229600" cy="365760"/>
          </a:xfrm>
          <a:prstGeom prst="rect">
            <a:avLst/>
          </a:prstGeom>
          <a:noFill/>
          <a:ln/>
        </p:spPr>
        <p:txBody>
          <a:bodyPr wrap="square" rtlCol="0" anchor="t"/>
          <a:lstStyle/>
          <a:p>
            <a:pPr marL="0" indent="0">
              <a:buNone/>
            </a:pPr>
            <a:r>
              <a:rPr lang="en-US" sz="1300" dirty="0">
                <a:solidFill>
                  <a:srgbClr val="C8A962"/>
                </a:solidFill>
                <a:latin typeface="Arial" pitchFamily="34" charset="0"/>
                <a:ea typeface="Arial" pitchFamily="34" charset="-122"/>
                <a:cs typeface="Arial" pitchFamily="34" charset="-120"/>
              </a:rPr>
              <a:t>Business &amp; Technical Benefits</a:t>
            </a:r>
            <a:endParaRPr lang="en-US" sz="1300" dirty="0"/>
          </a:p>
        </p:txBody>
      </p:sp>
      <p:sp>
        <p:nvSpPr>
          <p:cNvPr id="6" name="Shape 4"/>
          <p:cNvSpPr/>
          <p:nvPr/>
        </p:nvSpPr>
        <p:spPr>
          <a:xfrm>
            <a:off x="0" y="4709160"/>
            <a:ext cx="9144000" cy="434340"/>
          </a:xfrm>
          <a:prstGeom prst="rect">
            <a:avLst/>
          </a:prstGeom>
          <a:solidFill>
            <a:srgbClr val="0D1B4C"/>
          </a:solidFill>
          <a:ln/>
        </p:spPr>
        <p:txBody>
          <a:bodyPr/>
          <a:lstStyle/>
          <a:p>
            <a:endParaRPr lang="en-VN"/>
          </a:p>
        </p:txBody>
      </p:sp>
      <p:sp>
        <p:nvSpPr>
          <p:cNvPr id="7" name="Text 5"/>
          <p:cNvSpPr/>
          <p:nvPr/>
        </p:nvSpPr>
        <p:spPr>
          <a:xfrm>
            <a:off x="457200" y="4709160"/>
            <a:ext cx="6400800" cy="434340"/>
          </a:xfrm>
          <a:prstGeom prst="rect">
            <a:avLst/>
          </a:prstGeom>
          <a:noFill/>
          <a:ln/>
        </p:spPr>
        <p:txBody>
          <a:bodyPr wrap="square" rtlCol="0" anchor="ctr"/>
          <a:lstStyle/>
          <a:p>
            <a:pPr marL="0" indent="0">
              <a:buNone/>
            </a:pPr>
            <a:r>
              <a:rPr lang="en-US" sz="900" dirty="0">
                <a:solidFill>
                  <a:srgbClr val="C8A962"/>
                </a:solidFill>
                <a:latin typeface="Arial" pitchFamily="34" charset="0"/>
                <a:ea typeface="Arial" pitchFamily="34" charset="-122"/>
                <a:cs typeface="Arial" pitchFamily="34" charset="-120"/>
              </a:rPr>
              <a:t>Tiên Phong CDS  |  Novagroup  |  Hub Integration Platform</a:t>
            </a:r>
            <a:endParaRPr lang="en-US" sz="900" dirty="0"/>
          </a:p>
        </p:txBody>
      </p:sp>
      <p:sp>
        <p:nvSpPr>
          <p:cNvPr id="8" name="Text 6"/>
          <p:cNvSpPr/>
          <p:nvPr/>
        </p:nvSpPr>
        <p:spPr>
          <a:xfrm>
            <a:off x="7772400" y="4709160"/>
            <a:ext cx="914400" cy="434340"/>
          </a:xfrm>
          <a:prstGeom prst="rect">
            <a:avLst/>
          </a:prstGeom>
          <a:noFill/>
          <a:ln/>
        </p:spPr>
        <p:txBody>
          <a:bodyPr wrap="square" rtlCol="0" anchor="ctr"/>
          <a:lstStyle/>
          <a:p>
            <a:pPr marL="0" indent="0" algn="r">
              <a:buNone/>
            </a:pPr>
            <a:r>
              <a:rPr lang="en-US" sz="900" dirty="0">
                <a:solidFill>
                  <a:srgbClr val="FFFFFF"/>
                </a:solidFill>
                <a:latin typeface="Arial" pitchFamily="34" charset="0"/>
                <a:ea typeface="Arial" pitchFamily="34" charset="-122"/>
                <a:cs typeface="Arial" pitchFamily="34" charset="-120"/>
              </a:rPr>
              <a:t>15</a:t>
            </a:r>
            <a:endParaRPr lang="en-US" sz="900" dirty="0"/>
          </a:p>
        </p:txBody>
      </p:sp>
      <p:sp>
        <p:nvSpPr>
          <p:cNvPr id="9" name="Shape 7"/>
          <p:cNvSpPr/>
          <p:nvPr/>
        </p:nvSpPr>
        <p:spPr>
          <a:xfrm>
            <a:off x="228600" y="1143000"/>
            <a:ext cx="2560320" cy="1371600"/>
          </a:xfrm>
          <a:prstGeom prst="roundRect">
            <a:avLst>
              <a:gd name="adj" fmla="val 5333"/>
            </a:avLst>
          </a:prstGeom>
          <a:solidFill>
            <a:srgbClr val="FFFFFF"/>
          </a:solidFill>
          <a:ln/>
          <a:effectLst>
            <a:outerShdw blurRad="50800" dist="25400" dir="8100000" algn="bl" rotWithShape="0">
              <a:srgbClr val="000000">
                <a:alpha val="8000"/>
              </a:srgbClr>
            </a:outerShdw>
          </a:effectLst>
        </p:spPr>
        <p:txBody>
          <a:bodyPr/>
          <a:lstStyle/>
          <a:p>
            <a:endParaRPr lang="en-VN"/>
          </a:p>
        </p:txBody>
      </p:sp>
      <p:sp>
        <p:nvSpPr>
          <p:cNvPr id="10" name="Shape 8"/>
          <p:cNvSpPr/>
          <p:nvPr/>
        </p:nvSpPr>
        <p:spPr>
          <a:xfrm>
            <a:off x="365760" y="1280160"/>
            <a:ext cx="457200" cy="457200"/>
          </a:xfrm>
          <a:prstGeom prst="ellipse">
            <a:avLst/>
          </a:prstGeom>
          <a:solidFill>
            <a:srgbClr val="059669"/>
          </a:solidFill>
          <a:ln/>
        </p:spPr>
        <p:txBody>
          <a:bodyPr/>
          <a:lstStyle/>
          <a:p>
            <a:endParaRPr lang="en-VN"/>
          </a:p>
        </p:txBody>
      </p:sp>
      <p:sp>
        <p:nvSpPr>
          <p:cNvPr id="11" name="Text 9"/>
          <p:cNvSpPr/>
          <p:nvPr/>
        </p:nvSpPr>
        <p:spPr>
          <a:xfrm>
            <a:off x="365760" y="1280160"/>
            <a:ext cx="457200" cy="457200"/>
          </a:xfrm>
          <a:prstGeom prst="rect">
            <a:avLst/>
          </a:prstGeom>
          <a:noFill/>
          <a:ln/>
        </p:spPr>
        <p:txBody>
          <a:bodyPr wrap="square"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12" name="Text 10"/>
          <p:cNvSpPr/>
          <p:nvPr/>
        </p:nvSpPr>
        <p:spPr>
          <a:xfrm>
            <a:off x="914400" y="1280160"/>
            <a:ext cx="1737360" cy="411480"/>
          </a:xfrm>
          <a:prstGeom prst="rect">
            <a:avLst/>
          </a:prstGeom>
          <a:noFill/>
          <a:ln/>
        </p:spPr>
        <p:txBody>
          <a:bodyPr wrap="square" rtlCol="0" anchor="ctr"/>
          <a:lstStyle/>
          <a:p>
            <a:pPr marL="0" indent="0">
              <a:buNone/>
            </a:pPr>
            <a:r>
              <a:rPr lang="en-US" sz="1100" b="1" dirty="0">
                <a:solidFill>
                  <a:srgbClr val="0D1B4C"/>
                </a:solidFill>
                <a:latin typeface="Arial" pitchFamily="34" charset="0"/>
                <a:ea typeface="Arial" pitchFamily="34" charset="-122"/>
                <a:cs typeface="Arial" pitchFamily="34" charset="-120"/>
              </a:rPr>
              <a:t>Giảm 70% chi phí tích hợp</a:t>
            </a:r>
            <a:endParaRPr lang="en-US" sz="1100" dirty="0"/>
          </a:p>
        </p:txBody>
      </p:sp>
      <p:sp>
        <p:nvSpPr>
          <p:cNvPr id="13" name="Text 11"/>
          <p:cNvSpPr/>
          <p:nvPr/>
        </p:nvSpPr>
        <p:spPr>
          <a:xfrm>
            <a:off x="365760" y="1783080"/>
            <a:ext cx="2286000" cy="640080"/>
          </a:xfrm>
          <a:prstGeom prst="rect">
            <a:avLst/>
          </a:prstGeom>
          <a:noFill/>
          <a:ln/>
        </p:spPr>
        <p:txBody>
          <a:bodyPr wrap="square" rtlCol="0" anchor="t"/>
          <a:lstStyle/>
          <a:p>
            <a:pPr marL="0" indent="0">
              <a:lnSpc>
                <a:spcPct val="130000"/>
              </a:lnSpc>
              <a:buNone/>
            </a:pPr>
            <a:r>
              <a:rPr lang="en-US" sz="900" dirty="0">
                <a:solidFill>
                  <a:srgbClr val="6B7280"/>
                </a:solidFill>
                <a:latin typeface="Arial" pitchFamily="34" charset="0"/>
                <a:ea typeface="Arial" pitchFamily="34" charset="-122"/>
                <a:cs typeface="Arial" pitchFamily="34" charset="-120"/>
              </a:rPr>
              <a:t>Hub architecture thay thế point-to-point. Thêm hệ thống mới chỉ cần 1 kết nối thay vì N kết nối.</a:t>
            </a:r>
            <a:endParaRPr lang="en-US" sz="900" dirty="0"/>
          </a:p>
        </p:txBody>
      </p:sp>
      <p:sp>
        <p:nvSpPr>
          <p:cNvPr id="14" name="Shape 12"/>
          <p:cNvSpPr/>
          <p:nvPr/>
        </p:nvSpPr>
        <p:spPr>
          <a:xfrm>
            <a:off x="3154680" y="1143000"/>
            <a:ext cx="2560320" cy="1371600"/>
          </a:xfrm>
          <a:prstGeom prst="roundRect">
            <a:avLst>
              <a:gd name="adj" fmla="val 5333"/>
            </a:avLst>
          </a:prstGeom>
          <a:solidFill>
            <a:srgbClr val="FFFFFF"/>
          </a:solidFill>
          <a:ln/>
          <a:effectLst>
            <a:outerShdw blurRad="50800" dist="25400" dir="8100000" algn="bl" rotWithShape="0">
              <a:srgbClr val="000000">
                <a:alpha val="8000"/>
              </a:srgbClr>
            </a:outerShdw>
          </a:effectLst>
        </p:spPr>
        <p:txBody>
          <a:bodyPr/>
          <a:lstStyle/>
          <a:p>
            <a:endParaRPr lang="en-VN"/>
          </a:p>
        </p:txBody>
      </p:sp>
      <p:sp>
        <p:nvSpPr>
          <p:cNvPr id="15" name="Shape 13"/>
          <p:cNvSpPr/>
          <p:nvPr/>
        </p:nvSpPr>
        <p:spPr>
          <a:xfrm>
            <a:off x="3291840" y="1280160"/>
            <a:ext cx="457200" cy="457200"/>
          </a:xfrm>
          <a:prstGeom prst="ellipse">
            <a:avLst/>
          </a:prstGeom>
          <a:solidFill>
            <a:srgbClr val="2563EB"/>
          </a:solidFill>
          <a:ln/>
        </p:spPr>
        <p:txBody>
          <a:bodyPr/>
          <a:lstStyle/>
          <a:p>
            <a:endParaRPr lang="en-VN"/>
          </a:p>
        </p:txBody>
      </p:sp>
      <p:sp>
        <p:nvSpPr>
          <p:cNvPr id="16" name="Text 14"/>
          <p:cNvSpPr/>
          <p:nvPr/>
        </p:nvSpPr>
        <p:spPr>
          <a:xfrm>
            <a:off x="3291840" y="1280160"/>
            <a:ext cx="457200" cy="457200"/>
          </a:xfrm>
          <a:prstGeom prst="rect">
            <a:avLst/>
          </a:prstGeom>
          <a:noFill/>
          <a:ln/>
        </p:spPr>
        <p:txBody>
          <a:bodyPr wrap="square"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7" name="Text 15"/>
          <p:cNvSpPr/>
          <p:nvPr/>
        </p:nvSpPr>
        <p:spPr>
          <a:xfrm>
            <a:off x="3840480" y="1280160"/>
            <a:ext cx="1737360" cy="411480"/>
          </a:xfrm>
          <a:prstGeom prst="rect">
            <a:avLst/>
          </a:prstGeom>
          <a:noFill/>
          <a:ln/>
        </p:spPr>
        <p:txBody>
          <a:bodyPr wrap="square" rtlCol="0" anchor="ctr"/>
          <a:lstStyle/>
          <a:p>
            <a:pPr marL="0" indent="0">
              <a:buNone/>
            </a:pPr>
            <a:r>
              <a:rPr lang="en-US" sz="1100" b="1" dirty="0">
                <a:solidFill>
                  <a:srgbClr val="0D1B4C"/>
                </a:solidFill>
                <a:latin typeface="Arial" pitchFamily="34" charset="0"/>
                <a:ea typeface="Arial" pitchFamily="34" charset="-122"/>
                <a:cs typeface="Arial" pitchFamily="34" charset="-120"/>
              </a:rPr>
              <a:t>Tích hợp nhanh gấp 10 lần</a:t>
            </a:r>
            <a:endParaRPr lang="en-US" sz="1100" dirty="0"/>
          </a:p>
        </p:txBody>
      </p:sp>
      <p:sp>
        <p:nvSpPr>
          <p:cNvPr id="18" name="Text 16"/>
          <p:cNvSpPr/>
          <p:nvPr/>
        </p:nvSpPr>
        <p:spPr>
          <a:xfrm>
            <a:off x="3291840" y="1783080"/>
            <a:ext cx="2286000" cy="640080"/>
          </a:xfrm>
          <a:prstGeom prst="rect">
            <a:avLst/>
          </a:prstGeom>
          <a:noFill/>
          <a:ln/>
        </p:spPr>
        <p:txBody>
          <a:bodyPr wrap="square" rtlCol="0" anchor="t"/>
          <a:lstStyle/>
          <a:p>
            <a:pPr marL="0" indent="0">
              <a:lnSpc>
                <a:spcPct val="130000"/>
              </a:lnSpc>
              <a:buNone/>
            </a:pPr>
            <a:r>
              <a:rPr lang="en-US" sz="900" dirty="0">
                <a:solidFill>
                  <a:srgbClr val="6B7280"/>
                </a:solidFill>
                <a:latin typeface="Arial" pitchFamily="34" charset="0"/>
                <a:ea typeface="Arial" pitchFamily="34" charset="-122"/>
                <a:cs typeface="Arial" pitchFamily="34" charset="-120"/>
              </a:rPr>
              <a:t>Thời gian tích hợp hệ thống mới từ 2-3 tháng xuống 1-2 tuần nhờ pre-built connectors và workflow engine.</a:t>
            </a:r>
            <a:endParaRPr lang="en-US" sz="900" dirty="0"/>
          </a:p>
        </p:txBody>
      </p:sp>
      <p:sp>
        <p:nvSpPr>
          <p:cNvPr id="19" name="Shape 17"/>
          <p:cNvSpPr/>
          <p:nvPr/>
        </p:nvSpPr>
        <p:spPr>
          <a:xfrm>
            <a:off x="6080760" y="1143000"/>
            <a:ext cx="2560320" cy="1371600"/>
          </a:xfrm>
          <a:prstGeom prst="roundRect">
            <a:avLst>
              <a:gd name="adj" fmla="val 5333"/>
            </a:avLst>
          </a:prstGeom>
          <a:solidFill>
            <a:srgbClr val="FFFFFF"/>
          </a:solidFill>
          <a:ln/>
          <a:effectLst>
            <a:outerShdw blurRad="50800" dist="25400" dir="8100000" algn="bl" rotWithShape="0">
              <a:srgbClr val="000000">
                <a:alpha val="8000"/>
              </a:srgbClr>
            </a:outerShdw>
          </a:effectLst>
        </p:spPr>
        <p:txBody>
          <a:bodyPr/>
          <a:lstStyle/>
          <a:p>
            <a:endParaRPr lang="en-VN"/>
          </a:p>
        </p:txBody>
      </p:sp>
      <p:sp>
        <p:nvSpPr>
          <p:cNvPr id="20" name="Shape 18"/>
          <p:cNvSpPr/>
          <p:nvPr/>
        </p:nvSpPr>
        <p:spPr>
          <a:xfrm>
            <a:off x="6217920" y="1280160"/>
            <a:ext cx="457200" cy="457200"/>
          </a:xfrm>
          <a:prstGeom prst="ellipse">
            <a:avLst/>
          </a:prstGeom>
          <a:solidFill>
            <a:srgbClr val="0891B2"/>
          </a:solidFill>
          <a:ln/>
        </p:spPr>
        <p:txBody>
          <a:bodyPr/>
          <a:lstStyle/>
          <a:p>
            <a:endParaRPr lang="en-VN"/>
          </a:p>
        </p:txBody>
      </p:sp>
      <p:sp>
        <p:nvSpPr>
          <p:cNvPr id="21" name="Text 19"/>
          <p:cNvSpPr/>
          <p:nvPr/>
        </p:nvSpPr>
        <p:spPr>
          <a:xfrm>
            <a:off x="6217920" y="1280160"/>
            <a:ext cx="457200" cy="457200"/>
          </a:xfrm>
          <a:prstGeom prst="rect">
            <a:avLst/>
          </a:prstGeom>
          <a:noFill/>
          <a:ln/>
        </p:spPr>
        <p:txBody>
          <a:bodyPr wrap="square"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22" name="Text 20"/>
          <p:cNvSpPr/>
          <p:nvPr/>
        </p:nvSpPr>
        <p:spPr>
          <a:xfrm>
            <a:off x="6766560" y="1280160"/>
            <a:ext cx="1737360" cy="411480"/>
          </a:xfrm>
          <a:prstGeom prst="rect">
            <a:avLst/>
          </a:prstGeom>
          <a:noFill/>
          <a:ln/>
        </p:spPr>
        <p:txBody>
          <a:bodyPr wrap="square" rtlCol="0" anchor="ctr"/>
          <a:lstStyle/>
          <a:p>
            <a:pPr marL="0" indent="0">
              <a:buNone/>
            </a:pPr>
            <a:r>
              <a:rPr lang="en-US" sz="1100" b="1" dirty="0">
                <a:solidFill>
                  <a:srgbClr val="0D1B4C"/>
                </a:solidFill>
                <a:latin typeface="Arial" pitchFamily="34" charset="0"/>
                <a:ea typeface="Arial" pitchFamily="34" charset="-122"/>
                <a:cs typeface="Arial" pitchFamily="34" charset="-120"/>
              </a:rPr>
              <a:t>Customer 360 toàn diện</a:t>
            </a:r>
            <a:endParaRPr lang="en-US" sz="1100" dirty="0"/>
          </a:p>
        </p:txBody>
      </p:sp>
      <p:sp>
        <p:nvSpPr>
          <p:cNvPr id="23" name="Text 21"/>
          <p:cNvSpPr/>
          <p:nvPr/>
        </p:nvSpPr>
        <p:spPr>
          <a:xfrm>
            <a:off x="6217920" y="1783080"/>
            <a:ext cx="2286000" cy="640080"/>
          </a:xfrm>
          <a:prstGeom prst="rect">
            <a:avLst/>
          </a:prstGeom>
          <a:noFill/>
          <a:ln/>
        </p:spPr>
        <p:txBody>
          <a:bodyPr wrap="square" rtlCol="0" anchor="t"/>
          <a:lstStyle/>
          <a:p>
            <a:pPr marL="0" indent="0">
              <a:lnSpc>
                <a:spcPct val="130000"/>
              </a:lnSpc>
              <a:buNone/>
            </a:pPr>
            <a:r>
              <a:rPr lang="en-US" sz="900" dirty="0">
                <a:solidFill>
                  <a:srgbClr val="6B7280"/>
                </a:solidFill>
                <a:latin typeface="Arial" pitchFamily="34" charset="0"/>
                <a:ea typeface="Arial" pitchFamily="34" charset="-122"/>
                <a:cs typeface="Arial" pitchFamily="34" charset="-120"/>
              </a:rPr>
              <a:t>Một customer profile duy nhất xuyên suốt BĐS, Hotel, Retail. Hỗ trợ cross-selling, personalization.</a:t>
            </a:r>
            <a:endParaRPr lang="en-US" sz="900" dirty="0"/>
          </a:p>
        </p:txBody>
      </p:sp>
      <p:sp>
        <p:nvSpPr>
          <p:cNvPr id="24" name="Shape 22"/>
          <p:cNvSpPr/>
          <p:nvPr/>
        </p:nvSpPr>
        <p:spPr>
          <a:xfrm>
            <a:off x="228600" y="2971800"/>
            <a:ext cx="2560320" cy="1371600"/>
          </a:xfrm>
          <a:prstGeom prst="roundRect">
            <a:avLst>
              <a:gd name="adj" fmla="val 5333"/>
            </a:avLst>
          </a:prstGeom>
          <a:solidFill>
            <a:srgbClr val="FFFFFF"/>
          </a:solidFill>
          <a:ln/>
          <a:effectLst>
            <a:outerShdw blurRad="50800" dist="25400" dir="8100000" algn="bl" rotWithShape="0">
              <a:srgbClr val="000000">
                <a:alpha val="8000"/>
              </a:srgbClr>
            </a:outerShdw>
          </a:effectLst>
        </p:spPr>
        <p:txBody>
          <a:bodyPr/>
          <a:lstStyle/>
          <a:p>
            <a:endParaRPr lang="en-VN"/>
          </a:p>
        </p:txBody>
      </p:sp>
      <p:sp>
        <p:nvSpPr>
          <p:cNvPr id="25" name="Shape 23"/>
          <p:cNvSpPr/>
          <p:nvPr/>
        </p:nvSpPr>
        <p:spPr>
          <a:xfrm>
            <a:off x="365760" y="3108960"/>
            <a:ext cx="457200" cy="457200"/>
          </a:xfrm>
          <a:prstGeom prst="ellipse">
            <a:avLst/>
          </a:prstGeom>
          <a:solidFill>
            <a:srgbClr val="C8A962"/>
          </a:solidFill>
          <a:ln/>
        </p:spPr>
        <p:txBody>
          <a:bodyPr/>
          <a:lstStyle/>
          <a:p>
            <a:endParaRPr lang="en-VN"/>
          </a:p>
        </p:txBody>
      </p:sp>
      <p:sp>
        <p:nvSpPr>
          <p:cNvPr id="26" name="Text 24"/>
          <p:cNvSpPr/>
          <p:nvPr/>
        </p:nvSpPr>
        <p:spPr>
          <a:xfrm>
            <a:off x="365760" y="3108960"/>
            <a:ext cx="457200" cy="457200"/>
          </a:xfrm>
          <a:prstGeom prst="rect">
            <a:avLst/>
          </a:prstGeom>
          <a:noFill/>
          <a:ln/>
        </p:spPr>
        <p:txBody>
          <a:bodyPr wrap="square"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27" name="Text 25"/>
          <p:cNvSpPr/>
          <p:nvPr/>
        </p:nvSpPr>
        <p:spPr>
          <a:xfrm>
            <a:off x="914400" y="3108960"/>
            <a:ext cx="1737360" cy="411480"/>
          </a:xfrm>
          <a:prstGeom prst="rect">
            <a:avLst/>
          </a:prstGeom>
          <a:noFill/>
          <a:ln/>
        </p:spPr>
        <p:txBody>
          <a:bodyPr wrap="square" rtlCol="0" anchor="ctr"/>
          <a:lstStyle/>
          <a:p>
            <a:pPr marL="0" indent="0">
              <a:buNone/>
            </a:pPr>
            <a:r>
              <a:rPr lang="en-US" sz="1100" b="1" dirty="0">
                <a:solidFill>
                  <a:srgbClr val="0D1B4C"/>
                </a:solidFill>
                <a:latin typeface="Arial" pitchFamily="34" charset="0"/>
                <a:ea typeface="Arial" pitchFamily="34" charset="-122"/>
                <a:cs typeface="Arial" pitchFamily="34" charset="-120"/>
              </a:rPr>
              <a:t>Tiết kiệm $300K-1M/năm</a:t>
            </a:r>
            <a:endParaRPr lang="en-US" sz="1100" dirty="0"/>
          </a:p>
        </p:txBody>
      </p:sp>
      <p:sp>
        <p:nvSpPr>
          <p:cNvPr id="28" name="Text 26"/>
          <p:cNvSpPr/>
          <p:nvPr/>
        </p:nvSpPr>
        <p:spPr>
          <a:xfrm>
            <a:off x="365760" y="3611880"/>
            <a:ext cx="2286000" cy="640080"/>
          </a:xfrm>
          <a:prstGeom prst="rect">
            <a:avLst/>
          </a:prstGeom>
          <a:noFill/>
          <a:ln/>
        </p:spPr>
        <p:txBody>
          <a:bodyPr wrap="square" rtlCol="0" anchor="t"/>
          <a:lstStyle/>
          <a:p>
            <a:pPr marL="0" indent="0">
              <a:lnSpc>
                <a:spcPct val="130000"/>
              </a:lnSpc>
              <a:buNone/>
            </a:pPr>
            <a:r>
              <a:rPr lang="en-US" sz="900" dirty="0">
                <a:solidFill>
                  <a:srgbClr val="6B7280"/>
                </a:solidFill>
                <a:latin typeface="Arial" pitchFamily="34" charset="0"/>
                <a:ea typeface="Arial" pitchFamily="34" charset="-122"/>
                <a:cs typeface="Arial" pitchFamily="34" charset="-120"/>
              </a:rPr>
              <a:t>Open source stack thay vì enterprise license (MuleSoft, TIBCO). Chi phí chỉ bằng 20-30% giải pháp tương đương.</a:t>
            </a:r>
            <a:endParaRPr lang="en-US" sz="900" dirty="0"/>
          </a:p>
        </p:txBody>
      </p:sp>
      <p:sp>
        <p:nvSpPr>
          <p:cNvPr id="29" name="Shape 27"/>
          <p:cNvSpPr/>
          <p:nvPr/>
        </p:nvSpPr>
        <p:spPr>
          <a:xfrm>
            <a:off x="3154680" y="2971800"/>
            <a:ext cx="2560320" cy="1371600"/>
          </a:xfrm>
          <a:prstGeom prst="roundRect">
            <a:avLst>
              <a:gd name="adj" fmla="val 5333"/>
            </a:avLst>
          </a:prstGeom>
          <a:solidFill>
            <a:srgbClr val="FFFFFF"/>
          </a:solidFill>
          <a:ln/>
          <a:effectLst>
            <a:outerShdw blurRad="50800" dist="25400" dir="8100000" algn="bl" rotWithShape="0">
              <a:srgbClr val="000000">
                <a:alpha val="8000"/>
              </a:srgbClr>
            </a:outerShdw>
          </a:effectLst>
        </p:spPr>
        <p:txBody>
          <a:bodyPr/>
          <a:lstStyle/>
          <a:p>
            <a:endParaRPr lang="en-VN"/>
          </a:p>
        </p:txBody>
      </p:sp>
      <p:sp>
        <p:nvSpPr>
          <p:cNvPr id="30" name="Shape 28"/>
          <p:cNvSpPr/>
          <p:nvPr/>
        </p:nvSpPr>
        <p:spPr>
          <a:xfrm>
            <a:off x="3291840" y="3108960"/>
            <a:ext cx="457200" cy="457200"/>
          </a:xfrm>
          <a:prstGeom prst="ellipse">
            <a:avLst/>
          </a:prstGeom>
          <a:solidFill>
            <a:srgbClr val="DC2626"/>
          </a:solidFill>
          <a:ln/>
        </p:spPr>
        <p:txBody>
          <a:bodyPr/>
          <a:lstStyle/>
          <a:p>
            <a:endParaRPr lang="en-VN"/>
          </a:p>
        </p:txBody>
      </p:sp>
      <p:sp>
        <p:nvSpPr>
          <p:cNvPr id="31" name="Text 29"/>
          <p:cNvSpPr/>
          <p:nvPr/>
        </p:nvSpPr>
        <p:spPr>
          <a:xfrm>
            <a:off x="3291840" y="3108960"/>
            <a:ext cx="457200" cy="457200"/>
          </a:xfrm>
          <a:prstGeom prst="rect">
            <a:avLst/>
          </a:prstGeom>
          <a:noFill/>
          <a:ln/>
        </p:spPr>
        <p:txBody>
          <a:bodyPr wrap="square"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5</a:t>
            </a:r>
            <a:endParaRPr lang="en-US" sz="1600" dirty="0"/>
          </a:p>
        </p:txBody>
      </p:sp>
      <p:sp>
        <p:nvSpPr>
          <p:cNvPr id="32" name="Text 30"/>
          <p:cNvSpPr/>
          <p:nvPr/>
        </p:nvSpPr>
        <p:spPr>
          <a:xfrm>
            <a:off x="3840480" y="3108960"/>
            <a:ext cx="1737360" cy="411480"/>
          </a:xfrm>
          <a:prstGeom prst="rect">
            <a:avLst/>
          </a:prstGeom>
          <a:noFill/>
          <a:ln/>
        </p:spPr>
        <p:txBody>
          <a:bodyPr wrap="square" rtlCol="0" anchor="ctr"/>
          <a:lstStyle/>
          <a:p>
            <a:pPr marL="0" indent="0">
              <a:buNone/>
            </a:pPr>
            <a:r>
              <a:rPr lang="en-US" sz="1100" b="1" dirty="0">
                <a:solidFill>
                  <a:srgbClr val="0D1B4C"/>
                </a:solidFill>
                <a:latin typeface="Arial" pitchFamily="34" charset="0"/>
                <a:ea typeface="Arial" pitchFamily="34" charset="-122"/>
                <a:cs typeface="Arial" pitchFamily="34" charset="-120"/>
              </a:rPr>
              <a:t>Bảo mật &amp; tuân thủ</a:t>
            </a:r>
            <a:endParaRPr lang="en-US" sz="1100" dirty="0"/>
          </a:p>
        </p:txBody>
      </p:sp>
      <p:sp>
        <p:nvSpPr>
          <p:cNvPr id="33" name="Text 31"/>
          <p:cNvSpPr/>
          <p:nvPr/>
        </p:nvSpPr>
        <p:spPr>
          <a:xfrm>
            <a:off x="3291840" y="3611880"/>
            <a:ext cx="2286000" cy="640080"/>
          </a:xfrm>
          <a:prstGeom prst="rect">
            <a:avLst/>
          </a:prstGeom>
          <a:noFill/>
          <a:ln/>
        </p:spPr>
        <p:txBody>
          <a:bodyPr wrap="square" rtlCol="0" anchor="t"/>
          <a:lstStyle/>
          <a:p>
            <a:pPr marL="0" indent="0">
              <a:lnSpc>
                <a:spcPct val="130000"/>
              </a:lnSpc>
              <a:buNone/>
            </a:pPr>
            <a:r>
              <a:rPr lang="en-US" sz="900" dirty="0">
                <a:solidFill>
                  <a:srgbClr val="6B7280"/>
                </a:solidFill>
                <a:latin typeface="Arial" pitchFamily="34" charset="0"/>
                <a:ea typeface="Arial" pitchFamily="34" charset="-122"/>
                <a:cs typeface="Arial" pitchFamily="34" charset="-120"/>
              </a:rPr>
              <a:t>SSO tập trung, audit trail mọi giao dịch. Tuân thủ Luật An ninh mạng VN, data residency on-premise.</a:t>
            </a:r>
            <a:endParaRPr lang="en-US" sz="900" dirty="0"/>
          </a:p>
        </p:txBody>
      </p:sp>
      <p:sp>
        <p:nvSpPr>
          <p:cNvPr id="34" name="Shape 32"/>
          <p:cNvSpPr/>
          <p:nvPr/>
        </p:nvSpPr>
        <p:spPr>
          <a:xfrm>
            <a:off x="6080760" y="2971800"/>
            <a:ext cx="2560320" cy="1371600"/>
          </a:xfrm>
          <a:prstGeom prst="roundRect">
            <a:avLst>
              <a:gd name="adj" fmla="val 5333"/>
            </a:avLst>
          </a:prstGeom>
          <a:solidFill>
            <a:srgbClr val="FFFFFF"/>
          </a:solidFill>
          <a:ln/>
          <a:effectLst>
            <a:outerShdw blurRad="50800" dist="25400" dir="8100000" algn="bl" rotWithShape="0">
              <a:srgbClr val="000000">
                <a:alpha val="8000"/>
              </a:srgbClr>
            </a:outerShdw>
          </a:effectLst>
        </p:spPr>
        <p:txBody>
          <a:bodyPr/>
          <a:lstStyle/>
          <a:p>
            <a:endParaRPr lang="en-VN"/>
          </a:p>
        </p:txBody>
      </p:sp>
      <p:sp>
        <p:nvSpPr>
          <p:cNvPr id="35" name="Shape 33"/>
          <p:cNvSpPr/>
          <p:nvPr/>
        </p:nvSpPr>
        <p:spPr>
          <a:xfrm>
            <a:off x="6217920" y="3108960"/>
            <a:ext cx="457200" cy="457200"/>
          </a:xfrm>
          <a:prstGeom prst="ellipse">
            <a:avLst/>
          </a:prstGeom>
          <a:solidFill>
            <a:srgbClr val="0D1B4C"/>
          </a:solidFill>
          <a:ln/>
        </p:spPr>
        <p:txBody>
          <a:bodyPr/>
          <a:lstStyle/>
          <a:p>
            <a:endParaRPr lang="en-VN"/>
          </a:p>
        </p:txBody>
      </p:sp>
      <p:sp>
        <p:nvSpPr>
          <p:cNvPr id="36" name="Text 34"/>
          <p:cNvSpPr/>
          <p:nvPr/>
        </p:nvSpPr>
        <p:spPr>
          <a:xfrm>
            <a:off x="6217920" y="3108960"/>
            <a:ext cx="457200" cy="457200"/>
          </a:xfrm>
          <a:prstGeom prst="rect">
            <a:avLst/>
          </a:prstGeom>
          <a:noFill/>
          <a:ln/>
        </p:spPr>
        <p:txBody>
          <a:bodyPr wrap="square"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6</a:t>
            </a:r>
            <a:endParaRPr lang="en-US" sz="1600" dirty="0"/>
          </a:p>
        </p:txBody>
      </p:sp>
      <p:sp>
        <p:nvSpPr>
          <p:cNvPr id="37" name="Text 35"/>
          <p:cNvSpPr/>
          <p:nvPr/>
        </p:nvSpPr>
        <p:spPr>
          <a:xfrm>
            <a:off x="6766560" y="3108960"/>
            <a:ext cx="1737360" cy="411480"/>
          </a:xfrm>
          <a:prstGeom prst="rect">
            <a:avLst/>
          </a:prstGeom>
          <a:noFill/>
          <a:ln/>
        </p:spPr>
        <p:txBody>
          <a:bodyPr wrap="square" rtlCol="0" anchor="ctr"/>
          <a:lstStyle/>
          <a:p>
            <a:pPr marL="0" indent="0">
              <a:buNone/>
            </a:pPr>
            <a:r>
              <a:rPr lang="en-US" sz="1100" b="1" dirty="0">
                <a:solidFill>
                  <a:srgbClr val="0D1B4C"/>
                </a:solidFill>
                <a:latin typeface="Arial" pitchFamily="34" charset="0"/>
                <a:ea typeface="Arial" pitchFamily="34" charset="-122"/>
                <a:cs typeface="Arial" pitchFamily="34" charset="-120"/>
              </a:rPr>
              <a:t>Mở rộng không giới hạn</a:t>
            </a:r>
            <a:endParaRPr lang="en-US" sz="1100" dirty="0"/>
          </a:p>
        </p:txBody>
      </p:sp>
      <p:sp>
        <p:nvSpPr>
          <p:cNvPr id="38" name="Text 36"/>
          <p:cNvSpPr/>
          <p:nvPr/>
        </p:nvSpPr>
        <p:spPr>
          <a:xfrm>
            <a:off x="6217920" y="3611880"/>
            <a:ext cx="2286000" cy="640080"/>
          </a:xfrm>
          <a:prstGeom prst="rect">
            <a:avLst/>
          </a:prstGeom>
          <a:noFill/>
          <a:ln/>
        </p:spPr>
        <p:txBody>
          <a:bodyPr wrap="square" rtlCol="0" anchor="t"/>
          <a:lstStyle/>
          <a:p>
            <a:pPr marL="0" indent="0">
              <a:lnSpc>
                <a:spcPct val="130000"/>
              </a:lnSpc>
              <a:buNone/>
            </a:pPr>
            <a:r>
              <a:rPr lang="en-US" sz="900" dirty="0">
                <a:solidFill>
                  <a:srgbClr val="6B7280"/>
                </a:solidFill>
                <a:latin typeface="Arial" pitchFamily="34" charset="0"/>
                <a:ea typeface="Arial" pitchFamily="34" charset="-122"/>
                <a:cs typeface="Arial" pitchFamily="34" charset="-120"/>
              </a:rPr>
              <a:t>Kiến trúc cloud-native, horizontal scaling. Đáp ứng tăng trưởng dữ liệu và hệ thống trong tương lai.</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1B4C"/>
          </a:solidFill>
          <a:ln/>
        </p:spPr>
        <p:txBody>
          <a:bodyPr/>
          <a:lstStyle/>
          <a:p>
            <a:endParaRPr lang="en-VN"/>
          </a:p>
        </p:txBody>
      </p:sp>
      <p:sp>
        <p:nvSpPr>
          <p:cNvPr id="3" name="Shape 1"/>
          <p:cNvSpPr/>
          <p:nvPr/>
        </p:nvSpPr>
        <p:spPr>
          <a:xfrm>
            <a:off x="0" y="914400"/>
            <a:ext cx="9144000" cy="36576"/>
          </a:xfrm>
          <a:prstGeom prst="rect">
            <a:avLst/>
          </a:prstGeom>
          <a:solidFill>
            <a:srgbClr val="C8A962"/>
          </a:solidFill>
          <a:ln/>
        </p:spPr>
        <p:txBody>
          <a:bodyPr/>
          <a:lstStyle/>
          <a:p>
            <a:endParaRPr lang="en-VN"/>
          </a:p>
        </p:txBody>
      </p:sp>
      <p:sp>
        <p:nvSpPr>
          <p:cNvPr id="4" name="Text 2"/>
          <p:cNvSpPr/>
          <p:nvPr/>
        </p:nvSpPr>
        <p:spPr>
          <a:xfrm>
            <a:off x="457200" y="0"/>
            <a:ext cx="8229600" cy="548640"/>
          </a:xfrm>
          <a:prstGeom prst="rect">
            <a:avLst/>
          </a:prstGeom>
          <a:noFill/>
          <a:ln/>
        </p:spPr>
        <p:txBody>
          <a:bodyPr wrap="square" rtlCol="0" anchor="b"/>
          <a:lstStyle/>
          <a:p>
            <a:pPr marL="0" indent="0">
              <a:buNone/>
            </a:pPr>
            <a:r>
              <a:rPr lang="en-US" sz="2400" b="1" dirty="0">
                <a:solidFill>
                  <a:srgbClr val="FFFFFF"/>
                </a:solidFill>
                <a:latin typeface="Arial" pitchFamily="34" charset="0"/>
                <a:ea typeface="Arial" pitchFamily="34" charset="-122"/>
                <a:cs typeface="Arial" pitchFamily="34" charset="-120"/>
              </a:rPr>
              <a:t>So sánh với Giải pháp Enterprise</a:t>
            </a:r>
            <a:endParaRPr lang="en-US" sz="2400" dirty="0"/>
          </a:p>
        </p:txBody>
      </p:sp>
      <p:sp>
        <p:nvSpPr>
          <p:cNvPr id="5" name="Text 3"/>
          <p:cNvSpPr/>
          <p:nvPr/>
        </p:nvSpPr>
        <p:spPr>
          <a:xfrm>
            <a:off x="457200" y="548640"/>
            <a:ext cx="8229600" cy="365760"/>
          </a:xfrm>
          <a:prstGeom prst="rect">
            <a:avLst/>
          </a:prstGeom>
          <a:noFill/>
          <a:ln/>
        </p:spPr>
        <p:txBody>
          <a:bodyPr wrap="square" rtlCol="0" anchor="t"/>
          <a:lstStyle/>
          <a:p>
            <a:pPr marL="0" indent="0">
              <a:buNone/>
            </a:pPr>
            <a:r>
              <a:rPr lang="en-US" sz="1300" dirty="0">
                <a:solidFill>
                  <a:srgbClr val="C8A962"/>
                </a:solidFill>
                <a:latin typeface="Arial" pitchFamily="34" charset="0"/>
                <a:ea typeface="Arial" pitchFamily="34" charset="-122"/>
                <a:cs typeface="Arial" pitchFamily="34" charset="-120"/>
              </a:rPr>
              <a:t>Cost &amp; Capability Comparison</a:t>
            </a:r>
            <a:endParaRPr lang="en-US" sz="1300" dirty="0"/>
          </a:p>
        </p:txBody>
      </p:sp>
      <p:sp>
        <p:nvSpPr>
          <p:cNvPr id="6" name="Shape 4"/>
          <p:cNvSpPr/>
          <p:nvPr/>
        </p:nvSpPr>
        <p:spPr>
          <a:xfrm>
            <a:off x="0" y="4709160"/>
            <a:ext cx="9144000" cy="434340"/>
          </a:xfrm>
          <a:prstGeom prst="rect">
            <a:avLst/>
          </a:prstGeom>
          <a:solidFill>
            <a:srgbClr val="0D1B4C"/>
          </a:solidFill>
          <a:ln/>
        </p:spPr>
        <p:txBody>
          <a:bodyPr/>
          <a:lstStyle/>
          <a:p>
            <a:endParaRPr lang="en-VN"/>
          </a:p>
        </p:txBody>
      </p:sp>
      <p:sp>
        <p:nvSpPr>
          <p:cNvPr id="7" name="Text 5"/>
          <p:cNvSpPr/>
          <p:nvPr/>
        </p:nvSpPr>
        <p:spPr>
          <a:xfrm>
            <a:off x="457200" y="4709160"/>
            <a:ext cx="6400800" cy="434340"/>
          </a:xfrm>
          <a:prstGeom prst="rect">
            <a:avLst/>
          </a:prstGeom>
          <a:noFill/>
          <a:ln/>
        </p:spPr>
        <p:txBody>
          <a:bodyPr wrap="square" rtlCol="0" anchor="ctr"/>
          <a:lstStyle/>
          <a:p>
            <a:pPr marL="0" indent="0">
              <a:buNone/>
            </a:pPr>
            <a:r>
              <a:rPr lang="en-US" sz="900" dirty="0">
                <a:solidFill>
                  <a:srgbClr val="C8A962"/>
                </a:solidFill>
                <a:latin typeface="Arial" pitchFamily="34" charset="0"/>
                <a:ea typeface="Arial" pitchFamily="34" charset="-122"/>
                <a:cs typeface="Arial" pitchFamily="34" charset="-120"/>
              </a:rPr>
              <a:t>Tiên Phong CDS  |  Novagroup  |  Hub Integration Platform</a:t>
            </a:r>
            <a:endParaRPr lang="en-US" sz="900" dirty="0"/>
          </a:p>
        </p:txBody>
      </p:sp>
      <p:sp>
        <p:nvSpPr>
          <p:cNvPr id="8" name="Text 6"/>
          <p:cNvSpPr/>
          <p:nvPr/>
        </p:nvSpPr>
        <p:spPr>
          <a:xfrm>
            <a:off x="7772400" y="4709160"/>
            <a:ext cx="914400" cy="434340"/>
          </a:xfrm>
          <a:prstGeom prst="rect">
            <a:avLst/>
          </a:prstGeom>
          <a:noFill/>
          <a:ln/>
        </p:spPr>
        <p:txBody>
          <a:bodyPr wrap="square" rtlCol="0" anchor="ctr"/>
          <a:lstStyle/>
          <a:p>
            <a:pPr marL="0" indent="0" algn="r">
              <a:buNone/>
            </a:pPr>
            <a:r>
              <a:rPr lang="en-US" sz="900" dirty="0">
                <a:solidFill>
                  <a:srgbClr val="FFFFFF"/>
                </a:solidFill>
                <a:latin typeface="Arial" pitchFamily="34" charset="0"/>
                <a:ea typeface="Arial" pitchFamily="34" charset="-122"/>
                <a:cs typeface="Arial" pitchFamily="34" charset="-120"/>
              </a:rPr>
              <a:t>16</a:t>
            </a:r>
            <a:endParaRPr lang="en-US" sz="900" dirty="0"/>
          </a:p>
        </p:txBody>
      </p:sp>
      <p:sp>
        <p:nvSpPr>
          <p:cNvPr id="9" name="Shape 7"/>
          <p:cNvSpPr/>
          <p:nvPr/>
        </p:nvSpPr>
        <p:spPr>
          <a:xfrm>
            <a:off x="274320" y="1143000"/>
            <a:ext cx="2011680" cy="502920"/>
          </a:xfrm>
          <a:prstGeom prst="rect">
            <a:avLst/>
          </a:prstGeom>
          <a:solidFill>
            <a:srgbClr val="0D1B4C"/>
          </a:solidFill>
          <a:ln/>
        </p:spPr>
        <p:txBody>
          <a:bodyPr/>
          <a:lstStyle/>
          <a:p>
            <a:endParaRPr lang="en-VN"/>
          </a:p>
        </p:txBody>
      </p:sp>
      <p:sp>
        <p:nvSpPr>
          <p:cNvPr id="10" name="Text 8"/>
          <p:cNvSpPr/>
          <p:nvPr/>
        </p:nvSpPr>
        <p:spPr>
          <a:xfrm>
            <a:off x="274320" y="1143000"/>
            <a:ext cx="2011680" cy="502920"/>
          </a:xfrm>
          <a:prstGeom prst="rect">
            <a:avLst/>
          </a:prstGeom>
          <a:noFill/>
          <a:ln/>
        </p:spPr>
        <p:txBody>
          <a:bodyPr wrap="square" rtlCol="0" anchor="ctr"/>
          <a:lstStyle/>
          <a:p>
            <a:pPr marL="0" indent="0" algn="ctr">
              <a:buNone/>
            </a:pPr>
            <a:r>
              <a:rPr lang="en-US" sz="950" b="1" dirty="0">
                <a:solidFill>
                  <a:srgbClr val="FFFFFF"/>
                </a:solidFill>
                <a:latin typeface="Arial" pitchFamily="34" charset="0"/>
                <a:ea typeface="Arial" pitchFamily="34" charset="-122"/>
                <a:cs typeface="Arial" pitchFamily="34" charset="-120"/>
              </a:rPr>
              <a:t>Tiêu chí</a:t>
            </a:r>
            <a:endParaRPr lang="en-US" sz="950" dirty="0"/>
          </a:p>
        </p:txBody>
      </p:sp>
      <p:sp>
        <p:nvSpPr>
          <p:cNvPr id="11" name="Shape 9"/>
          <p:cNvSpPr/>
          <p:nvPr/>
        </p:nvSpPr>
        <p:spPr>
          <a:xfrm>
            <a:off x="2286000" y="1143000"/>
            <a:ext cx="3200400" cy="502920"/>
          </a:xfrm>
          <a:prstGeom prst="rect">
            <a:avLst/>
          </a:prstGeom>
          <a:solidFill>
            <a:srgbClr val="0D1B4C"/>
          </a:solidFill>
          <a:ln/>
        </p:spPr>
        <p:txBody>
          <a:bodyPr/>
          <a:lstStyle/>
          <a:p>
            <a:endParaRPr lang="en-VN"/>
          </a:p>
        </p:txBody>
      </p:sp>
      <p:sp>
        <p:nvSpPr>
          <p:cNvPr id="12" name="Text 10"/>
          <p:cNvSpPr/>
          <p:nvPr/>
        </p:nvSpPr>
        <p:spPr>
          <a:xfrm>
            <a:off x="2286000" y="1143000"/>
            <a:ext cx="3200400" cy="502920"/>
          </a:xfrm>
          <a:prstGeom prst="rect">
            <a:avLst/>
          </a:prstGeom>
          <a:noFill/>
          <a:ln/>
        </p:spPr>
        <p:txBody>
          <a:bodyPr wrap="square" rtlCol="0" anchor="ctr"/>
          <a:lstStyle/>
          <a:p>
            <a:pPr marL="0" indent="0" algn="ctr">
              <a:buNone/>
            </a:pPr>
            <a:r>
              <a:rPr lang="en-US" sz="950" b="1" dirty="0">
                <a:solidFill>
                  <a:srgbClr val="FFFFFF"/>
                </a:solidFill>
                <a:latin typeface="Arial" pitchFamily="34" charset="0"/>
                <a:ea typeface="Arial" pitchFamily="34" charset="-122"/>
                <a:cs typeface="Arial" pitchFamily="34" charset="-120"/>
              </a:rPr>
              <a:t>Enterprise Platform</a:t>
            </a:r>
            <a:endParaRPr lang="en-US" sz="950" dirty="0"/>
          </a:p>
          <a:p>
            <a:pPr marL="0" indent="0" algn="ctr">
              <a:buNone/>
            </a:pPr>
            <a:r>
              <a:rPr lang="en-US" sz="950" b="1" dirty="0">
                <a:solidFill>
                  <a:srgbClr val="FFFFFF"/>
                </a:solidFill>
                <a:latin typeface="Arial" pitchFamily="34" charset="0"/>
                <a:ea typeface="Arial" pitchFamily="34" charset="-122"/>
                <a:cs typeface="Arial" pitchFamily="34" charset="-120"/>
              </a:rPr>
              <a:t>(MuleSoft/TIBCO/IBM)</a:t>
            </a:r>
            <a:endParaRPr lang="en-US" sz="950" dirty="0"/>
          </a:p>
        </p:txBody>
      </p:sp>
      <p:sp>
        <p:nvSpPr>
          <p:cNvPr id="13" name="Shape 11"/>
          <p:cNvSpPr/>
          <p:nvPr/>
        </p:nvSpPr>
        <p:spPr>
          <a:xfrm>
            <a:off x="5486400" y="1143000"/>
            <a:ext cx="3383280" cy="502920"/>
          </a:xfrm>
          <a:prstGeom prst="rect">
            <a:avLst/>
          </a:prstGeom>
          <a:solidFill>
            <a:srgbClr val="0D1B4C"/>
          </a:solidFill>
          <a:ln/>
        </p:spPr>
        <p:txBody>
          <a:bodyPr/>
          <a:lstStyle/>
          <a:p>
            <a:endParaRPr lang="en-VN"/>
          </a:p>
        </p:txBody>
      </p:sp>
      <p:sp>
        <p:nvSpPr>
          <p:cNvPr id="14" name="Text 12"/>
          <p:cNvSpPr/>
          <p:nvPr/>
        </p:nvSpPr>
        <p:spPr>
          <a:xfrm>
            <a:off x="5486400" y="1143000"/>
            <a:ext cx="3383280" cy="502920"/>
          </a:xfrm>
          <a:prstGeom prst="rect">
            <a:avLst/>
          </a:prstGeom>
          <a:noFill/>
          <a:ln/>
        </p:spPr>
        <p:txBody>
          <a:bodyPr wrap="square" rtlCol="0" anchor="ctr"/>
          <a:lstStyle/>
          <a:p>
            <a:pPr marL="0" indent="0" algn="ctr">
              <a:buNone/>
            </a:pPr>
            <a:r>
              <a:rPr lang="en-US" sz="950" b="1" dirty="0">
                <a:solidFill>
                  <a:srgbClr val="FFFFFF"/>
                </a:solidFill>
                <a:latin typeface="Arial" pitchFamily="34" charset="0"/>
                <a:ea typeface="Arial" pitchFamily="34" charset="-122"/>
                <a:cs typeface="Arial" pitchFamily="34" charset="-120"/>
              </a:rPr>
              <a:t>CDS Hub Integration</a:t>
            </a:r>
            <a:endParaRPr lang="en-US" sz="950" dirty="0"/>
          </a:p>
          <a:p>
            <a:pPr marL="0" indent="0" algn="ctr">
              <a:buNone/>
            </a:pPr>
            <a:r>
              <a:rPr lang="en-US" sz="950" b="1" dirty="0">
                <a:solidFill>
                  <a:srgbClr val="FFFFFF"/>
                </a:solidFill>
                <a:latin typeface="Arial" pitchFamily="34" charset="0"/>
                <a:ea typeface="Arial" pitchFamily="34" charset="-122"/>
                <a:cs typeface="Arial" pitchFamily="34" charset="-120"/>
              </a:rPr>
              <a:t>(Open Source + Custom)</a:t>
            </a:r>
            <a:endParaRPr lang="en-US" sz="950" dirty="0"/>
          </a:p>
        </p:txBody>
      </p:sp>
      <p:sp>
        <p:nvSpPr>
          <p:cNvPr id="15" name="Shape 13"/>
          <p:cNvSpPr/>
          <p:nvPr/>
        </p:nvSpPr>
        <p:spPr>
          <a:xfrm>
            <a:off x="274320" y="1645920"/>
            <a:ext cx="2011680" cy="411480"/>
          </a:xfrm>
          <a:prstGeom prst="rect">
            <a:avLst/>
          </a:prstGeom>
          <a:solidFill>
            <a:srgbClr val="F3F4F6"/>
          </a:solidFill>
          <a:ln w="6350">
            <a:solidFill>
              <a:srgbClr val="E5E7EB"/>
            </a:solidFill>
            <a:prstDash val="solid"/>
          </a:ln>
        </p:spPr>
        <p:txBody>
          <a:bodyPr/>
          <a:lstStyle/>
          <a:p>
            <a:endParaRPr lang="en-VN"/>
          </a:p>
        </p:txBody>
      </p:sp>
      <p:sp>
        <p:nvSpPr>
          <p:cNvPr id="16" name="Text 14"/>
          <p:cNvSpPr/>
          <p:nvPr/>
        </p:nvSpPr>
        <p:spPr>
          <a:xfrm>
            <a:off x="365760" y="1645920"/>
            <a:ext cx="1828800" cy="411480"/>
          </a:xfrm>
          <a:prstGeom prst="rect">
            <a:avLst/>
          </a:prstGeom>
          <a:noFill/>
          <a:ln/>
        </p:spPr>
        <p:txBody>
          <a:bodyPr wrap="square" rtlCol="0" anchor="ctr"/>
          <a:lstStyle/>
          <a:p>
            <a:pPr marL="0" indent="0" algn="l">
              <a:buNone/>
            </a:pPr>
            <a:r>
              <a:rPr lang="en-US" sz="900" b="1" dirty="0">
                <a:solidFill>
                  <a:srgbClr val="1F2937"/>
                </a:solidFill>
                <a:latin typeface="Arial" pitchFamily="34" charset="0"/>
                <a:ea typeface="Arial" pitchFamily="34" charset="-122"/>
                <a:cs typeface="Arial" pitchFamily="34" charset="-120"/>
              </a:rPr>
              <a:t>License cost/năm</a:t>
            </a:r>
            <a:endParaRPr lang="en-US" sz="900" dirty="0"/>
          </a:p>
        </p:txBody>
      </p:sp>
      <p:sp>
        <p:nvSpPr>
          <p:cNvPr id="17" name="Shape 15"/>
          <p:cNvSpPr/>
          <p:nvPr/>
        </p:nvSpPr>
        <p:spPr>
          <a:xfrm>
            <a:off x="2286000" y="1645920"/>
            <a:ext cx="3200400" cy="411480"/>
          </a:xfrm>
          <a:prstGeom prst="rect">
            <a:avLst/>
          </a:prstGeom>
          <a:solidFill>
            <a:srgbClr val="F3F4F6"/>
          </a:solidFill>
          <a:ln w="6350">
            <a:solidFill>
              <a:srgbClr val="E5E7EB"/>
            </a:solidFill>
            <a:prstDash val="solid"/>
          </a:ln>
        </p:spPr>
        <p:txBody>
          <a:bodyPr/>
          <a:lstStyle/>
          <a:p>
            <a:endParaRPr lang="en-VN"/>
          </a:p>
        </p:txBody>
      </p:sp>
      <p:sp>
        <p:nvSpPr>
          <p:cNvPr id="18" name="Text 16"/>
          <p:cNvSpPr/>
          <p:nvPr/>
        </p:nvSpPr>
        <p:spPr>
          <a:xfrm>
            <a:off x="2377440" y="1645920"/>
            <a:ext cx="3017520" cy="411480"/>
          </a:xfrm>
          <a:prstGeom prst="rect">
            <a:avLst/>
          </a:prstGeom>
          <a:noFill/>
          <a:ln/>
        </p:spPr>
        <p:txBody>
          <a:bodyPr wrap="square" rtlCol="0" anchor="ctr"/>
          <a:lstStyle/>
          <a:p>
            <a:pPr marL="0" indent="0" algn="ctr">
              <a:buNone/>
            </a:pPr>
            <a:r>
              <a:rPr lang="en-US" sz="900" dirty="0">
                <a:solidFill>
                  <a:srgbClr val="1F2937"/>
                </a:solidFill>
                <a:latin typeface="Arial" pitchFamily="34" charset="0"/>
                <a:ea typeface="Arial" pitchFamily="34" charset="-122"/>
                <a:cs typeface="Arial" pitchFamily="34" charset="-120"/>
              </a:rPr>
              <a:t>$300K - $1M USD</a:t>
            </a:r>
            <a:endParaRPr lang="en-US" sz="900" dirty="0"/>
          </a:p>
        </p:txBody>
      </p:sp>
      <p:sp>
        <p:nvSpPr>
          <p:cNvPr id="19" name="Shape 17"/>
          <p:cNvSpPr/>
          <p:nvPr/>
        </p:nvSpPr>
        <p:spPr>
          <a:xfrm>
            <a:off x="5486400" y="1645920"/>
            <a:ext cx="3383280" cy="411480"/>
          </a:xfrm>
          <a:prstGeom prst="rect">
            <a:avLst/>
          </a:prstGeom>
          <a:solidFill>
            <a:srgbClr val="ECFDF5"/>
          </a:solidFill>
          <a:ln w="6350">
            <a:solidFill>
              <a:srgbClr val="E5E7EB"/>
            </a:solidFill>
            <a:prstDash val="solid"/>
          </a:ln>
        </p:spPr>
        <p:txBody>
          <a:bodyPr/>
          <a:lstStyle/>
          <a:p>
            <a:endParaRPr lang="en-VN"/>
          </a:p>
        </p:txBody>
      </p:sp>
      <p:sp>
        <p:nvSpPr>
          <p:cNvPr id="20" name="Text 18"/>
          <p:cNvSpPr/>
          <p:nvPr/>
        </p:nvSpPr>
        <p:spPr>
          <a:xfrm>
            <a:off x="5577840" y="1645920"/>
            <a:ext cx="3200400" cy="411480"/>
          </a:xfrm>
          <a:prstGeom prst="rect">
            <a:avLst/>
          </a:prstGeom>
          <a:noFill/>
          <a:ln/>
        </p:spPr>
        <p:txBody>
          <a:bodyPr wrap="square" rtlCol="0" anchor="ctr"/>
          <a:lstStyle/>
          <a:p>
            <a:pPr marL="0" indent="0" algn="ctr">
              <a:buNone/>
            </a:pPr>
            <a:r>
              <a:rPr lang="en-US" sz="900" dirty="0">
                <a:solidFill>
                  <a:srgbClr val="059669"/>
                </a:solidFill>
                <a:latin typeface="Arial" pitchFamily="34" charset="0"/>
                <a:ea typeface="Arial" pitchFamily="34" charset="-122"/>
                <a:cs typeface="Arial" pitchFamily="34" charset="-120"/>
              </a:rPr>
              <a:t>~$0 (Open Source)</a:t>
            </a:r>
            <a:endParaRPr lang="en-US" sz="900" dirty="0"/>
          </a:p>
        </p:txBody>
      </p:sp>
      <p:sp>
        <p:nvSpPr>
          <p:cNvPr id="21" name="Shape 19"/>
          <p:cNvSpPr/>
          <p:nvPr/>
        </p:nvSpPr>
        <p:spPr>
          <a:xfrm>
            <a:off x="274320" y="2057400"/>
            <a:ext cx="2011680" cy="411480"/>
          </a:xfrm>
          <a:prstGeom prst="rect">
            <a:avLst/>
          </a:prstGeom>
          <a:solidFill>
            <a:srgbClr val="FFFFFF"/>
          </a:solidFill>
          <a:ln w="6350">
            <a:solidFill>
              <a:srgbClr val="E5E7EB"/>
            </a:solidFill>
            <a:prstDash val="solid"/>
          </a:ln>
        </p:spPr>
        <p:txBody>
          <a:bodyPr/>
          <a:lstStyle/>
          <a:p>
            <a:endParaRPr lang="en-VN"/>
          </a:p>
        </p:txBody>
      </p:sp>
      <p:sp>
        <p:nvSpPr>
          <p:cNvPr id="22" name="Text 20"/>
          <p:cNvSpPr/>
          <p:nvPr/>
        </p:nvSpPr>
        <p:spPr>
          <a:xfrm>
            <a:off x="365760" y="2057400"/>
            <a:ext cx="1828800" cy="411480"/>
          </a:xfrm>
          <a:prstGeom prst="rect">
            <a:avLst/>
          </a:prstGeom>
          <a:noFill/>
          <a:ln/>
        </p:spPr>
        <p:txBody>
          <a:bodyPr wrap="square" rtlCol="0" anchor="ctr"/>
          <a:lstStyle/>
          <a:p>
            <a:pPr marL="0" indent="0" algn="l">
              <a:buNone/>
            </a:pPr>
            <a:r>
              <a:rPr lang="en-US" sz="900" b="1" dirty="0">
                <a:solidFill>
                  <a:srgbClr val="1F2937"/>
                </a:solidFill>
                <a:latin typeface="Arial" pitchFamily="34" charset="0"/>
                <a:ea typeface="Arial" pitchFamily="34" charset="-122"/>
                <a:cs typeface="Arial" pitchFamily="34" charset="-120"/>
              </a:rPr>
              <a:t>Customization</a:t>
            </a:r>
            <a:endParaRPr lang="en-US" sz="900" dirty="0"/>
          </a:p>
        </p:txBody>
      </p:sp>
      <p:sp>
        <p:nvSpPr>
          <p:cNvPr id="23" name="Shape 21"/>
          <p:cNvSpPr/>
          <p:nvPr/>
        </p:nvSpPr>
        <p:spPr>
          <a:xfrm>
            <a:off x="2286000" y="2057400"/>
            <a:ext cx="3200400" cy="411480"/>
          </a:xfrm>
          <a:prstGeom prst="rect">
            <a:avLst/>
          </a:prstGeom>
          <a:solidFill>
            <a:srgbClr val="FFFFFF"/>
          </a:solidFill>
          <a:ln w="6350">
            <a:solidFill>
              <a:srgbClr val="E5E7EB"/>
            </a:solidFill>
            <a:prstDash val="solid"/>
          </a:ln>
        </p:spPr>
        <p:txBody>
          <a:bodyPr/>
          <a:lstStyle/>
          <a:p>
            <a:endParaRPr lang="en-VN"/>
          </a:p>
        </p:txBody>
      </p:sp>
      <p:sp>
        <p:nvSpPr>
          <p:cNvPr id="24" name="Text 22"/>
          <p:cNvSpPr/>
          <p:nvPr/>
        </p:nvSpPr>
        <p:spPr>
          <a:xfrm>
            <a:off x="2377440" y="2057400"/>
            <a:ext cx="3017520" cy="411480"/>
          </a:xfrm>
          <a:prstGeom prst="rect">
            <a:avLst/>
          </a:prstGeom>
          <a:noFill/>
          <a:ln/>
        </p:spPr>
        <p:txBody>
          <a:bodyPr wrap="square" rtlCol="0" anchor="ctr"/>
          <a:lstStyle/>
          <a:p>
            <a:pPr marL="0" indent="0" algn="ctr">
              <a:buNone/>
            </a:pPr>
            <a:r>
              <a:rPr lang="en-US" sz="900" dirty="0">
                <a:solidFill>
                  <a:srgbClr val="1F2937"/>
                </a:solidFill>
                <a:latin typeface="Arial" pitchFamily="34" charset="0"/>
                <a:ea typeface="Arial" pitchFamily="34" charset="-122"/>
                <a:cs typeface="Arial" pitchFamily="34" charset="-120"/>
              </a:rPr>
              <a:t>Giới hạn theo vendor</a:t>
            </a:r>
            <a:endParaRPr lang="en-US" sz="900" dirty="0"/>
          </a:p>
        </p:txBody>
      </p:sp>
      <p:sp>
        <p:nvSpPr>
          <p:cNvPr id="25" name="Shape 23"/>
          <p:cNvSpPr/>
          <p:nvPr/>
        </p:nvSpPr>
        <p:spPr>
          <a:xfrm>
            <a:off x="5486400" y="2057400"/>
            <a:ext cx="3383280" cy="411480"/>
          </a:xfrm>
          <a:prstGeom prst="rect">
            <a:avLst/>
          </a:prstGeom>
          <a:solidFill>
            <a:srgbClr val="FFFFFF"/>
          </a:solidFill>
          <a:ln w="6350">
            <a:solidFill>
              <a:srgbClr val="E5E7EB"/>
            </a:solidFill>
            <a:prstDash val="solid"/>
          </a:ln>
        </p:spPr>
        <p:txBody>
          <a:bodyPr/>
          <a:lstStyle/>
          <a:p>
            <a:endParaRPr lang="en-VN"/>
          </a:p>
        </p:txBody>
      </p:sp>
      <p:sp>
        <p:nvSpPr>
          <p:cNvPr id="26" name="Text 24"/>
          <p:cNvSpPr/>
          <p:nvPr/>
        </p:nvSpPr>
        <p:spPr>
          <a:xfrm>
            <a:off x="5577840" y="2057400"/>
            <a:ext cx="3200400" cy="411480"/>
          </a:xfrm>
          <a:prstGeom prst="rect">
            <a:avLst/>
          </a:prstGeom>
          <a:noFill/>
          <a:ln/>
        </p:spPr>
        <p:txBody>
          <a:bodyPr wrap="square" rtlCol="0" anchor="ctr"/>
          <a:lstStyle/>
          <a:p>
            <a:pPr marL="0" indent="0" algn="ctr">
              <a:buNone/>
            </a:pPr>
            <a:r>
              <a:rPr lang="en-US" sz="900" dirty="0">
                <a:solidFill>
                  <a:srgbClr val="059669"/>
                </a:solidFill>
                <a:latin typeface="Arial" pitchFamily="34" charset="0"/>
                <a:ea typeface="Arial" pitchFamily="34" charset="-122"/>
                <a:cs typeface="Arial" pitchFamily="34" charset="-120"/>
              </a:rPr>
              <a:t>Toàn quyền kiểm soát</a:t>
            </a:r>
            <a:endParaRPr lang="en-US" sz="900" dirty="0"/>
          </a:p>
        </p:txBody>
      </p:sp>
      <p:sp>
        <p:nvSpPr>
          <p:cNvPr id="27" name="Shape 25"/>
          <p:cNvSpPr/>
          <p:nvPr/>
        </p:nvSpPr>
        <p:spPr>
          <a:xfrm>
            <a:off x="274320" y="2468880"/>
            <a:ext cx="2011680" cy="411480"/>
          </a:xfrm>
          <a:prstGeom prst="rect">
            <a:avLst/>
          </a:prstGeom>
          <a:solidFill>
            <a:srgbClr val="F3F4F6"/>
          </a:solidFill>
          <a:ln w="6350">
            <a:solidFill>
              <a:srgbClr val="E5E7EB"/>
            </a:solidFill>
            <a:prstDash val="solid"/>
          </a:ln>
        </p:spPr>
        <p:txBody>
          <a:bodyPr/>
          <a:lstStyle/>
          <a:p>
            <a:endParaRPr lang="en-VN"/>
          </a:p>
        </p:txBody>
      </p:sp>
      <p:sp>
        <p:nvSpPr>
          <p:cNvPr id="28" name="Text 26"/>
          <p:cNvSpPr/>
          <p:nvPr/>
        </p:nvSpPr>
        <p:spPr>
          <a:xfrm>
            <a:off x="365760" y="2468880"/>
            <a:ext cx="1828800" cy="411480"/>
          </a:xfrm>
          <a:prstGeom prst="rect">
            <a:avLst/>
          </a:prstGeom>
          <a:noFill/>
          <a:ln/>
        </p:spPr>
        <p:txBody>
          <a:bodyPr wrap="square" rtlCol="0" anchor="ctr"/>
          <a:lstStyle/>
          <a:p>
            <a:pPr marL="0" indent="0" algn="l">
              <a:buNone/>
            </a:pPr>
            <a:r>
              <a:rPr lang="en-US" sz="900" b="1" dirty="0">
                <a:solidFill>
                  <a:srgbClr val="1F2937"/>
                </a:solidFill>
                <a:latin typeface="Arial" pitchFamily="34" charset="0"/>
                <a:ea typeface="Arial" pitchFamily="34" charset="-122"/>
                <a:cs typeface="Arial" pitchFamily="34" charset="-120"/>
              </a:rPr>
              <a:t>Vendor lock-in</a:t>
            </a:r>
            <a:endParaRPr lang="en-US" sz="900" dirty="0"/>
          </a:p>
        </p:txBody>
      </p:sp>
      <p:sp>
        <p:nvSpPr>
          <p:cNvPr id="29" name="Shape 27"/>
          <p:cNvSpPr/>
          <p:nvPr/>
        </p:nvSpPr>
        <p:spPr>
          <a:xfrm>
            <a:off x="2286000" y="2468880"/>
            <a:ext cx="3200400" cy="411480"/>
          </a:xfrm>
          <a:prstGeom prst="rect">
            <a:avLst/>
          </a:prstGeom>
          <a:solidFill>
            <a:srgbClr val="F3F4F6"/>
          </a:solidFill>
          <a:ln w="6350">
            <a:solidFill>
              <a:srgbClr val="E5E7EB"/>
            </a:solidFill>
            <a:prstDash val="solid"/>
          </a:ln>
        </p:spPr>
        <p:txBody>
          <a:bodyPr/>
          <a:lstStyle/>
          <a:p>
            <a:endParaRPr lang="en-VN"/>
          </a:p>
        </p:txBody>
      </p:sp>
      <p:sp>
        <p:nvSpPr>
          <p:cNvPr id="30" name="Text 28"/>
          <p:cNvSpPr/>
          <p:nvPr/>
        </p:nvSpPr>
        <p:spPr>
          <a:xfrm>
            <a:off x="2377440" y="2468880"/>
            <a:ext cx="3017520" cy="411480"/>
          </a:xfrm>
          <a:prstGeom prst="rect">
            <a:avLst/>
          </a:prstGeom>
          <a:noFill/>
          <a:ln/>
        </p:spPr>
        <p:txBody>
          <a:bodyPr wrap="square" rtlCol="0" anchor="ctr"/>
          <a:lstStyle/>
          <a:p>
            <a:pPr marL="0" indent="0" algn="ctr">
              <a:buNone/>
            </a:pPr>
            <a:r>
              <a:rPr lang="en-US" sz="900" dirty="0">
                <a:solidFill>
                  <a:srgbClr val="1F2937"/>
                </a:solidFill>
                <a:latin typeface="Arial" pitchFamily="34" charset="0"/>
                <a:ea typeface="Arial" pitchFamily="34" charset="-122"/>
                <a:cs typeface="Arial" pitchFamily="34" charset="-120"/>
              </a:rPr>
              <a:t>Cao</a:t>
            </a:r>
            <a:endParaRPr lang="en-US" sz="900" dirty="0"/>
          </a:p>
        </p:txBody>
      </p:sp>
      <p:sp>
        <p:nvSpPr>
          <p:cNvPr id="31" name="Shape 29"/>
          <p:cNvSpPr/>
          <p:nvPr/>
        </p:nvSpPr>
        <p:spPr>
          <a:xfrm>
            <a:off x="5486400" y="2468880"/>
            <a:ext cx="3383280" cy="411480"/>
          </a:xfrm>
          <a:prstGeom prst="rect">
            <a:avLst/>
          </a:prstGeom>
          <a:solidFill>
            <a:srgbClr val="ECFDF5"/>
          </a:solidFill>
          <a:ln w="6350">
            <a:solidFill>
              <a:srgbClr val="E5E7EB"/>
            </a:solidFill>
            <a:prstDash val="solid"/>
          </a:ln>
        </p:spPr>
        <p:txBody>
          <a:bodyPr/>
          <a:lstStyle/>
          <a:p>
            <a:endParaRPr lang="en-VN"/>
          </a:p>
        </p:txBody>
      </p:sp>
      <p:sp>
        <p:nvSpPr>
          <p:cNvPr id="32" name="Text 30"/>
          <p:cNvSpPr/>
          <p:nvPr/>
        </p:nvSpPr>
        <p:spPr>
          <a:xfrm>
            <a:off x="5577840" y="2468880"/>
            <a:ext cx="3200400" cy="411480"/>
          </a:xfrm>
          <a:prstGeom prst="rect">
            <a:avLst/>
          </a:prstGeom>
          <a:noFill/>
          <a:ln/>
        </p:spPr>
        <p:txBody>
          <a:bodyPr wrap="square" rtlCol="0" anchor="ctr"/>
          <a:lstStyle/>
          <a:p>
            <a:pPr marL="0" indent="0" algn="ctr">
              <a:buNone/>
            </a:pPr>
            <a:r>
              <a:rPr lang="en-US" sz="900" dirty="0">
                <a:solidFill>
                  <a:srgbClr val="059669"/>
                </a:solidFill>
                <a:latin typeface="Arial" pitchFamily="34" charset="0"/>
                <a:ea typeface="Arial" pitchFamily="34" charset="-122"/>
                <a:cs typeface="Arial" pitchFamily="34" charset="-120"/>
              </a:rPr>
              <a:t>Thấp (open standards)</a:t>
            </a:r>
            <a:endParaRPr lang="en-US" sz="900" dirty="0"/>
          </a:p>
        </p:txBody>
      </p:sp>
      <p:sp>
        <p:nvSpPr>
          <p:cNvPr id="33" name="Shape 31"/>
          <p:cNvSpPr/>
          <p:nvPr/>
        </p:nvSpPr>
        <p:spPr>
          <a:xfrm>
            <a:off x="274320" y="2880360"/>
            <a:ext cx="2011680" cy="411480"/>
          </a:xfrm>
          <a:prstGeom prst="rect">
            <a:avLst/>
          </a:prstGeom>
          <a:solidFill>
            <a:srgbClr val="FFFFFF"/>
          </a:solidFill>
          <a:ln w="6350">
            <a:solidFill>
              <a:srgbClr val="E5E7EB"/>
            </a:solidFill>
            <a:prstDash val="solid"/>
          </a:ln>
        </p:spPr>
        <p:txBody>
          <a:bodyPr/>
          <a:lstStyle/>
          <a:p>
            <a:endParaRPr lang="en-VN"/>
          </a:p>
        </p:txBody>
      </p:sp>
      <p:sp>
        <p:nvSpPr>
          <p:cNvPr id="34" name="Text 32"/>
          <p:cNvSpPr/>
          <p:nvPr/>
        </p:nvSpPr>
        <p:spPr>
          <a:xfrm>
            <a:off x="365760" y="2880360"/>
            <a:ext cx="1828800" cy="411480"/>
          </a:xfrm>
          <a:prstGeom prst="rect">
            <a:avLst/>
          </a:prstGeom>
          <a:noFill/>
          <a:ln/>
        </p:spPr>
        <p:txBody>
          <a:bodyPr wrap="square" rtlCol="0" anchor="ctr"/>
          <a:lstStyle/>
          <a:p>
            <a:pPr marL="0" indent="0" algn="l">
              <a:buNone/>
            </a:pPr>
            <a:r>
              <a:rPr lang="en-US" sz="900" b="1" dirty="0">
                <a:solidFill>
                  <a:srgbClr val="1F2937"/>
                </a:solidFill>
                <a:latin typeface="Arial" pitchFamily="34" charset="0"/>
                <a:ea typeface="Arial" pitchFamily="34" charset="-122"/>
                <a:cs typeface="Arial" pitchFamily="34" charset="-120"/>
              </a:rPr>
              <a:t>Hỗ trợ tại VN</a:t>
            </a:r>
            <a:endParaRPr lang="en-US" sz="900" dirty="0"/>
          </a:p>
        </p:txBody>
      </p:sp>
      <p:sp>
        <p:nvSpPr>
          <p:cNvPr id="35" name="Shape 33"/>
          <p:cNvSpPr/>
          <p:nvPr/>
        </p:nvSpPr>
        <p:spPr>
          <a:xfrm>
            <a:off x="2286000" y="2880360"/>
            <a:ext cx="3200400" cy="411480"/>
          </a:xfrm>
          <a:prstGeom prst="rect">
            <a:avLst/>
          </a:prstGeom>
          <a:solidFill>
            <a:srgbClr val="FFFFFF"/>
          </a:solidFill>
          <a:ln w="6350">
            <a:solidFill>
              <a:srgbClr val="E5E7EB"/>
            </a:solidFill>
            <a:prstDash val="solid"/>
          </a:ln>
        </p:spPr>
        <p:txBody>
          <a:bodyPr/>
          <a:lstStyle/>
          <a:p>
            <a:endParaRPr lang="en-VN"/>
          </a:p>
        </p:txBody>
      </p:sp>
      <p:sp>
        <p:nvSpPr>
          <p:cNvPr id="36" name="Text 34"/>
          <p:cNvSpPr/>
          <p:nvPr/>
        </p:nvSpPr>
        <p:spPr>
          <a:xfrm>
            <a:off x="2377440" y="2880360"/>
            <a:ext cx="3017520" cy="411480"/>
          </a:xfrm>
          <a:prstGeom prst="rect">
            <a:avLst/>
          </a:prstGeom>
          <a:noFill/>
          <a:ln/>
        </p:spPr>
        <p:txBody>
          <a:bodyPr wrap="square" rtlCol="0" anchor="ctr"/>
          <a:lstStyle/>
          <a:p>
            <a:pPr marL="0" indent="0" algn="ctr">
              <a:buNone/>
            </a:pPr>
            <a:r>
              <a:rPr lang="en-US" sz="900" dirty="0">
                <a:solidFill>
                  <a:srgbClr val="1F2937"/>
                </a:solidFill>
                <a:latin typeface="Arial" pitchFamily="34" charset="0"/>
                <a:ea typeface="Arial" pitchFamily="34" charset="-122"/>
                <a:cs typeface="Arial" pitchFamily="34" charset="-120"/>
              </a:rPr>
              <a:t>Qua partner (Deloitte, PwC)</a:t>
            </a:r>
            <a:endParaRPr lang="en-US" sz="900" dirty="0"/>
          </a:p>
        </p:txBody>
      </p:sp>
      <p:sp>
        <p:nvSpPr>
          <p:cNvPr id="37" name="Shape 35"/>
          <p:cNvSpPr/>
          <p:nvPr/>
        </p:nvSpPr>
        <p:spPr>
          <a:xfrm>
            <a:off x="5486400" y="2880360"/>
            <a:ext cx="3383280" cy="411480"/>
          </a:xfrm>
          <a:prstGeom prst="rect">
            <a:avLst/>
          </a:prstGeom>
          <a:solidFill>
            <a:srgbClr val="FFFFFF"/>
          </a:solidFill>
          <a:ln w="6350">
            <a:solidFill>
              <a:srgbClr val="E5E7EB"/>
            </a:solidFill>
            <a:prstDash val="solid"/>
          </a:ln>
        </p:spPr>
        <p:txBody>
          <a:bodyPr/>
          <a:lstStyle/>
          <a:p>
            <a:endParaRPr lang="en-VN"/>
          </a:p>
        </p:txBody>
      </p:sp>
      <p:sp>
        <p:nvSpPr>
          <p:cNvPr id="38" name="Text 36"/>
          <p:cNvSpPr/>
          <p:nvPr/>
        </p:nvSpPr>
        <p:spPr>
          <a:xfrm>
            <a:off x="5577840" y="2880360"/>
            <a:ext cx="3200400" cy="411480"/>
          </a:xfrm>
          <a:prstGeom prst="rect">
            <a:avLst/>
          </a:prstGeom>
          <a:noFill/>
          <a:ln/>
        </p:spPr>
        <p:txBody>
          <a:bodyPr wrap="square" rtlCol="0" anchor="ctr"/>
          <a:lstStyle/>
          <a:p>
            <a:pPr marL="0" indent="0" algn="ctr">
              <a:buNone/>
            </a:pPr>
            <a:r>
              <a:rPr lang="en-US" sz="900" dirty="0">
                <a:solidFill>
                  <a:srgbClr val="059669"/>
                </a:solidFill>
                <a:latin typeface="Arial" pitchFamily="34" charset="0"/>
                <a:ea typeface="Arial" pitchFamily="34" charset="-122"/>
                <a:cs typeface="Arial" pitchFamily="34" charset="-120"/>
              </a:rPr>
              <a:t>Trực tiếp từ CDS team</a:t>
            </a:r>
            <a:endParaRPr lang="en-US" sz="900" dirty="0"/>
          </a:p>
        </p:txBody>
      </p:sp>
      <p:sp>
        <p:nvSpPr>
          <p:cNvPr id="39" name="Shape 37"/>
          <p:cNvSpPr/>
          <p:nvPr/>
        </p:nvSpPr>
        <p:spPr>
          <a:xfrm>
            <a:off x="274320" y="3291840"/>
            <a:ext cx="2011680" cy="411480"/>
          </a:xfrm>
          <a:prstGeom prst="rect">
            <a:avLst/>
          </a:prstGeom>
          <a:solidFill>
            <a:srgbClr val="F3F4F6"/>
          </a:solidFill>
          <a:ln w="6350">
            <a:solidFill>
              <a:srgbClr val="E5E7EB"/>
            </a:solidFill>
            <a:prstDash val="solid"/>
          </a:ln>
        </p:spPr>
        <p:txBody>
          <a:bodyPr/>
          <a:lstStyle/>
          <a:p>
            <a:endParaRPr lang="en-VN"/>
          </a:p>
        </p:txBody>
      </p:sp>
      <p:sp>
        <p:nvSpPr>
          <p:cNvPr id="40" name="Text 38"/>
          <p:cNvSpPr/>
          <p:nvPr/>
        </p:nvSpPr>
        <p:spPr>
          <a:xfrm>
            <a:off x="365760" y="3291840"/>
            <a:ext cx="1828800" cy="411480"/>
          </a:xfrm>
          <a:prstGeom prst="rect">
            <a:avLst/>
          </a:prstGeom>
          <a:noFill/>
          <a:ln/>
        </p:spPr>
        <p:txBody>
          <a:bodyPr wrap="square" rtlCol="0" anchor="ctr"/>
          <a:lstStyle/>
          <a:p>
            <a:pPr marL="0" indent="0" algn="l">
              <a:buNone/>
            </a:pPr>
            <a:r>
              <a:rPr lang="en-US" sz="900" b="1" dirty="0">
                <a:solidFill>
                  <a:srgbClr val="1F2937"/>
                </a:solidFill>
                <a:latin typeface="Arial" pitchFamily="34" charset="0"/>
                <a:ea typeface="Arial" pitchFamily="34" charset="-122"/>
                <a:cs typeface="Arial" pitchFamily="34" charset="-120"/>
              </a:rPr>
              <a:t>Time to value</a:t>
            </a:r>
            <a:endParaRPr lang="en-US" sz="900" dirty="0"/>
          </a:p>
        </p:txBody>
      </p:sp>
      <p:sp>
        <p:nvSpPr>
          <p:cNvPr id="41" name="Shape 39"/>
          <p:cNvSpPr/>
          <p:nvPr/>
        </p:nvSpPr>
        <p:spPr>
          <a:xfrm>
            <a:off x="2286000" y="3291840"/>
            <a:ext cx="3200400" cy="411480"/>
          </a:xfrm>
          <a:prstGeom prst="rect">
            <a:avLst/>
          </a:prstGeom>
          <a:solidFill>
            <a:srgbClr val="F3F4F6"/>
          </a:solidFill>
          <a:ln w="6350">
            <a:solidFill>
              <a:srgbClr val="E5E7EB"/>
            </a:solidFill>
            <a:prstDash val="solid"/>
          </a:ln>
        </p:spPr>
        <p:txBody>
          <a:bodyPr/>
          <a:lstStyle/>
          <a:p>
            <a:endParaRPr lang="en-VN"/>
          </a:p>
        </p:txBody>
      </p:sp>
      <p:sp>
        <p:nvSpPr>
          <p:cNvPr id="42" name="Text 40"/>
          <p:cNvSpPr/>
          <p:nvPr/>
        </p:nvSpPr>
        <p:spPr>
          <a:xfrm>
            <a:off x="2377440" y="3291840"/>
            <a:ext cx="3017520" cy="411480"/>
          </a:xfrm>
          <a:prstGeom prst="rect">
            <a:avLst/>
          </a:prstGeom>
          <a:noFill/>
          <a:ln/>
        </p:spPr>
        <p:txBody>
          <a:bodyPr wrap="square" rtlCol="0" anchor="ctr"/>
          <a:lstStyle/>
          <a:p>
            <a:pPr marL="0" indent="0" algn="ctr">
              <a:buNone/>
            </a:pPr>
            <a:r>
              <a:rPr lang="en-US" sz="900" dirty="0">
                <a:solidFill>
                  <a:srgbClr val="1F2937"/>
                </a:solidFill>
                <a:latin typeface="Arial" pitchFamily="34" charset="0"/>
                <a:ea typeface="Arial" pitchFamily="34" charset="-122"/>
                <a:cs typeface="Arial" pitchFamily="34" charset="-120"/>
              </a:rPr>
              <a:t>6-12 tháng</a:t>
            </a:r>
            <a:endParaRPr lang="en-US" sz="900" dirty="0"/>
          </a:p>
        </p:txBody>
      </p:sp>
      <p:sp>
        <p:nvSpPr>
          <p:cNvPr id="43" name="Shape 41"/>
          <p:cNvSpPr/>
          <p:nvPr/>
        </p:nvSpPr>
        <p:spPr>
          <a:xfrm>
            <a:off x="5486400" y="3291840"/>
            <a:ext cx="3383280" cy="411480"/>
          </a:xfrm>
          <a:prstGeom prst="rect">
            <a:avLst/>
          </a:prstGeom>
          <a:solidFill>
            <a:srgbClr val="ECFDF5"/>
          </a:solidFill>
          <a:ln w="6350">
            <a:solidFill>
              <a:srgbClr val="E5E7EB"/>
            </a:solidFill>
            <a:prstDash val="solid"/>
          </a:ln>
        </p:spPr>
        <p:txBody>
          <a:bodyPr/>
          <a:lstStyle/>
          <a:p>
            <a:endParaRPr lang="en-VN"/>
          </a:p>
        </p:txBody>
      </p:sp>
      <p:sp>
        <p:nvSpPr>
          <p:cNvPr id="44" name="Text 42"/>
          <p:cNvSpPr/>
          <p:nvPr/>
        </p:nvSpPr>
        <p:spPr>
          <a:xfrm>
            <a:off x="5577840" y="3291840"/>
            <a:ext cx="3200400" cy="411480"/>
          </a:xfrm>
          <a:prstGeom prst="rect">
            <a:avLst/>
          </a:prstGeom>
          <a:noFill/>
          <a:ln/>
        </p:spPr>
        <p:txBody>
          <a:bodyPr wrap="square" rtlCol="0" anchor="ctr"/>
          <a:lstStyle/>
          <a:p>
            <a:pPr marL="0" indent="0" algn="ctr">
              <a:buNone/>
            </a:pPr>
            <a:r>
              <a:rPr lang="en-US" sz="900" dirty="0">
                <a:solidFill>
                  <a:srgbClr val="059669"/>
                </a:solidFill>
                <a:latin typeface="Arial" pitchFamily="34" charset="0"/>
                <a:ea typeface="Arial" pitchFamily="34" charset="-122"/>
                <a:cs typeface="Arial" pitchFamily="34" charset="-120"/>
              </a:rPr>
              <a:t>3-6 tháng (Phase 1-2)</a:t>
            </a:r>
            <a:endParaRPr lang="en-US" sz="900" dirty="0"/>
          </a:p>
        </p:txBody>
      </p:sp>
      <p:sp>
        <p:nvSpPr>
          <p:cNvPr id="45" name="Shape 43"/>
          <p:cNvSpPr/>
          <p:nvPr/>
        </p:nvSpPr>
        <p:spPr>
          <a:xfrm>
            <a:off x="274320" y="3703320"/>
            <a:ext cx="2011680" cy="411480"/>
          </a:xfrm>
          <a:prstGeom prst="rect">
            <a:avLst/>
          </a:prstGeom>
          <a:solidFill>
            <a:srgbClr val="FFFFFF"/>
          </a:solidFill>
          <a:ln w="6350">
            <a:solidFill>
              <a:srgbClr val="E5E7EB"/>
            </a:solidFill>
            <a:prstDash val="solid"/>
          </a:ln>
        </p:spPr>
        <p:txBody>
          <a:bodyPr/>
          <a:lstStyle/>
          <a:p>
            <a:endParaRPr lang="en-VN"/>
          </a:p>
        </p:txBody>
      </p:sp>
      <p:sp>
        <p:nvSpPr>
          <p:cNvPr id="46" name="Text 44"/>
          <p:cNvSpPr/>
          <p:nvPr/>
        </p:nvSpPr>
        <p:spPr>
          <a:xfrm>
            <a:off x="365760" y="3703320"/>
            <a:ext cx="1828800" cy="411480"/>
          </a:xfrm>
          <a:prstGeom prst="rect">
            <a:avLst/>
          </a:prstGeom>
          <a:noFill/>
          <a:ln/>
        </p:spPr>
        <p:txBody>
          <a:bodyPr wrap="square" rtlCol="0" anchor="ctr"/>
          <a:lstStyle/>
          <a:p>
            <a:pPr marL="0" indent="0" algn="l">
              <a:buNone/>
            </a:pPr>
            <a:r>
              <a:rPr lang="en-US" sz="900" b="1" dirty="0">
                <a:solidFill>
                  <a:srgbClr val="1F2937"/>
                </a:solidFill>
                <a:latin typeface="Arial" pitchFamily="34" charset="0"/>
                <a:ea typeface="Arial" pitchFamily="34" charset="-122"/>
                <a:cs typeface="Arial" pitchFamily="34" charset="-120"/>
              </a:rPr>
              <a:t>Phù hợp context VN</a:t>
            </a:r>
            <a:endParaRPr lang="en-US" sz="900" dirty="0"/>
          </a:p>
        </p:txBody>
      </p:sp>
      <p:sp>
        <p:nvSpPr>
          <p:cNvPr id="47" name="Shape 45"/>
          <p:cNvSpPr/>
          <p:nvPr/>
        </p:nvSpPr>
        <p:spPr>
          <a:xfrm>
            <a:off x="2286000" y="3703320"/>
            <a:ext cx="3200400" cy="411480"/>
          </a:xfrm>
          <a:prstGeom prst="rect">
            <a:avLst/>
          </a:prstGeom>
          <a:solidFill>
            <a:srgbClr val="FFFFFF"/>
          </a:solidFill>
          <a:ln w="6350">
            <a:solidFill>
              <a:srgbClr val="E5E7EB"/>
            </a:solidFill>
            <a:prstDash val="solid"/>
          </a:ln>
        </p:spPr>
        <p:txBody>
          <a:bodyPr/>
          <a:lstStyle/>
          <a:p>
            <a:endParaRPr lang="en-VN"/>
          </a:p>
        </p:txBody>
      </p:sp>
      <p:sp>
        <p:nvSpPr>
          <p:cNvPr id="48" name="Text 46"/>
          <p:cNvSpPr/>
          <p:nvPr/>
        </p:nvSpPr>
        <p:spPr>
          <a:xfrm>
            <a:off x="2377440" y="3703320"/>
            <a:ext cx="3017520" cy="411480"/>
          </a:xfrm>
          <a:prstGeom prst="rect">
            <a:avLst/>
          </a:prstGeom>
          <a:noFill/>
          <a:ln/>
        </p:spPr>
        <p:txBody>
          <a:bodyPr wrap="square" rtlCol="0" anchor="ctr"/>
          <a:lstStyle/>
          <a:p>
            <a:pPr marL="0" indent="0" algn="ctr">
              <a:buNone/>
            </a:pPr>
            <a:r>
              <a:rPr lang="en-US" sz="900" dirty="0">
                <a:solidFill>
                  <a:srgbClr val="1F2937"/>
                </a:solidFill>
                <a:latin typeface="Arial" pitchFamily="34" charset="0"/>
                <a:ea typeface="Arial" pitchFamily="34" charset="-122"/>
                <a:cs typeface="Arial" pitchFamily="34" charset="-120"/>
              </a:rPr>
              <a:t>Trung bình</a:t>
            </a:r>
            <a:endParaRPr lang="en-US" sz="900" dirty="0"/>
          </a:p>
        </p:txBody>
      </p:sp>
      <p:sp>
        <p:nvSpPr>
          <p:cNvPr id="49" name="Shape 47"/>
          <p:cNvSpPr/>
          <p:nvPr/>
        </p:nvSpPr>
        <p:spPr>
          <a:xfrm>
            <a:off x="5486400" y="3703320"/>
            <a:ext cx="3383280" cy="411480"/>
          </a:xfrm>
          <a:prstGeom prst="rect">
            <a:avLst/>
          </a:prstGeom>
          <a:solidFill>
            <a:srgbClr val="FFFFFF"/>
          </a:solidFill>
          <a:ln w="6350">
            <a:solidFill>
              <a:srgbClr val="E5E7EB"/>
            </a:solidFill>
            <a:prstDash val="solid"/>
          </a:ln>
        </p:spPr>
        <p:txBody>
          <a:bodyPr/>
          <a:lstStyle/>
          <a:p>
            <a:endParaRPr lang="en-VN"/>
          </a:p>
        </p:txBody>
      </p:sp>
      <p:sp>
        <p:nvSpPr>
          <p:cNvPr id="50" name="Text 48"/>
          <p:cNvSpPr/>
          <p:nvPr/>
        </p:nvSpPr>
        <p:spPr>
          <a:xfrm>
            <a:off x="5577840" y="3703320"/>
            <a:ext cx="3200400" cy="411480"/>
          </a:xfrm>
          <a:prstGeom prst="rect">
            <a:avLst/>
          </a:prstGeom>
          <a:noFill/>
          <a:ln/>
        </p:spPr>
        <p:txBody>
          <a:bodyPr wrap="square" rtlCol="0" anchor="ctr"/>
          <a:lstStyle/>
          <a:p>
            <a:pPr marL="0" indent="0" algn="ctr">
              <a:buNone/>
            </a:pPr>
            <a:r>
              <a:rPr lang="en-US" sz="900" dirty="0">
                <a:solidFill>
                  <a:srgbClr val="059669"/>
                </a:solidFill>
                <a:latin typeface="Arial" pitchFamily="34" charset="0"/>
                <a:ea typeface="Arial" pitchFamily="34" charset="-122"/>
                <a:cs typeface="Arial" pitchFamily="34" charset="-120"/>
              </a:rPr>
              <a:t>Cao (hiểu thị trường)</a:t>
            </a:r>
            <a:endParaRPr lang="en-US" sz="900" dirty="0"/>
          </a:p>
        </p:txBody>
      </p:sp>
      <p:sp>
        <p:nvSpPr>
          <p:cNvPr id="51" name="Shape 49"/>
          <p:cNvSpPr/>
          <p:nvPr/>
        </p:nvSpPr>
        <p:spPr>
          <a:xfrm>
            <a:off x="274320" y="4114800"/>
            <a:ext cx="2011680" cy="411480"/>
          </a:xfrm>
          <a:prstGeom prst="rect">
            <a:avLst/>
          </a:prstGeom>
          <a:solidFill>
            <a:srgbClr val="F3F4F6"/>
          </a:solidFill>
          <a:ln w="6350">
            <a:solidFill>
              <a:srgbClr val="E5E7EB"/>
            </a:solidFill>
            <a:prstDash val="solid"/>
          </a:ln>
        </p:spPr>
        <p:txBody>
          <a:bodyPr/>
          <a:lstStyle/>
          <a:p>
            <a:endParaRPr lang="en-VN"/>
          </a:p>
        </p:txBody>
      </p:sp>
      <p:sp>
        <p:nvSpPr>
          <p:cNvPr id="52" name="Text 50"/>
          <p:cNvSpPr/>
          <p:nvPr/>
        </p:nvSpPr>
        <p:spPr>
          <a:xfrm>
            <a:off x="365760" y="4114800"/>
            <a:ext cx="1828800" cy="411480"/>
          </a:xfrm>
          <a:prstGeom prst="rect">
            <a:avLst/>
          </a:prstGeom>
          <a:noFill/>
          <a:ln/>
        </p:spPr>
        <p:txBody>
          <a:bodyPr wrap="square" rtlCol="0" anchor="ctr"/>
          <a:lstStyle/>
          <a:p>
            <a:pPr marL="0" indent="0" algn="l">
              <a:buNone/>
            </a:pPr>
            <a:r>
              <a:rPr lang="en-US" sz="900" b="1" dirty="0">
                <a:solidFill>
                  <a:srgbClr val="1F2937"/>
                </a:solidFill>
                <a:latin typeface="Arial" pitchFamily="34" charset="0"/>
                <a:ea typeface="Arial" pitchFamily="34" charset="-122"/>
                <a:cs typeface="Arial" pitchFamily="34" charset="-120"/>
              </a:rPr>
              <a:t>Tổng chi phí 3 năm</a:t>
            </a:r>
            <a:endParaRPr lang="en-US" sz="900" dirty="0"/>
          </a:p>
        </p:txBody>
      </p:sp>
      <p:sp>
        <p:nvSpPr>
          <p:cNvPr id="53" name="Shape 51"/>
          <p:cNvSpPr/>
          <p:nvPr/>
        </p:nvSpPr>
        <p:spPr>
          <a:xfrm>
            <a:off x="2286000" y="4114800"/>
            <a:ext cx="3200400" cy="411480"/>
          </a:xfrm>
          <a:prstGeom prst="rect">
            <a:avLst/>
          </a:prstGeom>
          <a:solidFill>
            <a:srgbClr val="F3F4F6"/>
          </a:solidFill>
          <a:ln w="6350">
            <a:solidFill>
              <a:srgbClr val="E5E7EB"/>
            </a:solidFill>
            <a:prstDash val="solid"/>
          </a:ln>
        </p:spPr>
        <p:txBody>
          <a:bodyPr/>
          <a:lstStyle/>
          <a:p>
            <a:endParaRPr lang="en-VN"/>
          </a:p>
        </p:txBody>
      </p:sp>
      <p:sp>
        <p:nvSpPr>
          <p:cNvPr id="54" name="Text 52"/>
          <p:cNvSpPr/>
          <p:nvPr/>
        </p:nvSpPr>
        <p:spPr>
          <a:xfrm>
            <a:off x="2377440" y="4114800"/>
            <a:ext cx="3017520" cy="411480"/>
          </a:xfrm>
          <a:prstGeom prst="rect">
            <a:avLst/>
          </a:prstGeom>
          <a:noFill/>
          <a:ln/>
        </p:spPr>
        <p:txBody>
          <a:bodyPr wrap="square" rtlCol="0" anchor="ctr"/>
          <a:lstStyle/>
          <a:p>
            <a:pPr marL="0" indent="0" algn="ctr">
              <a:buNone/>
            </a:pPr>
            <a:r>
              <a:rPr lang="en-US" sz="900" dirty="0">
                <a:solidFill>
                  <a:srgbClr val="1F2937"/>
                </a:solidFill>
                <a:latin typeface="Arial" pitchFamily="34" charset="0"/>
                <a:ea typeface="Arial" pitchFamily="34" charset="-122"/>
                <a:cs typeface="Arial" pitchFamily="34" charset="-120"/>
              </a:rPr>
              <a:t>$1 - $3M USD</a:t>
            </a:r>
            <a:endParaRPr lang="en-US" sz="900" dirty="0"/>
          </a:p>
        </p:txBody>
      </p:sp>
      <p:sp>
        <p:nvSpPr>
          <p:cNvPr id="55" name="Shape 53"/>
          <p:cNvSpPr/>
          <p:nvPr/>
        </p:nvSpPr>
        <p:spPr>
          <a:xfrm>
            <a:off x="5486400" y="4114800"/>
            <a:ext cx="3383280" cy="411480"/>
          </a:xfrm>
          <a:prstGeom prst="rect">
            <a:avLst/>
          </a:prstGeom>
          <a:solidFill>
            <a:srgbClr val="ECFDF5"/>
          </a:solidFill>
          <a:ln w="6350">
            <a:solidFill>
              <a:srgbClr val="E5E7EB"/>
            </a:solidFill>
            <a:prstDash val="solid"/>
          </a:ln>
        </p:spPr>
        <p:txBody>
          <a:bodyPr/>
          <a:lstStyle/>
          <a:p>
            <a:endParaRPr lang="en-VN"/>
          </a:p>
        </p:txBody>
      </p:sp>
      <p:sp>
        <p:nvSpPr>
          <p:cNvPr id="56" name="Text 54"/>
          <p:cNvSpPr/>
          <p:nvPr/>
        </p:nvSpPr>
        <p:spPr>
          <a:xfrm>
            <a:off x="5577840" y="4114800"/>
            <a:ext cx="3200400" cy="411480"/>
          </a:xfrm>
          <a:prstGeom prst="rect">
            <a:avLst/>
          </a:prstGeom>
          <a:noFill/>
          <a:ln/>
        </p:spPr>
        <p:txBody>
          <a:bodyPr wrap="square" rtlCol="0" anchor="ctr"/>
          <a:lstStyle/>
          <a:p>
            <a:pPr marL="0" indent="0" algn="ctr">
              <a:buNone/>
            </a:pPr>
            <a:r>
              <a:rPr lang="en-US" sz="900" dirty="0">
                <a:solidFill>
                  <a:srgbClr val="059669"/>
                </a:solidFill>
                <a:latin typeface="Arial" pitchFamily="34" charset="0"/>
                <a:ea typeface="Arial" pitchFamily="34" charset="-122"/>
                <a:cs typeface="Arial" pitchFamily="34" charset="-120"/>
              </a:rPr>
              <a:t>$200K - $500K USD</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1B4C"/>
          </a:solidFill>
          <a:ln/>
        </p:spPr>
        <p:txBody>
          <a:bodyPr/>
          <a:lstStyle/>
          <a:p>
            <a:endParaRPr lang="en-VN"/>
          </a:p>
        </p:txBody>
      </p:sp>
      <p:sp>
        <p:nvSpPr>
          <p:cNvPr id="3" name="Shape 1"/>
          <p:cNvSpPr/>
          <p:nvPr/>
        </p:nvSpPr>
        <p:spPr>
          <a:xfrm>
            <a:off x="0" y="914400"/>
            <a:ext cx="9144000" cy="36576"/>
          </a:xfrm>
          <a:prstGeom prst="rect">
            <a:avLst/>
          </a:prstGeom>
          <a:solidFill>
            <a:srgbClr val="C8A962"/>
          </a:solidFill>
          <a:ln/>
        </p:spPr>
        <p:txBody>
          <a:bodyPr/>
          <a:lstStyle/>
          <a:p>
            <a:endParaRPr lang="en-VN"/>
          </a:p>
        </p:txBody>
      </p:sp>
      <p:sp>
        <p:nvSpPr>
          <p:cNvPr id="4" name="Text 2"/>
          <p:cNvSpPr/>
          <p:nvPr/>
        </p:nvSpPr>
        <p:spPr>
          <a:xfrm>
            <a:off x="457200" y="0"/>
            <a:ext cx="8229600" cy="548640"/>
          </a:xfrm>
          <a:prstGeom prst="rect">
            <a:avLst/>
          </a:prstGeom>
          <a:noFill/>
          <a:ln/>
        </p:spPr>
        <p:txBody>
          <a:bodyPr wrap="square" rtlCol="0" anchor="b"/>
          <a:lstStyle/>
          <a:p>
            <a:pPr marL="0" indent="0">
              <a:buNone/>
            </a:pPr>
            <a:r>
              <a:rPr lang="en-US" sz="2400" b="1" dirty="0">
                <a:solidFill>
                  <a:srgbClr val="FFFFFF"/>
                </a:solidFill>
                <a:latin typeface="Arial" pitchFamily="34" charset="0"/>
                <a:ea typeface="Arial" pitchFamily="34" charset="-122"/>
                <a:cs typeface="Arial" pitchFamily="34" charset="-120"/>
              </a:rPr>
              <a:t>Đội ngũ Triển khai</a:t>
            </a:r>
            <a:endParaRPr lang="en-US" sz="2400" dirty="0"/>
          </a:p>
        </p:txBody>
      </p:sp>
      <p:sp>
        <p:nvSpPr>
          <p:cNvPr id="5" name="Text 3"/>
          <p:cNvSpPr/>
          <p:nvPr/>
        </p:nvSpPr>
        <p:spPr>
          <a:xfrm>
            <a:off x="457200" y="548640"/>
            <a:ext cx="8229600" cy="365760"/>
          </a:xfrm>
          <a:prstGeom prst="rect">
            <a:avLst/>
          </a:prstGeom>
          <a:noFill/>
          <a:ln/>
        </p:spPr>
        <p:txBody>
          <a:bodyPr wrap="square" rtlCol="0" anchor="t"/>
          <a:lstStyle/>
          <a:p>
            <a:pPr marL="0" indent="0">
              <a:buNone/>
            </a:pPr>
            <a:r>
              <a:rPr lang="en-US" sz="1300" dirty="0">
                <a:solidFill>
                  <a:srgbClr val="C8A962"/>
                </a:solidFill>
                <a:latin typeface="Arial" pitchFamily="34" charset="0"/>
                <a:ea typeface="Arial" pitchFamily="34" charset="-122"/>
                <a:cs typeface="Arial" pitchFamily="34" charset="-120"/>
              </a:rPr>
              <a:t>Project Team &amp; Resources</a:t>
            </a:r>
            <a:endParaRPr lang="en-US" sz="1300" dirty="0"/>
          </a:p>
        </p:txBody>
      </p:sp>
      <p:sp>
        <p:nvSpPr>
          <p:cNvPr id="6" name="Shape 4"/>
          <p:cNvSpPr/>
          <p:nvPr/>
        </p:nvSpPr>
        <p:spPr>
          <a:xfrm>
            <a:off x="0" y="4709160"/>
            <a:ext cx="9144000" cy="434340"/>
          </a:xfrm>
          <a:prstGeom prst="rect">
            <a:avLst/>
          </a:prstGeom>
          <a:solidFill>
            <a:srgbClr val="0D1B4C"/>
          </a:solidFill>
          <a:ln/>
        </p:spPr>
        <p:txBody>
          <a:bodyPr/>
          <a:lstStyle/>
          <a:p>
            <a:endParaRPr lang="en-VN"/>
          </a:p>
        </p:txBody>
      </p:sp>
      <p:sp>
        <p:nvSpPr>
          <p:cNvPr id="7" name="Text 5"/>
          <p:cNvSpPr/>
          <p:nvPr/>
        </p:nvSpPr>
        <p:spPr>
          <a:xfrm>
            <a:off x="457200" y="4709160"/>
            <a:ext cx="6400800" cy="434340"/>
          </a:xfrm>
          <a:prstGeom prst="rect">
            <a:avLst/>
          </a:prstGeom>
          <a:noFill/>
          <a:ln/>
        </p:spPr>
        <p:txBody>
          <a:bodyPr wrap="square" rtlCol="0" anchor="ctr"/>
          <a:lstStyle/>
          <a:p>
            <a:pPr marL="0" indent="0">
              <a:buNone/>
            </a:pPr>
            <a:r>
              <a:rPr lang="en-US" sz="900" dirty="0">
                <a:solidFill>
                  <a:srgbClr val="C8A962"/>
                </a:solidFill>
                <a:latin typeface="Arial" pitchFamily="34" charset="0"/>
                <a:ea typeface="Arial" pitchFamily="34" charset="-122"/>
                <a:cs typeface="Arial" pitchFamily="34" charset="-120"/>
              </a:rPr>
              <a:t>Tiên Phong CDS  |  Novagroup  |  Hub Integration Platform</a:t>
            </a:r>
            <a:endParaRPr lang="en-US" sz="900" dirty="0"/>
          </a:p>
        </p:txBody>
      </p:sp>
      <p:sp>
        <p:nvSpPr>
          <p:cNvPr id="8" name="Text 6"/>
          <p:cNvSpPr/>
          <p:nvPr/>
        </p:nvSpPr>
        <p:spPr>
          <a:xfrm>
            <a:off x="7772400" y="4709160"/>
            <a:ext cx="914400" cy="434340"/>
          </a:xfrm>
          <a:prstGeom prst="rect">
            <a:avLst/>
          </a:prstGeom>
          <a:noFill/>
          <a:ln/>
        </p:spPr>
        <p:txBody>
          <a:bodyPr wrap="square" rtlCol="0" anchor="ctr"/>
          <a:lstStyle/>
          <a:p>
            <a:pPr marL="0" indent="0" algn="r">
              <a:buNone/>
            </a:pPr>
            <a:r>
              <a:rPr lang="en-US" sz="900" dirty="0">
                <a:solidFill>
                  <a:srgbClr val="FFFFFF"/>
                </a:solidFill>
                <a:latin typeface="Arial" pitchFamily="34" charset="0"/>
                <a:ea typeface="Arial" pitchFamily="34" charset="-122"/>
                <a:cs typeface="Arial" pitchFamily="34" charset="-120"/>
              </a:rPr>
              <a:t>17</a:t>
            </a:r>
            <a:endParaRPr lang="en-US" sz="900" dirty="0"/>
          </a:p>
        </p:txBody>
      </p:sp>
      <p:sp>
        <p:nvSpPr>
          <p:cNvPr id="9" name="Shape 7"/>
          <p:cNvSpPr/>
          <p:nvPr/>
        </p:nvSpPr>
        <p:spPr>
          <a:xfrm>
            <a:off x="274320" y="1143000"/>
            <a:ext cx="8595360" cy="384048"/>
          </a:xfrm>
          <a:prstGeom prst="roundRect">
            <a:avLst>
              <a:gd name="adj" fmla="val 9524"/>
            </a:avLst>
          </a:prstGeom>
          <a:solidFill>
            <a:srgbClr val="F3F4F6"/>
          </a:solidFill>
          <a:ln/>
          <a:effectLst>
            <a:outerShdw blurRad="50800" dist="25400" dir="8100000" algn="bl" rotWithShape="0">
              <a:srgbClr val="000000">
                <a:alpha val="8000"/>
              </a:srgbClr>
            </a:outerShdw>
          </a:effectLst>
        </p:spPr>
        <p:txBody>
          <a:bodyPr/>
          <a:lstStyle/>
          <a:p>
            <a:endParaRPr lang="en-VN"/>
          </a:p>
        </p:txBody>
      </p:sp>
      <p:sp>
        <p:nvSpPr>
          <p:cNvPr id="10" name="Shape 8"/>
          <p:cNvSpPr/>
          <p:nvPr/>
        </p:nvSpPr>
        <p:spPr>
          <a:xfrm>
            <a:off x="274320" y="1143000"/>
            <a:ext cx="54864" cy="384048"/>
          </a:xfrm>
          <a:prstGeom prst="rect">
            <a:avLst/>
          </a:prstGeom>
          <a:solidFill>
            <a:srgbClr val="0D1B4C"/>
          </a:solidFill>
          <a:ln/>
        </p:spPr>
        <p:txBody>
          <a:bodyPr/>
          <a:lstStyle/>
          <a:p>
            <a:endParaRPr lang="en-VN"/>
          </a:p>
        </p:txBody>
      </p:sp>
      <p:sp>
        <p:nvSpPr>
          <p:cNvPr id="11" name="Text 9"/>
          <p:cNvSpPr/>
          <p:nvPr/>
        </p:nvSpPr>
        <p:spPr>
          <a:xfrm>
            <a:off x="457200" y="1143000"/>
            <a:ext cx="2286000" cy="384048"/>
          </a:xfrm>
          <a:prstGeom prst="rect">
            <a:avLst/>
          </a:prstGeom>
          <a:noFill/>
          <a:ln/>
        </p:spPr>
        <p:txBody>
          <a:bodyPr wrap="square" rtlCol="0" anchor="ctr"/>
          <a:lstStyle/>
          <a:p>
            <a:pPr marL="0" indent="0">
              <a:buNone/>
            </a:pPr>
            <a:r>
              <a:rPr lang="en-US" sz="1000" b="1" dirty="0">
                <a:solidFill>
                  <a:srgbClr val="0D1B4C"/>
                </a:solidFill>
                <a:latin typeface="Arial" pitchFamily="34" charset="0"/>
                <a:ea typeface="Arial" pitchFamily="34" charset="-122"/>
                <a:cs typeface="Arial" pitchFamily="34" charset="-120"/>
              </a:rPr>
              <a:t>Solution Architect</a:t>
            </a:r>
            <a:endParaRPr lang="en-US" sz="1000" dirty="0"/>
          </a:p>
        </p:txBody>
      </p:sp>
      <p:sp>
        <p:nvSpPr>
          <p:cNvPr id="12" name="Shape 10"/>
          <p:cNvSpPr/>
          <p:nvPr/>
        </p:nvSpPr>
        <p:spPr>
          <a:xfrm>
            <a:off x="2926080" y="1197864"/>
            <a:ext cx="457200" cy="274320"/>
          </a:xfrm>
          <a:prstGeom prst="ellipse">
            <a:avLst/>
          </a:prstGeom>
          <a:solidFill>
            <a:srgbClr val="0D1B4C"/>
          </a:solidFill>
          <a:ln/>
        </p:spPr>
        <p:txBody>
          <a:bodyPr/>
          <a:lstStyle/>
          <a:p>
            <a:endParaRPr lang="en-VN"/>
          </a:p>
        </p:txBody>
      </p:sp>
      <p:sp>
        <p:nvSpPr>
          <p:cNvPr id="13" name="Text 11"/>
          <p:cNvSpPr/>
          <p:nvPr/>
        </p:nvSpPr>
        <p:spPr>
          <a:xfrm>
            <a:off x="2926080" y="1197864"/>
            <a:ext cx="457200" cy="274320"/>
          </a:xfrm>
          <a:prstGeom prst="rect">
            <a:avLst/>
          </a:prstGeom>
          <a:noFill/>
          <a:ln/>
        </p:spPr>
        <p:txBody>
          <a:bodyPr wrap="square"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4" name="Text 12"/>
          <p:cNvSpPr/>
          <p:nvPr/>
        </p:nvSpPr>
        <p:spPr>
          <a:xfrm>
            <a:off x="3566160" y="1143000"/>
            <a:ext cx="5120640" cy="384048"/>
          </a:xfrm>
          <a:prstGeom prst="rect">
            <a:avLst/>
          </a:prstGeom>
          <a:noFill/>
          <a:ln/>
        </p:spPr>
        <p:txBody>
          <a:bodyPr wrap="square" rtlCol="0" anchor="ctr"/>
          <a:lstStyle/>
          <a:p>
            <a:pPr marL="0" indent="0">
              <a:buNone/>
            </a:pPr>
            <a:r>
              <a:rPr lang="en-US" sz="950" dirty="0">
                <a:solidFill>
                  <a:srgbClr val="6B7280"/>
                </a:solidFill>
                <a:latin typeface="Arial" pitchFamily="34" charset="0"/>
                <a:ea typeface="Arial" pitchFamily="34" charset="-122"/>
                <a:cs typeface="Arial" pitchFamily="34" charset="-120"/>
              </a:rPr>
              <a:t>Thiết kế kiến trúc tổng thể, technical decisions</a:t>
            </a:r>
            <a:endParaRPr lang="en-US" sz="950" dirty="0"/>
          </a:p>
        </p:txBody>
      </p:sp>
      <p:sp>
        <p:nvSpPr>
          <p:cNvPr id="15" name="Shape 13"/>
          <p:cNvSpPr/>
          <p:nvPr/>
        </p:nvSpPr>
        <p:spPr>
          <a:xfrm>
            <a:off x="274320" y="1600200"/>
            <a:ext cx="8595360" cy="384048"/>
          </a:xfrm>
          <a:prstGeom prst="roundRect">
            <a:avLst>
              <a:gd name="adj" fmla="val 9524"/>
            </a:avLst>
          </a:prstGeom>
          <a:solidFill>
            <a:srgbClr val="FFFFFF"/>
          </a:solidFill>
          <a:ln/>
          <a:effectLst>
            <a:outerShdw blurRad="50800" dist="25400" dir="8100000" algn="bl" rotWithShape="0">
              <a:srgbClr val="000000">
                <a:alpha val="8000"/>
              </a:srgbClr>
            </a:outerShdw>
          </a:effectLst>
        </p:spPr>
        <p:txBody>
          <a:bodyPr/>
          <a:lstStyle/>
          <a:p>
            <a:endParaRPr lang="en-VN"/>
          </a:p>
        </p:txBody>
      </p:sp>
      <p:sp>
        <p:nvSpPr>
          <p:cNvPr id="16" name="Shape 14"/>
          <p:cNvSpPr/>
          <p:nvPr/>
        </p:nvSpPr>
        <p:spPr>
          <a:xfrm>
            <a:off x="274320" y="1600200"/>
            <a:ext cx="54864" cy="384048"/>
          </a:xfrm>
          <a:prstGeom prst="rect">
            <a:avLst/>
          </a:prstGeom>
          <a:solidFill>
            <a:srgbClr val="2563EB"/>
          </a:solidFill>
          <a:ln/>
        </p:spPr>
        <p:txBody>
          <a:bodyPr/>
          <a:lstStyle/>
          <a:p>
            <a:endParaRPr lang="en-VN"/>
          </a:p>
        </p:txBody>
      </p:sp>
      <p:sp>
        <p:nvSpPr>
          <p:cNvPr id="17" name="Text 15"/>
          <p:cNvSpPr/>
          <p:nvPr/>
        </p:nvSpPr>
        <p:spPr>
          <a:xfrm>
            <a:off x="457200" y="1600200"/>
            <a:ext cx="2286000" cy="384048"/>
          </a:xfrm>
          <a:prstGeom prst="rect">
            <a:avLst/>
          </a:prstGeom>
          <a:noFill/>
          <a:ln/>
        </p:spPr>
        <p:txBody>
          <a:bodyPr wrap="square" rtlCol="0" anchor="ctr"/>
          <a:lstStyle/>
          <a:p>
            <a:pPr marL="0" indent="0">
              <a:buNone/>
            </a:pPr>
            <a:r>
              <a:rPr lang="en-US" sz="1000" b="1" dirty="0">
                <a:solidFill>
                  <a:srgbClr val="0D1B4C"/>
                </a:solidFill>
                <a:latin typeface="Arial" pitchFamily="34" charset="0"/>
                <a:ea typeface="Arial" pitchFamily="34" charset="-122"/>
                <a:cs typeface="Arial" pitchFamily="34" charset="-120"/>
              </a:rPr>
              <a:t>Integration Developer</a:t>
            </a:r>
            <a:endParaRPr lang="en-US" sz="1000" dirty="0"/>
          </a:p>
        </p:txBody>
      </p:sp>
      <p:sp>
        <p:nvSpPr>
          <p:cNvPr id="18" name="Shape 16"/>
          <p:cNvSpPr/>
          <p:nvPr/>
        </p:nvSpPr>
        <p:spPr>
          <a:xfrm>
            <a:off x="2926080" y="1655064"/>
            <a:ext cx="457200" cy="274320"/>
          </a:xfrm>
          <a:prstGeom prst="ellipse">
            <a:avLst/>
          </a:prstGeom>
          <a:solidFill>
            <a:srgbClr val="2563EB"/>
          </a:solidFill>
          <a:ln/>
        </p:spPr>
        <p:txBody>
          <a:bodyPr/>
          <a:lstStyle/>
          <a:p>
            <a:endParaRPr lang="en-VN"/>
          </a:p>
        </p:txBody>
      </p:sp>
      <p:sp>
        <p:nvSpPr>
          <p:cNvPr id="19" name="Text 17"/>
          <p:cNvSpPr/>
          <p:nvPr/>
        </p:nvSpPr>
        <p:spPr>
          <a:xfrm>
            <a:off x="2926080" y="1655064"/>
            <a:ext cx="457200" cy="274320"/>
          </a:xfrm>
          <a:prstGeom prst="rect">
            <a:avLst/>
          </a:prstGeom>
          <a:noFill/>
          <a:ln/>
        </p:spPr>
        <p:txBody>
          <a:bodyPr wrap="square"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2-3</a:t>
            </a:r>
            <a:endParaRPr lang="en-US" sz="1000" dirty="0"/>
          </a:p>
        </p:txBody>
      </p:sp>
      <p:sp>
        <p:nvSpPr>
          <p:cNvPr id="20" name="Text 18"/>
          <p:cNvSpPr/>
          <p:nvPr/>
        </p:nvSpPr>
        <p:spPr>
          <a:xfrm>
            <a:off x="3566160" y="1600200"/>
            <a:ext cx="5120640" cy="384048"/>
          </a:xfrm>
          <a:prstGeom prst="rect">
            <a:avLst/>
          </a:prstGeom>
          <a:noFill/>
          <a:ln/>
        </p:spPr>
        <p:txBody>
          <a:bodyPr wrap="square" rtlCol="0" anchor="ctr"/>
          <a:lstStyle/>
          <a:p>
            <a:pPr marL="0" indent="0">
              <a:buNone/>
            </a:pPr>
            <a:r>
              <a:rPr lang="en-US" sz="950" dirty="0">
                <a:solidFill>
                  <a:srgbClr val="6B7280"/>
                </a:solidFill>
                <a:latin typeface="Arial" pitchFamily="34" charset="0"/>
                <a:ea typeface="Arial" pitchFamily="34" charset="-122"/>
                <a:cs typeface="Arial" pitchFamily="34" charset="-120"/>
              </a:rPr>
              <a:t>Phát triển integration services (Java/Camel/API)</a:t>
            </a:r>
            <a:endParaRPr lang="en-US" sz="950" dirty="0"/>
          </a:p>
        </p:txBody>
      </p:sp>
      <p:sp>
        <p:nvSpPr>
          <p:cNvPr id="21" name="Shape 19"/>
          <p:cNvSpPr/>
          <p:nvPr/>
        </p:nvSpPr>
        <p:spPr>
          <a:xfrm>
            <a:off x="274320" y="2057400"/>
            <a:ext cx="8595360" cy="384048"/>
          </a:xfrm>
          <a:prstGeom prst="roundRect">
            <a:avLst>
              <a:gd name="adj" fmla="val 9524"/>
            </a:avLst>
          </a:prstGeom>
          <a:solidFill>
            <a:srgbClr val="F3F4F6"/>
          </a:solidFill>
          <a:ln/>
          <a:effectLst>
            <a:outerShdw blurRad="50800" dist="25400" dir="8100000" algn="bl" rotWithShape="0">
              <a:srgbClr val="000000">
                <a:alpha val="8000"/>
              </a:srgbClr>
            </a:outerShdw>
          </a:effectLst>
        </p:spPr>
        <p:txBody>
          <a:bodyPr/>
          <a:lstStyle/>
          <a:p>
            <a:endParaRPr lang="en-VN"/>
          </a:p>
        </p:txBody>
      </p:sp>
      <p:sp>
        <p:nvSpPr>
          <p:cNvPr id="22" name="Shape 20"/>
          <p:cNvSpPr/>
          <p:nvPr/>
        </p:nvSpPr>
        <p:spPr>
          <a:xfrm>
            <a:off x="274320" y="2057400"/>
            <a:ext cx="54864" cy="384048"/>
          </a:xfrm>
          <a:prstGeom prst="rect">
            <a:avLst/>
          </a:prstGeom>
          <a:solidFill>
            <a:srgbClr val="0891B2"/>
          </a:solidFill>
          <a:ln/>
        </p:spPr>
        <p:txBody>
          <a:bodyPr/>
          <a:lstStyle/>
          <a:p>
            <a:endParaRPr lang="en-VN"/>
          </a:p>
        </p:txBody>
      </p:sp>
      <p:sp>
        <p:nvSpPr>
          <p:cNvPr id="23" name="Text 21"/>
          <p:cNvSpPr/>
          <p:nvPr/>
        </p:nvSpPr>
        <p:spPr>
          <a:xfrm>
            <a:off x="457200" y="2057400"/>
            <a:ext cx="2286000" cy="384048"/>
          </a:xfrm>
          <a:prstGeom prst="rect">
            <a:avLst/>
          </a:prstGeom>
          <a:noFill/>
          <a:ln/>
        </p:spPr>
        <p:txBody>
          <a:bodyPr wrap="square" rtlCol="0" anchor="ctr"/>
          <a:lstStyle/>
          <a:p>
            <a:pPr marL="0" indent="0">
              <a:buNone/>
            </a:pPr>
            <a:r>
              <a:rPr lang="en-US" sz="1000" b="1" dirty="0">
                <a:solidFill>
                  <a:srgbClr val="0D1B4C"/>
                </a:solidFill>
                <a:latin typeface="Arial" pitchFamily="34" charset="0"/>
                <a:ea typeface="Arial" pitchFamily="34" charset="-122"/>
                <a:cs typeface="Arial" pitchFamily="34" charset="-120"/>
              </a:rPr>
              <a:t>DevOps/SRE Engineer</a:t>
            </a:r>
            <a:endParaRPr lang="en-US" sz="1000" dirty="0"/>
          </a:p>
        </p:txBody>
      </p:sp>
      <p:sp>
        <p:nvSpPr>
          <p:cNvPr id="24" name="Shape 22"/>
          <p:cNvSpPr/>
          <p:nvPr/>
        </p:nvSpPr>
        <p:spPr>
          <a:xfrm>
            <a:off x="2926080" y="2112264"/>
            <a:ext cx="457200" cy="274320"/>
          </a:xfrm>
          <a:prstGeom prst="ellipse">
            <a:avLst/>
          </a:prstGeom>
          <a:solidFill>
            <a:srgbClr val="0891B2"/>
          </a:solidFill>
          <a:ln/>
        </p:spPr>
        <p:txBody>
          <a:bodyPr/>
          <a:lstStyle/>
          <a:p>
            <a:endParaRPr lang="en-VN"/>
          </a:p>
        </p:txBody>
      </p:sp>
      <p:sp>
        <p:nvSpPr>
          <p:cNvPr id="25" name="Text 23"/>
          <p:cNvSpPr/>
          <p:nvPr/>
        </p:nvSpPr>
        <p:spPr>
          <a:xfrm>
            <a:off x="2926080" y="2112264"/>
            <a:ext cx="457200" cy="274320"/>
          </a:xfrm>
          <a:prstGeom prst="rect">
            <a:avLst/>
          </a:prstGeom>
          <a:noFill/>
          <a:ln/>
        </p:spPr>
        <p:txBody>
          <a:bodyPr wrap="square"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1-2</a:t>
            </a:r>
            <a:endParaRPr lang="en-US" sz="1000" dirty="0"/>
          </a:p>
        </p:txBody>
      </p:sp>
      <p:sp>
        <p:nvSpPr>
          <p:cNvPr id="26" name="Text 24"/>
          <p:cNvSpPr/>
          <p:nvPr/>
        </p:nvSpPr>
        <p:spPr>
          <a:xfrm>
            <a:off x="3566160" y="2057400"/>
            <a:ext cx="5120640" cy="384048"/>
          </a:xfrm>
          <a:prstGeom prst="rect">
            <a:avLst/>
          </a:prstGeom>
          <a:noFill/>
          <a:ln/>
        </p:spPr>
        <p:txBody>
          <a:bodyPr wrap="square" rtlCol="0" anchor="ctr"/>
          <a:lstStyle/>
          <a:p>
            <a:pPr marL="0" indent="0">
              <a:buNone/>
            </a:pPr>
            <a:r>
              <a:rPr lang="en-US" sz="950" dirty="0">
                <a:solidFill>
                  <a:srgbClr val="6B7280"/>
                </a:solidFill>
                <a:latin typeface="Arial" pitchFamily="34" charset="0"/>
                <a:ea typeface="Arial" pitchFamily="34" charset="-122"/>
                <a:cs typeface="Arial" pitchFamily="34" charset="-120"/>
              </a:rPr>
              <a:t>K8s, CI/CD, monitoring, infrastructure</a:t>
            </a:r>
            <a:endParaRPr lang="en-US" sz="950" dirty="0"/>
          </a:p>
        </p:txBody>
      </p:sp>
      <p:sp>
        <p:nvSpPr>
          <p:cNvPr id="27" name="Shape 25"/>
          <p:cNvSpPr/>
          <p:nvPr/>
        </p:nvSpPr>
        <p:spPr>
          <a:xfrm>
            <a:off x="274320" y="2514600"/>
            <a:ext cx="8595360" cy="384048"/>
          </a:xfrm>
          <a:prstGeom prst="roundRect">
            <a:avLst>
              <a:gd name="adj" fmla="val 9524"/>
            </a:avLst>
          </a:prstGeom>
          <a:solidFill>
            <a:srgbClr val="FFFFFF"/>
          </a:solidFill>
          <a:ln/>
          <a:effectLst>
            <a:outerShdw blurRad="50800" dist="25400" dir="8100000" algn="bl" rotWithShape="0">
              <a:srgbClr val="000000">
                <a:alpha val="8000"/>
              </a:srgbClr>
            </a:outerShdw>
          </a:effectLst>
        </p:spPr>
        <p:txBody>
          <a:bodyPr/>
          <a:lstStyle/>
          <a:p>
            <a:endParaRPr lang="en-VN"/>
          </a:p>
        </p:txBody>
      </p:sp>
      <p:sp>
        <p:nvSpPr>
          <p:cNvPr id="28" name="Shape 26"/>
          <p:cNvSpPr/>
          <p:nvPr/>
        </p:nvSpPr>
        <p:spPr>
          <a:xfrm>
            <a:off x="274320" y="2514600"/>
            <a:ext cx="54864" cy="384048"/>
          </a:xfrm>
          <a:prstGeom prst="rect">
            <a:avLst/>
          </a:prstGeom>
          <a:solidFill>
            <a:srgbClr val="059669"/>
          </a:solidFill>
          <a:ln/>
        </p:spPr>
        <p:txBody>
          <a:bodyPr/>
          <a:lstStyle/>
          <a:p>
            <a:endParaRPr lang="en-VN"/>
          </a:p>
        </p:txBody>
      </p:sp>
      <p:sp>
        <p:nvSpPr>
          <p:cNvPr id="29" name="Text 27"/>
          <p:cNvSpPr/>
          <p:nvPr/>
        </p:nvSpPr>
        <p:spPr>
          <a:xfrm>
            <a:off x="457200" y="2514600"/>
            <a:ext cx="2286000" cy="384048"/>
          </a:xfrm>
          <a:prstGeom prst="rect">
            <a:avLst/>
          </a:prstGeom>
          <a:noFill/>
          <a:ln/>
        </p:spPr>
        <p:txBody>
          <a:bodyPr wrap="square" rtlCol="0" anchor="ctr"/>
          <a:lstStyle/>
          <a:p>
            <a:pPr marL="0" indent="0">
              <a:buNone/>
            </a:pPr>
            <a:r>
              <a:rPr lang="en-US" sz="1000" b="1" dirty="0">
                <a:solidFill>
                  <a:srgbClr val="0D1B4C"/>
                </a:solidFill>
                <a:latin typeface="Arial" pitchFamily="34" charset="0"/>
                <a:ea typeface="Arial" pitchFamily="34" charset="-122"/>
                <a:cs typeface="Arial" pitchFamily="34" charset="-120"/>
              </a:rPr>
              <a:t>n8n Workflow Developer</a:t>
            </a:r>
            <a:endParaRPr lang="en-US" sz="1000" dirty="0"/>
          </a:p>
        </p:txBody>
      </p:sp>
      <p:sp>
        <p:nvSpPr>
          <p:cNvPr id="30" name="Shape 28"/>
          <p:cNvSpPr/>
          <p:nvPr/>
        </p:nvSpPr>
        <p:spPr>
          <a:xfrm>
            <a:off x="2926080" y="2569464"/>
            <a:ext cx="457200" cy="274320"/>
          </a:xfrm>
          <a:prstGeom prst="ellipse">
            <a:avLst/>
          </a:prstGeom>
          <a:solidFill>
            <a:srgbClr val="059669"/>
          </a:solidFill>
          <a:ln/>
        </p:spPr>
        <p:txBody>
          <a:bodyPr/>
          <a:lstStyle/>
          <a:p>
            <a:endParaRPr lang="en-VN"/>
          </a:p>
        </p:txBody>
      </p:sp>
      <p:sp>
        <p:nvSpPr>
          <p:cNvPr id="31" name="Text 29"/>
          <p:cNvSpPr/>
          <p:nvPr/>
        </p:nvSpPr>
        <p:spPr>
          <a:xfrm>
            <a:off x="2926080" y="2569464"/>
            <a:ext cx="457200" cy="274320"/>
          </a:xfrm>
          <a:prstGeom prst="rect">
            <a:avLst/>
          </a:prstGeom>
          <a:noFill/>
          <a:ln/>
        </p:spPr>
        <p:txBody>
          <a:bodyPr wrap="square"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1-2</a:t>
            </a:r>
            <a:endParaRPr lang="en-US" sz="1000" dirty="0"/>
          </a:p>
        </p:txBody>
      </p:sp>
      <p:sp>
        <p:nvSpPr>
          <p:cNvPr id="32" name="Text 30"/>
          <p:cNvSpPr/>
          <p:nvPr/>
        </p:nvSpPr>
        <p:spPr>
          <a:xfrm>
            <a:off x="3566160" y="2514600"/>
            <a:ext cx="5120640" cy="384048"/>
          </a:xfrm>
          <a:prstGeom prst="rect">
            <a:avLst/>
          </a:prstGeom>
          <a:noFill/>
          <a:ln/>
        </p:spPr>
        <p:txBody>
          <a:bodyPr wrap="square" rtlCol="0" anchor="ctr"/>
          <a:lstStyle/>
          <a:p>
            <a:pPr marL="0" indent="0">
              <a:buNone/>
            </a:pPr>
            <a:r>
              <a:rPr lang="en-US" sz="950" dirty="0">
                <a:solidFill>
                  <a:srgbClr val="6B7280"/>
                </a:solidFill>
                <a:latin typeface="Arial" pitchFamily="34" charset="0"/>
                <a:ea typeface="Arial" pitchFamily="34" charset="-122"/>
                <a:cs typeface="Arial" pitchFamily="34" charset="-120"/>
              </a:rPr>
              <a:t>Business workflows, n8n customization</a:t>
            </a:r>
            <a:endParaRPr lang="en-US" sz="950" dirty="0"/>
          </a:p>
        </p:txBody>
      </p:sp>
      <p:sp>
        <p:nvSpPr>
          <p:cNvPr id="33" name="Shape 31"/>
          <p:cNvSpPr/>
          <p:nvPr/>
        </p:nvSpPr>
        <p:spPr>
          <a:xfrm>
            <a:off x="274320" y="2971800"/>
            <a:ext cx="8595360" cy="384048"/>
          </a:xfrm>
          <a:prstGeom prst="roundRect">
            <a:avLst>
              <a:gd name="adj" fmla="val 9524"/>
            </a:avLst>
          </a:prstGeom>
          <a:solidFill>
            <a:srgbClr val="F3F4F6"/>
          </a:solidFill>
          <a:ln/>
          <a:effectLst>
            <a:outerShdw blurRad="50800" dist="25400" dir="8100000" algn="bl" rotWithShape="0">
              <a:srgbClr val="000000">
                <a:alpha val="8000"/>
              </a:srgbClr>
            </a:outerShdw>
          </a:effectLst>
        </p:spPr>
        <p:txBody>
          <a:bodyPr/>
          <a:lstStyle/>
          <a:p>
            <a:endParaRPr lang="en-VN"/>
          </a:p>
        </p:txBody>
      </p:sp>
      <p:sp>
        <p:nvSpPr>
          <p:cNvPr id="34" name="Shape 32"/>
          <p:cNvSpPr/>
          <p:nvPr/>
        </p:nvSpPr>
        <p:spPr>
          <a:xfrm>
            <a:off x="274320" y="2971800"/>
            <a:ext cx="54864" cy="384048"/>
          </a:xfrm>
          <a:prstGeom prst="rect">
            <a:avLst/>
          </a:prstGeom>
          <a:solidFill>
            <a:srgbClr val="EA580C"/>
          </a:solidFill>
          <a:ln/>
        </p:spPr>
        <p:txBody>
          <a:bodyPr/>
          <a:lstStyle/>
          <a:p>
            <a:endParaRPr lang="en-VN"/>
          </a:p>
        </p:txBody>
      </p:sp>
      <p:sp>
        <p:nvSpPr>
          <p:cNvPr id="35" name="Text 33"/>
          <p:cNvSpPr/>
          <p:nvPr/>
        </p:nvSpPr>
        <p:spPr>
          <a:xfrm>
            <a:off x="457200" y="2971800"/>
            <a:ext cx="2286000" cy="384048"/>
          </a:xfrm>
          <a:prstGeom prst="rect">
            <a:avLst/>
          </a:prstGeom>
          <a:noFill/>
          <a:ln/>
        </p:spPr>
        <p:txBody>
          <a:bodyPr wrap="square" rtlCol="0" anchor="ctr"/>
          <a:lstStyle/>
          <a:p>
            <a:pPr marL="0" indent="0">
              <a:buNone/>
            </a:pPr>
            <a:r>
              <a:rPr lang="en-US" sz="1000" b="1" dirty="0">
                <a:solidFill>
                  <a:srgbClr val="0D1B4C"/>
                </a:solidFill>
                <a:latin typeface="Arial" pitchFamily="34" charset="0"/>
                <a:ea typeface="Arial" pitchFamily="34" charset="-122"/>
                <a:cs typeface="Arial" pitchFamily="34" charset="-120"/>
              </a:rPr>
              <a:t>API Developer</a:t>
            </a:r>
            <a:endParaRPr lang="en-US" sz="1000" dirty="0"/>
          </a:p>
        </p:txBody>
      </p:sp>
      <p:sp>
        <p:nvSpPr>
          <p:cNvPr id="36" name="Shape 34"/>
          <p:cNvSpPr/>
          <p:nvPr/>
        </p:nvSpPr>
        <p:spPr>
          <a:xfrm>
            <a:off x="2926080" y="3026664"/>
            <a:ext cx="457200" cy="274320"/>
          </a:xfrm>
          <a:prstGeom prst="ellipse">
            <a:avLst/>
          </a:prstGeom>
          <a:solidFill>
            <a:srgbClr val="EA580C"/>
          </a:solidFill>
          <a:ln/>
        </p:spPr>
        <p:txBody>
          <a:bodyPr/>
          <a:lstStyle/>
          <a:p>
            <a:endParaRPr lang="en-VN"/>
          </a:p>
        </p:txBody>
      </p:sp>
      <p:sp>
        <p:nvSpPr>
          <p:cNvPr id="37" name="Text 35"/>
          <p:cNvSpPr/>
          <p:nvPr/>
        </p:nvSpPr>
        <p:spPr>
          <a:xfrm>
            <a:off x="2926080" y="3026664"/>
            <a:ext cx="457200" cy="274320"/>
          </a:xfrm>
          <a:prstGeom prst="rect">
            <a:avLst/>
          </a:prstGeom>
          <a:noFill/>
          <a:ln/>
        </p:spPr>
        <p:txBody>
          <a:bodyPr wrap="square"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1-2</a:t>
            </a:r>
            <a:endParaRPr lang="en-US" sz="1000" dirty="0"/>
          </a:p>
        </p:txBody>
      </p:sp>
      <p:sp>
        <p:nvSpPr>
          <p:cNvPr id="38" name="Text 36"/>
          <p:cNvSpPr/>
          <p:nvPr/>
        </p:nvSpPr>
        <p:spPr>
          <a:xfrm>
            <a:off x="3566160" y="2971800"/>
            <a:ext cx="5120640" cy="384048"/>
          </a:xfrm>
          <a:prstGeom prst="rect">
            <a:avLst/>
          </a:prstGeom>
          <a:noFill/>
          <a:ln/>
        </p:spPr>
        <p:txBody>
          <a:bodyPr wrap="square" rtlCol="0" anchor="ctr"/>
          <a:lstStyle/>
          <a:p>
            <a:pPr marL="0" indent="0">
              <a:buNone/>
            </a:pPr>
            <a:r>
              <a:rPr lang="en-US" sz="950" dirty="0">
                <a:solidFill>
                  <a:srgbClr val="6B7280"/>
                </a:solidFill>
                <a:latin typeface="Arial" pitchFamily="34" charset="0"/>
                <a:ea typeface="Arial" pitchFamily="34" charset="-122"/>
                <a:cs typeface="Arial" pitchFamily="34" charset="-120"/>
              </a:rPr>
              <a:t>API design, Kong configuration, testing</a:t>
            </a:r>
            <a:endParaRPr lang="en-US" sz="950" dirty="0"/>
          </a:p>
        </p:txBody>
      </p:sp>
      <p:sp>
        <p:nvSpPr>
          <p:cNvPr id="39" name="Shape 37"/>
          <p:cNvSpPr/>
          <p:nvPr/>
        </p:nvSpPr>
        <p:spPr>
          <a:xfrm>
            <a:off x="274320" y="3429000"/>
            <a:ext cx="8595360" cy="384048"/>
          </a:xfrm>
          <a:prstGeom prst="roundRect">
            <a:avLst>
              <a:gd name="adj" fmla="val 9524"/>
            </a:avLst>
          </a:prstGeom>
          <a:solidFill>
            <a:srgbClr val="FFFFFF"/>
          </a:solidFill>
          <a:ln/>
          <a:effectLst>
            <a:outerShdw blurRad="50800" dist="25400" dir="8100000" algn="bl" rotWithShape="0">
              <a:srgbClr val="000000">
                <a:alpha val="8000"/>
              </a:srgbClr>
            </a:outerShdw>
          </a:effectLst>
        </p:spPr>
        <p:txBody>
          <a:bodyPr/>
          <a:lstStyle/>
          <a:p>
            <a:endParaRPr lang="en-VN"/>
          </a:p>
        </p:txBody>
      </p:sp>
      <p:sp>
        <p:nvSpPr>
          <p:cNvPr id="40" name="Shape 38"/>
          <p:cNvSpPr/>
          <p:nvPr/>
        </p:nvSpPr>
        <p:spPr>
          <a:xfrm>
            <a:off x="274320" y="3429000"/>
            <a:ext cx="54864" cy="384048"/>
          </a:xfrm>
          <a:prstGeom prst="rect">
            <a:avLst/>
          </a:prstGeom>
          <a:solidFill>
            <a:srgbClr val="DC2626"/>
          </a:solidFill>
          <a:ln/>
        </p:spPr>
        <p:txBody>
          <a:bodyPr/>
          <a:lstStyle/>
          <a:p>
            <a:endParaRPr lang="en-VN"/>
          </a:p>
        </p:txBody>
      </p:sp>
      <p:sp>
        <p:nvSpPr>
          <p:cNvPr id="41" name="Text 39"/>
          <p:cNvSpPr/>
          <p:nvPr/>
        </p:nvSpPr>
        <p:spPr>
          <a:xfrm>
            <a:off x="457200" y="3429000"/>
            <a:ext cx="2286000" cy="384048"/>
          </a:xfrm>
          <a:prstGeom prst="rect">
            <a:avLst/>
          </a:prstGeom>
          <a:noFill/>
          <a:ln/>
        </p:spPr>
        <p:txBody>
          <a:bodyPr wrap="square" rtlCol="0" anchor="ctr"/>
          <a:lstStyle/>
          <a:p>
            <a:pPr marL="0" indent="0">
              <a:buNone/>
            </a:pPr>
            <a:r>
              <a:rPr lang="en-US" sz="1000" b="1" dirty="0">
                <a:solidFill>
                  <a:srgbClr val="0D1B4C"/>
                </a:solidFill>
                <a:latin typeface="Arial" pitchFamily="34" charset="0"/>
                <a:ea typeface="Arial" pitchFamily="34" charset="-122"/>
                <a:cs typeface="Arial" pitchFamily="34" charset="-120"/>
              </a:rPr>
              <a:t>QA Engineer</a:t>
            </a:r>
            <a:endParaRPr lang="en-US" sz="1000" dirty="0"/>
          </a:p>
        </p:txBody>
      </p:sp>
      <p:sp>
        <p:nvSpPr>
          <p:cNvPr id="42" name="Shape 40"/>
          <p:cNvSpPr/>
          <p:nvPr/>
        </p:nvSpPr>
        <p:spPr>
          <a:xfrm>
            <a:off x="2926080" y="3483864"/>
            <a:ext cx="457200" cy="274320"/>
          </a:xfrm>
          <a:prstGeom prst="ellipse">
            <a:avLst/>
          </a:prstGeom>
          <a:solidFill>
            <a:srgbClr val="DC2626"/>
          </a:solidFill>
          <a:ln/>
        </p:spPr>
        <p:txBody>
          <a:bodyPr/>
          <a:lstStyle/>
          <a:p>
            <a:endParaRPr lang="en-VN"/>
          </a:p>
        </p:txBody>
      </p:sp>
      <p:sp>
        <p:nvSpPr>
          <p:cNvPr id="43" name="Text 41"/>
          <p:cNvSpPr/>
          <p:nvPr/>
        </p:nvSpPr>
        <p:spPr>
          <a:xfrm>
            <a:off x="2926080" y="3483864"/>
            <a:ext cx="457200" cy="274320"/>
          </a:xfrm>
          <a:prstGeom prst="rect">
            <a:avLst/>
          </a:prstGeom>
          <a:noFill/>
          <a:ln/>
        </p:spPr>
        <p:txBody>
          <a:bodyPr wrap="square"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44" name="Text 42"/>
          <p:cNvSpPr/>
          <p:nvPr/>
        </p:nvSpPr>
        <p:spPr>
          <a:xfrm>
            <a:off x="3566160" y="3429000"/>
            <a:ext cx="5120640" cy="384048"/>
          </a:xfrm>
          <a:prstGeom prst="rect">
            <a:avLst/>
          </a:prstGeom>
          <a:noFill/>
          <a:ln/>
        </p:spPr>
        <p:txBody>
          <a:bodyPr wrap="square" rtlCol="0" anchor="ctr"/>
          <a:lstStyle/>
          <a:p>
            <a:pPr marL="0" indent="0">
              <a:buNone/>
            </a:pPr>
            <a:r>
              <a:rPr lang="en-US" sz="950" dirty="0">
                <a:solidFill>
                  <a:srgbClr val="6B7280"/>
                </a:solidFill>
                <a:latin typeface="Arial" pitchFamily="34" charset="0"/>
                <a:ea typeface="Arial" pitchFamily="34" charset="-122"/>
                <a:cs typeface="Arial" pitchFamily="34" charset="-120"/>
              </a:rPr>
              <a:t>Integration testing, performance testing</a:t>
            </a:r>
            <a:endParaRPr lang="en-US" sz="950" dirty="0"/>
          </a:p>
        </p:txBody>
      </p:sp>
      <p:sp>
        <p:nvSpPr>
          <p:cNvPr id="45" name="Shape 43"/>
          <p:cNvSpPr/>
          <p:nvPr/>
        </p:nvSpPr>
        <p:spPr>
          <a:xfrm>
            <a:off x="274320" y="3886200"/>
            <a:ext cx="8595360" cy="384048"/>
          </a:xfrm>
          <a:prstGeom prst="roundRect">
            <a:avLst>
              <a:gd name="adj" fmla="val 9524"/>
            </a:avLst>
          </a:prstGeom>
          <a:solidFill>
            <a:srgbClr val="F3F4F6"/>
          </a:solidFill>
          <a:ln/>
          <a:effectLst>
            <a:outerShdw blurRad="50800" dist="25400" dir="8100000" algn="bl" rotWithShape="0">
              <a:srgbClr val="000000">
                <a:alpha val="8000"/>
              </a:srgbClr>
            </a:outerShdw>
          </a:effectLst>
        </p:spPr>
        <p:txBody>
          <a:bodyPr/>
          <a:lstStyle/>
          <a:p>
            <a:endParaRPr lang="en-VN"/>
          </a:p>
        </p:txBody>
      </p:sp>
      <p:sp>
        <p:nvSpPr>
          <p:cNvPr id="46" name="Shape 44"/>
          <p:cNvSpPr/>
          <p:nvPr/>
        </p:nvSpPr>
        <p:spPr>
          <a:xfrm>
            <a:off x="274320" y="3886200"/>
            <a:ext cx="54864" cy="384048"/>
          </a:xfrm>
          <a:prstGeom prst="rect">
            <a:avLst/>
          </a:prstGeom>
          <a:solidFill>
            <a:srgbClr val="C8A962"/>
          </a:solidFill>
          <a:ln/>
        </p:spPr>
        <p:txBody>
          <a:bodyPr/>
          <a:lstStyle/>
          <a:p>
            <a:endParaRPr lang="en-VN"/>
          </a:p>
        </p:txBody>
      </p:sp>
      <p:sp>
        <p:nvSpPr>
          <p:cNvPr id="47" name="Text 45"/>
          <p:cNvSpPr/>
          <p:nvPr/>
        </p:nvSpPr>
        <p:spPr>
          <a:xfrm>
            <a:off x="457200" y="3886200"/>
            <a:ext cx="2286000" cy="384048"/>
          </a:xfrm>
          <a:prstGeom prst="rect">
            <a:avLst/>
          </a:prstGeom>
          <a:noFill/>
          <a:ln/>
        </p:spPr>
        <p:txBody>
          <a:bodyPr wrap="square" rtlCol="0" anchor="ctr"/>
          <a:lstStyle/>
          <a:p>
            <a:pPr marL="0" indent="0">
              <a:buNone/>
            </a:pPr>
            <a:r>
              <a:rPr lang="en-US" sz="1000" b="1" dirty="0">
                <a:solidFill>
                  <a:srgbClr val="0D1B4C"/>
                </a:solidFill>
                <a:latin typeface="Arial" pitchFamily="34" charset="0"/>
                <a:ea typeface="Arial" pitchFamily="34" charset="-122"/>
                <a:cs typeface="Arial" pitchFamily="34" charset="-120"/>
              </a:rPr>
              <a:t>Project Manager</a:t>
            </a:r>
            <a:endParaRPr lang="en-US" sz="1000" dirty="0"/>
          </a:p>
        </p:txBody>
      </p:sp>
      <p:sp>
        <p:nvSpPr>
          <p:cNvPr id="48" name="Shape 46"/>
          <p:cNvSpPr/>
          <p:nvPr/>
        </p:nvSpPr>
        <p:spPr>
          <a:xfrm>
            <a:off x="2926080" y="3941064"/>
            <a:ext cx="457200" cy="274320"/>
          </a:xfrm>
          <a:prstGeom prst="ellipse">
            <a:avLst/>
          </a:prstGeom>
          <a:solidFill>
            <a:srgbClr val="C8A962"/>
          </a:solidFill>
          <a:ln/>
        </p:spPr>
        <p:txBody>
          <a:bodyPr/>
          <a:lstStyle/>
          <a:p>
            <a:endParaRPr lang="en-VN"/>
          </a:p>
        </p:txBody>
      </p:sp>
      <p:sp>
        <p:nvSpPr>
          <p:cNvPr id="49" name="Text 47"/>
          <p:cNvSpPr/>
          <p:nvPr/>
        </p:nvSpPr>
        <p:spPr>
          <a:xfrm>
            <a:off x="2926080" y="3941064"/>
            <a:ext cx="457200" cy="274320"/>
          </a:xfrm>
          <a:prstGeom prst="rect">
            <a:avLst/>
          </a:prstGeom>
          <a:noFill/>
          <a:ln/>
        </p:spPr>
        <p:txBody>
          <a:bodyPr wrap="square"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50" name="Text 48"/>
          <p:cNvSpPr/>
          <p:nvPr/>
        </p:nvSpPr>
        <p:spPr>
          <a:xfrm>
            <a:off x="3566160" y="3886200"/>
            <a:ext cx="5120640" cy="384048"/>
          </a:xfrm>
          <a:prstGeom prst="rect">
            <a:avLst/>
          </a:prstGeom>
          <a:noFill/>
          <a:ln/>
        </p:spPr>
        <p:txBody>
          <a:bodyPr wrap="square" rtlCol="0" anchor="ctr"/>
          <a:lstStyle/>
          <a:p>
            <a:pPr marL="0" indent="0">
              <a:buNone/>
            </a:pPr>
            <a:r>
              <a:rPr lang="en-US" sz="950" dirty="0">
                <a:solidFill>
                  <a:srgbClr val="6B7280"/>
                </a:solidFill>
                <a:latin typeface="Arial" pitchFamily="34" charset="0"/>
                <a:ea typeface="Arial" pitchFamily="34" charset="-122"/>
                <a:cs typeface="Arial" pitchFamily="34" charset="-120"/>
              </a:rPr>
              <a:t>Coordination, stakeholder management</a:t>
            </a:r>
            <a:endParaRPr lang="en-US" sz="950" dirty="0"/>
          </a:p>
        </p:txBody>
      </p:sp>
      <p:sp>
        <p:nvSpPr>
          <p:cNvPr id="51" name="Shape 49"/>
          <p:cNvSpPr/>
          <p:nvPr/>
        </p:nvSpPr>
        <p:spPr>
          <a:xfrm>
            <a:off x="274320" y="4389120"/>
            <a:ext cx="8595360" cy="320040"/>
          </a:xfrm>
          <a:prstGeom prst="roundRect">
            <a:avLst>
              <a:gd name="adj" fmla="val 11429"/>
            </a:avLst>
          </a:prstGeom>
          <a:solidFill>
            <a:srgbClr val="0D1B4C"/>
          </a:solidFill>
          <a:ln/>
        </p:spPr>
        <p:txBody>
          <a:bodyPr/>
          <a:lstStyle/>
          <a:p>
            <a:endParaRPr lang="en-VN"/>
          </a:p>
        </p:txBody>
      </p:sp>
      <p:sp>
        <p:nvSpPr>
          <p:cNvPr id="52" name="Text 50"/>
          <p:cNvSpPr/>
          <p:nvPr/>
        </p:nvSpPr>
        <p:spPr>
          <a:xfrm>
            <a:off x="457200" y="4389120"/>
            <a:ext cx="3657600" cy="320040"/>
          </a:xfrm>
          <a:prstGeom prst="rect">
            <a:avLst/>
          </a:prstGeom>
          <a:noFill/>
          <a:ln/>
        </p:spPr>
        <p:txBody>
          <a:bodyPr wrap="square" rtlCol="0" anchor="ctr"/>
          <a:lstStyle/>
          <a:p>
            <a:pPr marL="0" indent="0">
              <a:buNone/>
            </a:pPr>
            <a:r>
              <a:rPr lang="en-US" sz="1100" b="1" dirty="0">
                <a:solidFill>
                  <a:srgbClr val="C8A962"/>
                </a:solidFill>
                <a:latin typeface="Arial" pitchFamily="34" charset="0"/>
                <a:ea typeface="Arial" pitchFamily="34" charset="-122"/>
                <a:cs typeface="Arial" pitchFamily="34" charset="-120"/>
              </a:rPr>
              <a:t>TỔNG ĐỘI NGŨ: 8-12 NGƯỜI</a:t>
            </a:r>
            <a:endParaRPr lang="en-US" sz="1100" dirty="0"/>
          </a:p>
        </p:txBody>
      </p:sp>
      <p:sp>
        <p:nvSpPr>
          <p:cNvPr id="53" name="Text 51"/>
          <p:cNvSpPr/>
          <p:nvPr/>
        </p:nvSpPr>
        <p:spPr>
          <a:xfrm>
            <a:off x="4572000" y="4389120"/>
            <a:ext cx="4114800" cy="320040"/>
          </a:xfrm>
          <a:prstGeom prst="rect">
            <a:avLst/>
          </a:prstGeom>
          <a:noFill/>
          <a:ln/>
        </p:spPr>
        <p:txBody>
          <a:bodyPr wrap="square" rtlCol="0" anchor="ctr"/>
          <a:lstStyle/>
          <a:p>
            <a:pPr marL="0" indent="0" algn="r">
              <a:buNone/>
            </a:pPr>
            <a:r>
              <a:rPr lang="en-US" sz="900" dirty="0">
                <a:solidFill>
                  <a:srgbClr val="FFFFFF"/>
                </a:solidFill>
                <a:latin typeface="Arial" pitchFamily="34" charset="0"/>
                <a:ea typeface="Arial" pitchFamily="34" charset="-122"/>
                <a:cs typeface="Arial" pitchFamily="34" charset="-120"/>
              </a:rPr>
              <a:t>Tiên Phong CDS cung cấp toàn bộ nhân lực triển khai</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1B4C"/>
          </a:solidFill>
          <a:ln/>
        </p:spPr>
        <p:txBody>
          <a:bodyPr/>
          <a:lstStyle/>
          <a:p>
            <a:endParaRPr lang="en-VN"/>
          </a:p>
        </p:txBody>
      </p:sp>
      <p:sp>
        <p:nvSpPr>
          <p:cNvPr id="3" name="Shape 1"/>
          <p:cNvSpPr/>
          <p:nvPr/>
        </p:nvSpPr>
        <p:spPr>
          <a:xfrm>
            <a:off x="0" y="914400"/>
            <a:ext cx="9144000" cy="36576"/>
          </a:xfrm>
          <a:prstGeom prst="rect">
            <a:avLst/>
          </a:prstGeom>
          <a:solidFill>
            <a:srgbClr val="C8A962"/>
          </a:solidFill>
          <a:ln/>
        </p:spPr>
        <p:txBody>
          <a:bodyPr/>
          <a:lstStyle/>
          <a:p>
            <a:endParaRPr lang="en-VN"/>
          </a:p>
        </p:txBody>
      </p:sp>
      <p:sp>
        <p:nvSpPr>
          <p:cNvPr id="4" name="Text 2"/>
          <p:cNvSpPr/>
          <p:nvPr/>
        </p:nvSpPr>
        <p:spPr>
          <a:xfrm>
            <a:off x="457200" y="0"/>
            <a:ext cx="8229600" cy="548640"/>
          </a:xfrm>
          <a:prstGeom prst="rect">
            <a:avLst/>
          </a:prstGeom>
          <a:noFill/>
          <a:ln/>
        </p:spPr>
        <p:txBody>
          <a:bodyPr wrap="square" rtlCol="0" anchor="b"/>
          <a:lstStyle/>
          <a:p>
            <a:pPr marL="0" indent="0">
              <a:buNone/>
            </a:pPr>
            <a:r>
              <a:rPr lang="en-US" sz="2400" b="1" dirty="0">
                <a:solidFill>
                  <a:srgbClr val="FFFFFF"/>
                </a:solidFill>
                <a:latin typeface="Arial" pitchFamily="34" charset="0"/>
                <a:ea typeface="Arial" pitchFamily="34" charset="-122"/>
                <a:cs typeface="Arial" pitchFamily="34" charset="-120"/>
              </a:rPr>
              <a:t>Bước Tiếp theo</a:t>
            </a:r>
            <a:endParaRPr lang="en-US" sz="2400" dirty="0"/>
          </a:p>
        </p:txBody>
      </p:sp>
      <p:sp>
        <p:nvSpPr>
          <p:cNvPr id="5" name="Text 3"/>
          <p:cNvSpPr/>
          <p:nvPr/>
        </p:nvSpPr>
        <p:spPr>
          <a:xfrm>
            <a:off x="457200" y="548640"/>
            <a:ext cx="8229600" cy="365760"/>
          </a:xfrm>
          <a:prstGeom prst="rect">
            <a:avLst/>
          </a:prstGeom>
          <a:noFill/>
          <a:ln/>
        </p:spPr>
        <p:txBody>
          <a:bodyPr wrap="square" rtlCol="0" anchor="t"/>
          <a:lstStyle/>
          <a:p>
            <a:pPr marL="0" indent="0">
              <a:buNone/>
            </a:pPr>
            <a:r>
              <a:rPr lang="en-US" sz="1300" dirty="0">
                <a:solidFill>
                  <a:srgbClr val="C8A962"/>
                </a:solidFill>
                <a:latin typeface="Arial" pitchFamily="34" charset="0"/>
                <a:ea typeface="Arial" pitchFamily="34" charset="-122"/>
                <a:cs typeface="Arial" pitchFamily="34" charset="-120"/>
              </a:rPr>
              <a:t>Next Steps &amp; Call to Action</a:t>
            </a:r>
            <a:endParaRPr lang="en-US" sz="1300" dirty="0"/>
          </a:p>
        </p:txBody>
      </p:sp>
      <p:sp>
        <p:nvSpPr>
          <p:cNvPr id="6" name="Shape 4"/>
          <p:cNvSpPr/>
          <p:nvPr/>
        </p:nvSpPr>
        <p:spPr>
          <a:xfrm>
            <a:off x="0" y="4709160"/>
            <a:ext cx="9144000" cy="434340"/>
          </a:xfrm>
          <a:prstGeom prst="rect">
            <a:avLst/>
          </a:prstGeom>
          <a:solidFill>
            <a:srgbClr val="0D1B4C"/>
          </a:solidFill>
          <a:ln/>
        </p:spPr>
        <p:txBody>
          <a:bodyPr/>
          <a:lstStyle/>
          <a:p>
            <a:endParaRPr lang="en-VN"/>
          </a:p>
        </p:txBody>
      </p:sp>
      <p:sp>
        <p:nvSpPr>
          <p:cNvPr id="7" name="Text 5"/>
          <p:cNvSpPr/>
          <p:nvPr/>
        </p:nvSpPr>
        <p:spPr>
          <a:xfrm>
            <a:off x="457200" y="4709160"/>
            <a:ext cx="6400800" cy="434340"/>
          </a:xfrm>
          <a:prstGeom prst="rect">
            <a:avLst/>
          </a:prstGeom>
          <a:noFill/>
          <a:ln/>
        </p:spPr>
        <p:txBody>
          <a:bodyPr wrap="square" rtlCol="0" anchor="ctr"/>
          <a:lstStyle/>
          <a:p>
            <a:pPr marL="0" indent="0">
              <a:buNone/>
            </a:pPr>
            <a:r>
              <a:rPr lang="en-US" sz="900" dirty="0">
                <a:solidFill>
                  <a:srgbClr val="C8A962"/>
                </a:solidFill>
                <a:latin typeface="Arial" pitchFamily="34" charset="0"/>
                <a:ea typeface="Arial" pitchFamily="34" charset="-122"/>
                <a:cs typeface="Arial" pitchFamily="34" charset="-120"/>
              </a:rPr>
              <a:t>Tiên Phong CDS  |  Novagroup  |  Hub Integration Platform</a:t>
            </a:r>
            <a:endParaRPr lang="en-US" sz="900" dirty="0"/>
          </a:p>
        </p:txBody>
      </p:sp>
      <p:sp>
        <p:nvSpPr>
          <p:cNvPr id="8" name="Text 6"/>
          <p:cNvSpPr/>
          <p:nvPr/>
        </p:nvSpPr>
        <p:spPr>
          <a:xfrm>
            <a:off x="7772400" y="4709160"/>
            <a:ext cx="914400" cy="434340"/>
          </a:xfrm>
          <a:prstGeom prst="rect">
            <a:avLst/>
          </a:prstGeom>
          <a:noFill/>
          <a:ln/>
        </p:spPr>
        <p:txBody>
          <a:bodyPr wrap="square" rtlCol="0" anchor="ctr"/>
          <a:lstStyle/>
          <a:p>
            <a:pPr marL="0" indent="0" algn="r">
              <a:buNone/>
            </a:pPr>
            <a:r>
              <a:rPr lang="en-US" sz="900" dirty="0">
                <a:solidFill>
                  <a:srgbClr val="FFFFFF"/>
                </a:solidFill>
                <a:latin typeface="Arial" pitchFamily="34" charset="0"/>
                <a:ea typeface="Arial" pitchFamily="34" charset="-122"/>
                <a:cs typeface="Arial" pitchFamily="34" charset="-120"/>
              </a:rPr>
              <a:t>18</a:t>
            </a:r>
            <a:endParaRPr lang="en-US" sz="900" dirty="0"/>
          </a:p>
        </p:txBody>
      </p:sp>
      <p:sp>
        <p:nvSpPr>
          <p:cNvPr id="9" name="Shape 7"/>
          <p:cNvSpPr/>
          <p:nvPr/>
        </p:nvSpPr>
        <p:spPr>
          <a:xfrm>
            <a:off x="274320" y="1143000"/>
            <a:ext cx="8595360" cy="621792"/>
          </a:xfrm>
          <a:prstGeom prst="roundRect">
            <a:avLst>
              <a:gd name="adj" fmla="val 8824"/>
            </a:avLst>
          </a:prstGeom>
          <a:solidFill>
            <a:srgbClr val="FFFFFF"/>
          </a:solidFill>
          <a:ln/>
          <a:effectLst>
            <a:outerShdw blurRad="50800" dist="25400" dir="8100000" algn="bl" rotWithShape="0">
              <a:srgbClr val="000000">
                <a:alpha val="8000"/>
              </a:srgbClr>
            </a:outerShdw>
          </a:effectLst>
        </p:spPr>
        <p:txBody>
          <a:bodyPr/>
          <a:lstStyle/>
          <a:p>
            <a:endParaRPr lang="en-VN"/>
          </a:p>
        </p:txBody>
      </p:sp>
      <p:sp>
        <p:nvSpPr>
          <p:cNvPr id="10" name="Shape 8"/>
          <p:cNvSpPr/>
          <p:nvPr/>
        </p:nvSpPr>
        <p:spPr>
          <a:xfrm>
            <a:off x="411480" y="1252728"/>
            <a:ext cx="594360" cy="402336"/>
          </a:xfrm>
          <a:prstGeom prst="roundRect">
            <a:avLst>
              <a:gd name="adj" fmla="val 13636"/>
            </a:avLst>
          </a:prstGeom>
          <a:solidFill>
            <a:srgbClr val="0D1B4C"/>
          </a:solidFill>
          <a:ln/>
        </p:spPr>
        <p:txBody>
          <a:bodyPr/>
          <a:lstStyle/>
          <a:p>
            <a:endParaRPr lang="en-VN"/>
          </a:p>
        </p:txBody>
      </p:sp>
      <p:sp>
        <p:nvSpPr>
          <p:cNvPr id="11" name="Text 9"/>
          <p:cNvSpPr/>
          <p:nvPr/>
        </p:nvSpPr>
        <p:spPr>
          <a:xfrm>
            <a:off x="411480" y="1252728"/>
            <a:ext cx="594360" cy="402336"/>
          </a:xfrm>
          <a:prstGeom prst="rect">
            <a:avLst/>
          </a:prstGeom>
          <a:noFill/>
          <a:ln/>
        </p:spPr>
        <p:txBody>
          <a:bodyPr wrap="square" rtlCol="0" anchor="ctr"/>
          <a:lstStyle/>
          <a:p>
            <a:pPr marL="0" indent="0" algn="ctr">
              <a:buNone/>
            </a:pPr>
            <a:r>
              <a:rPr lang="en-US" sz="1600" b="1" dirty="0">
                <a:solidFill>
                  <a:srgbClr val="C8A962"/>
                </a:solidFill>
                <a:latin typeface="Arial" pitchFamily="34" charset="0"/>
                <a:ea typeface="Arial" pitchFamily="34" charset="-122"/>
                <a:cs typeface="Arial" pitchFamily="34" charset="-120"/>
              </a:rPr>
              <a:t>01</a:t>
            </a:r>
            <a:endParaRPr lang="en-US" sz="1600" dirty="0"/>
          </a:p>
        </p:txBody>
      </p:sp>
      <p:sp>
        <p:nvSpPr>
          <p:cNvPr id="12" name="Text 10"/>
          <p:cNvSpPr/>
          <p:nvPr/>
        </p:nvSpPr>
        <p:spPr>
          <a:xfrm>
            <a:off x="1188720" y="1188720"/>
            <a:ext cx="5029200" cy="274320"/>
          </a:xfrm>
          <a:prstGeom prst="rect">
            <a:avLst/>
          </a:prstGeom>
          <a:noFill/>
          <a:ln/>
        </p:spPr>
        <p:txBody>
          <a:bodyPr wrap="square" rtlCol="0" anchor="ctr"/>
          <a:lstStyle/>
          <a:p>
            <a:pPr marL="0" indent="0">
              <a:buNone/>
            </a:pPr>
            <a:r>
              <a:rPr lang="en-US" sz="1100" b="1" dirty="0">
                <a:solidFill>
                  <a:srgbClr val="0D1B4C"/>
                </a:solidFill>
                <a:latin typeface="Arial" pitchFamily="34" charset="0"/>
                <a:ea typeface="Arial" pitchFamily="34" charset="-122"/>
                <a:cs typeface="Arial" pitchFamily="34" charset="-120"/>
              </a:rPr>
              <a:t>Họp Kỹ Thuật Chi Tiết</a:t>
            </a:r>
            <a:endParaRPr lang="en-US" sz="1100" dirty="0"/>
          </a:p>
        </p:txBody>
      </p:sp>
      <p:sp>
        <p:nvSpPr>
          <p:cNvPr id="13" name="Text 11"/>
          <p:cNvSpPr/>
          <p:nvPr/>
        </p:nvSpPr>
        <p:spPr>
          <a:xfrm>
            <a:off x="1188720" y="1463040"/>
            <a:ext cx="5029200" cy="256032"/>
          </a:xfrm>
          <a:prstGeom prst="rect">
            <a:avLst/>
          </a:prstGeom>
          <a:noFill/>
          <a:ln/>
        </p:spPr>
        <p:txBody>
          <a:bodyPr wrap="square" rtlCol="0" anchor="t"/>
          <a:lstStyle/>
          <a:p>
            <a:pPr marL="0" indent="0">
              <a:buNone/>
            </a:pPr>
            <a:r>
              <a:rPr lang="en-US" sz="850" dirty="0">
                <a:solidFill>
                  <a:srgbClr val="6B7280"/>
                </a:solidFill>
                <a:latin typeface="Arial" pitchFamily="34" charset="0"/>
                <a:ea typeface="Arial" pitchFamily="34" charset="-122"/>
                <a:cs typeface="Arial" pitchFamily="34" charset="-120"/>
              </a:rPr>
              <a:t>Book lịch họp với Team kỹ thuật NVG để trao đổi về hiện trạng hệ thống, yêu cầu cụ thể, và ưu tiên tích hợp.</a:t>
            </a:r>
            <a:endParaRPr lang="en-US" sz="850" dirty="0"/>
          </a:p>
        </p:txBody>
      </p:sp>
      <p:sp>
        <p:nvSpPr>
          <p:cNvPr id="14" name="Shape 12"/>
          <p:cNvSpPr/>
          <p:nvPr/>
        </p:nvSpPr>
        <p:spPr>
          <a:xfrm>
            <a:off x="7498080" y="1280160"/>
            <a:ext cx="1188720" cy="347472"/>
          </a:xfrm>
          <a:prstGeom prst="roundRect">
            <a:avLst>
              <a:gd name="adj" fmla="val 10526"/>
            </a:avLst>
          </a:prstGeom>
          <a:solidFill>
            <a:srgbClr val="EFF6FF"/>
          </a:solidFill>
          <a:ln/>
        </p:spPr>
        <p:txBody>
          <a:bodyPr/>
          <a:lstStyle/>
          <a:p>
            <a:endParaRPr lang="en-VN"/>
          </a:p>
        </p:txBody>
      </p:sp>
      <p:sp>
        <p:nvSpPr>
          <p:cNvPr id="15" name="Text 13"/>
          <p:cNvSpPr/>
          <p:nvPr/>
        </p:nvSpPr>
        <p:spPr>
          <a:xfrm>
            <a:off x="7498080" y="1280160"/>
            <a:ext cx="1188720" cy="347472"/>
          </a:xfrm>
          <a:prstGeom prst="rect">
            <a:avLst/>
          </a:prstGeom>
          <a:noFill/>
          <a:ln/>
        </p:spPr>
        <p:txBody>
          <a:bodyPr wrap="square" rtlCol="0" anchor="ctr"/>
          <a:lstStyle/>
          <a:p>
            <a:pPr marL="0" indent="0" algn="ctr">
              <a:buNone/>
            </a:pPr>
            <a:r>
              <a:rPr lang="en-US" sz="900" b="1" dirty="0">
                <a:solidFill>
                  <a:srgbClr val="2563EB"/>
                </a:solidFill>
                <a:latin typeface="Arial" pitchFamily="34" charset="0"/>
                <a:ea typeface="Arial" pitchFamily="34" charset="-122"/>
                <a:cs typeface="Arial" pitchFamily="34" charset="-120"/>
              </a:rPr>
              <a:t>Tuần 1</a:t>
            </a:r>
            <a:endParaRPr lang="en-US" sz="900" dirty="0"/>
          </a:p>
        </p:txBody>
      </p:sp>
      <p:sp>
        <p:nvSpPr>
          <p:cNvPr id="16" name="Shape 14"/>
          <p:cNvSpPr/>
          <p:nvPr/>
        </p:nvSpPr>
        <p:spPr>
          <a:xfrm>
            <a:off x="274320" y="1856232"/>
            <a:ext cx="8595360" cy="621792"/>
          </a:xfrm>
          <a:prstGeom prst="roundRect">
            <a:avLst>
              <a:gd name="adj" fmla="val 8824"/>
            </a:avLst>
          </a:prstGeom>
          <a:solidFill>
            <a:srgbClr val="FFFFFF"/>
          </a:solidFill>
          <a:ln/>
          <a:effectLst>
            <a:outerShdw blurRad="50800" dist="25400" dir="8100000" algn="bl" rotWithShape="0">
              <a:srgbClr val="000000">
                <a:alpha val="8000"/>
              </a:srgbClr>
            </a:outerShdw>
          </a:effectLst>
        </p:spPr>
        <p:txBody>
          <a:bodyPr/>
          <a:lstStyle/>
          <a:p>
            <a:endParaRPr lang="en-VN"/>
          </a:p>
        </p:txBody>
      </p:sp>
      <p:sp>
        <p:nvSpPr>
          <p:cNvPr id="17" name="Shape 15"/>
          <p:cNvSpPr/>
          <p:nvPr/>
        </p:nvSpPr>
        <p:spPr>
          <a:xfrm>
            <a:off x="411480" y="1965960"/>
            <a:ext cx="594360" cy="402336"/>
          </a:xfrm>
          <a:prstGeom prst="roundRect">
            <a:avLst>
              <a:gd name="adj" fmla="val 13636"/>
            </a:avLst>
          </a:prstGeom>
          <a:solidFill>
            <a:srgbClr val="0D1B4C"/>
          </a:solidFill>
          <a:ln/>
        </p:spPr>
        <p:txBody>
          <a:bodyPr/>
          <a:lstStyle/>
          <a:p>
            <a:endParaRPr lang="en-VN"/>
          </a:p>
        </p:txBody>
      </p:sp>
      <p:sp>
        <p:nvSpPr>
          <p:cNvPr id="18" name="Text 16"/>
          <p:cNvSpPr/>
          <p:nvPr/>
        </p:nvSpPr>
        <p:spPr>
          <a:xfrm>
            <a:off x="411480" y="1965960"/>
            <a:ext cx="594360" cy="402336"/>
          </a:xfrm>
          <a:prstGeom prst="rect">
            <a:avLst/>
          </a:prstGeom>
          <a:noFill/>
          <a:ln/>
        </p:spPr>
        <p:txBody>
          <a:bodyPr wrap="square" rtlCol="0" anchor="ctr"/>
          <a:lstStyle/>
          <a:p>
            <a:pPr marL="0" indent="0" algn="ctr">
              <a:buNone/>
            </a:pPr>
            <a:r>
              <a:rPr lang="en-US" sz="1600" b="1" dirty="0">
                <a:solidFill>
                  <a:srgbClr val="C8A962"/>
                </a:solidFill>
                <a:latin typeface="Arial" pitchFamily="34" charset="0"/>
                <a:ea typeface="Arial" pitchFamily="34" charset="-122"/>
                <a:cs typeface="Arial" pitchFamily="34" charset="-120"/>
              </a:rPr>
              <a:t>02</a:t>
            </a:r>
            <a:endParaRPr lang="en-US" sz="1600" dirty="0"/>
          </a:p>
        </p:txBody>
      </p:sp>
      <p:sp>
        <p:nvSpPr>
          <p:cNvPr id="19" name="Text 17"/>
          <p:cNvSpPr/>
          <p:nvPr/>
        </p:nvSpPr>
        <p:spPr>
          <a:xfrm>
            <a:off x="1188720" y="1901952"/>
            <a:ext cx="5029200" cy="274320"/>
          </a:xfrm>
          <a:prstGeom prst="rect">
            <a:avLst/>
          </a:prstGeom>
          <a:noFill/>
          <a:ln/>
        </p:spPr>
        <p:txBody>
          <a:bodyPr wrap="square" rtlCol="0" anchor="ctr"/>
          <a:lstStyle/>
          <a:p>
            <a:pPr marL="0" indent="0">
              <a:buNone/>
            </a:pPr>
            <a:r>
              <a:rPr lang="en-US" sz="1100" b="1" dirty="0">
                <a:solidFill>
                  <a:srgbClr val="0D1B4C"/>
                </a:solidFill>
                <a:latin typeface="Arial" pitchFamily="34" charset="0"/>
                <a:ea typeface="Arial" pitchFamily="34" charset="-122"/>
                <a:cs typeface="Arial" pitchFamily="34" charset="-120"/>
              </a:rPr>
              <a:t>Khảo Sát Hệ Thống (Discovery)</a:t>
            </a:r>
            <a:endParaRPr lang="en-US" sz="1100" dirty="0"/>
          </a:p>
        </p:txBody>
      </p:sp>
      <p:sp>
        <p:nvSpPr>
          <p:cNvPr id="20" name="Text 18"/>
          <p:cNvSpPr/>
          <p:nvPr/>
        </p:nvSpPr>
        <p:spPr>
          <a:xfrm>
            <a:off x="1188720" y="2176272"/>
            <a:ext cx="5029200" cy="256032"/>
          </a:xfrm>
          <a:prstGeom prst="rect">
            <a:avLst/>
          </a:prstGeom>
          <a:noFill/>
          <a:ln/>
        </p:spPr>
        <p:txBody>
          <a:bodyPr wrap="square" rtlCol="0" anchor="t"/>
          <a:lstStyle/>
          <a:p>
            <a:pPr marL="0" indent="0">
              <a:buNone/>
            </a:pPr>
            <a:r>
              <a:rPr lang="en-US" sz="850" dirty="0">
                <a:solidFill>
                  <a:srgbClr val="6B7280"/>
                </a:solidFill>
                <a:latin typeface="Arial" pitchFamily="34" charset="0"/>
                <a:ea typeface="Arial" pitchFamily="34" charset="-122"/>
                <a:cs typeface="Arial" pitchFamily="34" charset="-120"/>
              </a:rPr>
              <a:t>CDS team thực hiện system audit: inventory tất cả hệ thống, API sẵn có, data formats, integration points hiện tại.</a:t>
            </a:r>
            <a:endParaRPr lang="en-US" sz="850" dirty="0"/>
          </a:p>
        </p:txBody>
      </p:sp>
      <p:sp>
        <p:nvSpPr>
          <p:cNvPr id="21" name="Shape 19"/>
          <p:cNvSpPr/>
          <p:nvPr/>
        </p:nvSpPr>
        <p:spPr>
          <a:xfrm>
            <a:off x="7498080" y="1993392"/>
            <a:ext cx="1188720" cy="347472"/>
          </a:xfrm>
          <a:prstGeom prst="roundRect">
            <a:avLst>
              <a:gd name="adj" fmla="val 10526"/>
            </a:avLst>
          </a:prstGeom>
          <a:solidFill>
            <a:srgbClr val="EFF6FF"/>
          </a:solidFill>
          <a:ln/>
        </p:spPr>
        <p:txBody>
          <a:bodyPr/>
          <a:lstStyle/>
          <a:p>
            <a:endParaRPr lang="en-VN"/>
          </a:p>
        </p:txBody>
      </p:sp>
      <p:sp>
        <p:nvSpPr>
          <p:cNvPr id="22" name="Text 20"/>
          <p:cNvSpPr/>
          <p:nvPr/>
        </p:nvSpPr>
        <p:spPr>
          <a:xfrm>
            <a:off x="7498080" y="1993392"/>
            <a:ext cx="1188720" cy="347472"/>
          </a:xfrm>
          <a:prstGeom prst="rect">
            <a:avLst/>
          </a:prstGeom>
          <a:noFill/>
          <a:ln/>
        </p:spPr>
        <p:txBody>
          <a:bodyPr wrap="square" rtlCol="0" anchor="ctr"/>
          <a:lstStyle/>
          <a:p>
            <a:pPr marL="0" indent="0" algn="ctr">
              <a:buNone/>
            </a:pPr>
            <a:r>
              <a:rPr lang="en-US" sz="900" b="1" dirty="0">
                <a:solidFill>
                  <a:srgbClr val="2563EB"/>
                </a:solidFill>
                <a:latin typeface="Arial" pitchFamily="34" charset="0"/>
                <a:ea typeface="Arial" pitchFamily="34" charset="-122"/>
                <a:cs typeface="Arial" pitchFamily="34" charset="-120"/>
              </a:rPr>
              <a:t>Tuần 2-3</a:t>
            </a:r>
            <a:endParaRPr lang="en-US" sz="900" dirty="0"/>
          </a:p>
        </p:txBody>
      </p:sp>
      <p:sp>
        <p:nvSpPr>
          <p:cNvPr id="23" name="Shape 21"/>
          <p:cNvSpPr/>
          <p:nvPr/>
        </p:nvSpPr>
        <p:spPr>
          <a:xfrm>
            <a:off x="274320" y="2569464"/>
            <a:ext cx="8595360" cy="621792"/>
          </a:xfrm>
          <a:prstGeom prst="roundRect">
            <a:avLst>
              <a:gd name="adj" fmla="val 8824"/>
            </a:avLst>
          </a:prstGeom>
          <a:solidFill>
            <a:srgbClr val="FFFFFF"/>
          </a:solidFill>
          <a:ln/>
          <a:effectLst>
            <a:outerShdw blurRad="50800" dist="25400" dir="8100000" algn="bl" rotWithShape="0">
              <a:srgbClr val="000000">
                <a:alpha val="8000"/>
              </a:srgbClr>
            </a:outerShdw>
          </a:effectLst>
        </p:spPr>
        <p:txBody>
          <a:bodyPr/>
          <a:lstStyle/>
          <a:p>
            <a:endParaRPr lang="en-VN"/>
          </a:p>
        </p:txBody>
      </p:sp>
      <p:sp>
        <p:nvSpPr>
          <p:cNvPr id="24" name="Shape 22"/>
          <p:cNvSpPr/>
          <p:nvPr/>
        </p:nvSpPr>
        <p:spPr>
          <a:xfrm>
            <a:off x="411480" y="2679192"/>
            <a:ext cx="594360" cy="402336"/>
          </a:xfrm>
          <a:prstGeom prst="roundRect">
            <a:avLst>
              <a:gd name="adj" fmla="val 13636"/>
            </a:avLst>
          </a:prstGeom>
          <a:solidFill>
            <a:srgbClr val="0D1B4C"/>
          </a:solidFill>
          <a:ln/>
        </p:spPr>
        <p:txBody>
          <a:bodyPr/>
          <a:lstStyle/>
          <a:p>
            <a:endParaRPr lang="en-VN"/>
          </a:p>
        </p:txBody>
      </p:sp>
      <p:sp>
        <p:nvSpPr>
          <p:cNvPr id="25" name="Text 23"/>
          <p:cNvSpPr/>
          <p:nvPr/>
        </p:nvSpPr>
        <p:spPr>
          <a:xfrm>
            <a:off x="411480" y="2679192"/>
            <a:ext cx="594360" cy="402336"/>
          </a:xfrm>
          <a:prstGeom prst="rect">
            <a:avLst/>
          </a:prstGeom>
          <a:noFill/>
          <a:ln/>
        </p:spPr>
        <p:txBody>
          <a:bodyPr wrap="square" rtlCol="0" anchor="ctr"/>
          <a:lstStyle/>
          <a:p>
            <a:pPr marL="0" indent="0" algn="ctr">
              <a:buNone/>
            </a:pPr>
            <a:r>
              <a:rPr lang="en-US" sz="1600" b="1" dirty="0">
                <a:solidFill>
                  <a:srgbClr val="C8A962"/>
                </a:solidFill>
                <a:latin typeface="Arial" pitchFamily="34" charset="0"/>
                <a:ea typeface="Arial" pitchFamily="34" charset="-122"/>
                <a:cs typeface="Arial" pitchFamily="34" charset="-120"/>
              </a:rPr>
              <a:t>03</a:t>
            </a:r>
            <a:endParaRPr lang="en-US" sz="1600" dirty="0"/>
          </a:p>
        </p:txBody>
      </p:sp>
      <p:sp>
        <p:nvSpPr>
          <p:cNvPr id="26" name="Text 24"/>
          <p:cNvSpPr/>
          <p:nvPr/>
        </p:nvSpPr>
        <p:spPr>
          <a:xfrm>
            <a:off x="1188720" y="2615184"/>
            <a:ext cx="5029200" cy="274320"/>
          </a:xfrm>
          <a:prstGeom prst="rect">
            <a:avLst/>
          </a:prstGeom>
          <a:noFill/>
          <a:ln/>
        </p:spPr>
        <p:txBody>
          <a:bodyPr wrap="square" rtlCol="0" anchor="ctr"/>
          <a:lstStyle/>
          <a:p>
            <a:pPr marL="0" indent="0">
              <a:buNone/>
            </a:pPr>
            <a:r>
              <a:rPr lang="en-US" sz="1100" b="1" dirty="0">
                <a:solidFill>
                  <a:srgbClr val="0D1B4C"/>
                </a:solidFill>
                <a:latin typeface="Arial" pitchFamily="34" charset="0"/>
                <a:ea typeface="Arial" pitchFamily="34" charset="-122"/>
                <a:cs typeface="Arial" pitchFamily="34" charset="-120"/>
              </a:rPr>
              <a:t>Thiết Kế Kiến Trúc Chi Tiết</a:t>
            </a:r>
            <a:endParaRPr lang="en-US" sz="1100" dirty="0"/>
          </a:p>
        </p:txBody>
      </p:sp>
      <p:sp>
        <p:nvSpPr>
          <p:cNvPr id="27" name="Text 25"/>
          <p:cNvSpPr/>
          <p:nvPr/>
        </p:nvSpPr>
        <p:spPr>
          <a:xfrm>
            <a:off x="1188720" y="2889504"/>
            <a:ext cx="5029200" cy="256032"/>
          </a:xfrm>
          <a:prstGeom prst="rect">
            <a:avLst/>
          </a:prstGeom>
          <a:noFill/>
          <a:ln/>
        </p:spPr>
        <p:txBody>
          <a:bodyPr wrap="square" rtlCol="0" anchor="t"/>
          <a:lstStyle/>
          <a:p>
            <a:pPr marL="0" indent="0">
              <a:buNone/>
            </a:pPr>
            <a:r>
              <a:rPr lang="en-US" sz="850" dirty="0">
                <a:solidFill>
                  <a:srgbClr val="6B7280"/>
                </a:solidFill>
                <a:latin typeface="Arial" pitchFamily="34" charset="0"/>
                <a:ea typeface="Arial" pitchFamily="34" charset="-122"/>
                <a:cs typeface="Arial" pitchFamily="34" charset="-120"/>
              </a:rPr>
              <a:t>Dựa trên kết quả discovery, thiết kế kiến trúc chi tiết, chọn tech stack cuối cùng, ước tính effort &amp; chi phí.</a:t>
            </a:r>
            <a:endParaRPr lang="en-US" sz="850" dirty="0"/>
          </a:p>
        </p:txBody>
      </p:sp>
      <p:sp>
        <p:nvSpPr>
          <p:cNvPr id="28" name="Shape 26"/>
          <p:cNvSpPr/>
          <p:nvPr/>
        </p:nvSpPr>
        <p:spPr>
          <a:xfrm>
            <a:off x="7498080" y="2706624"/>
            <a:ext cx="1188720" cy="347472"/>
          </a:xfrm>
          <a:prstGeom prst="roundRect">
            <a:avLst>
              <a:gd name="adj" fmla="val 10526"/>
            </a:avLst>
          </a:prstGeom>
          <a:solidFill>
            <a:srgbClr val="EFF6FF"/>
          </a:solidFill>
          <a:ln/>
        </p:spPr>
        <p:txBody>
          <a:bodyPr/>
          <a:lstStyle/>
          <a:p>
            <a:endParaRPr lang="en-VN"/>
          </a:p>
        </p:txBody>
      </p:sp>
      <p:sp>
        <p:nvSpPr>
          <p:cNvPr id="29" name="Text 27"/>
          <p:cNvSpPr/>
          <p:nvPr/>
        </p:nvSpPr>
        <p:spPr>
          <a:xfrm>
            <a:off x="7498080" y="2706624"/>
            <a:ext cx="1188720" cy="347472"/>
          </a:xfrm>
          <a:prstGeom prst="rect">
            <a:avLst/>
          </a:prstGeom>
          <a:noFill/>
          <a:ln/>
        </p:spPr>
        <p:txBody>
          <a:bodyPr wrap="square" rtlCol="0" anchor="ctr"/>
          <a:lstStyle/>
          <a:p>
            <a:pPr marL="0" indent="0" algn="ctr">
              <a:buNone/>
            </a:pPr>
            <a:r>
              <a:rPr lang="en-US" sz="900" b="1" dirty="0">
                <a:solidFill>
                  <a:srgbClr val="2563EB"/>
                </a:solidFill>
                <a:latin typeface="Arial" pitchFamily="34" charset="0"/>
                <a:ea typeface="Arial" pitchFamily="34" charset="-122"/>
                <a:cs typeface="Arial" pitchFamily="34" charset="-120"/>
              </a:rPr>
              <a:t>Tuần 4-5</a:t>
            </a:r>
            <a:endParaRPr lang="en-US" sz="900" dirty="0"/>
          </a:p>
        </p:txBody>
      </p:sp>
      <p:sp>
        <p:nvSpPr>
          <p:cNvPr id="30" name="Shape 28"/>
          <p:cNvSpPr/>
          <p:nvPr/>
        </p:nvSpPr>
        <p:spPr>
          <a:xfrm>
            <a:off x="274320" y="3282696"/>
            <a:ext cx="8595360" cy="621792"/>
          </a:xfrm>
          <a:prstGeom prst="roundRect">
            <a:avLst>
              <a:gd name="adj" fmla="val 8824"/>
            </a:avLst>
          </a:prstGeom>
          <a:solidFill>
            <a:srgbClr val="FFFFFF"/>
          </a:solidFill>
          <a:ln/>
          <a:effectLst>
            <a:outerShdw blurRad="50800" dist="25400" dir="8100000" algn="bl" rotWithShape="0">
              <a:srgbClr val="000000">
                <a:alpha val="8000"/>
              </a:srgbClr>
            </a:outerShdw>
          </a:effectLst>
        </p:spPr>
        <p:txBody>
          <a:bodyPr/>
          <a:lstStyle/>
          <a:p>
            <a:endParaRPr lang="en-VN"/>
          </a:p>
        </p:txBody>
      </p:sp>
      <p:sp>
        <p:nvSpPr>
          <p:cNvPr id="31" name="Shape 29"/>
          <p:cNvSpPr/>
          <p:nvPr/>
        </p:nvSpPr>
        <p:spPr>
          <a:xfrm>
            <a:off x="411480" y="3392424"/>
            <a:ext cx="594360" cy="402336"/>
          </a:xfrm>
          <a:prstGeom prst="roundRect">
            <a:avLst>
              <a:gd name="adj" fmla="val 13636"/>
            </a:avLst>
          </a:prstGeom>
          <a:solidFill>
            <a:srgbClr val="0D1B4C"/>
          </a:solidFill>
          <a:ln/>
        </p:spPr>
        <p:txBody>
          <a:bodyPr/>
          <a:lstStyle/>
          <a:p>
            <a:endParaRPr lang="en-VN"/>
          </a:p>
        </p:txBody>
      </p:sp>
      <p:sp>
        <p:nvSpPr>
          <p:cNvPr id="32" name="Text 30"/>
          <p:cNvSpPr/>
          <p:nvPr/>
        </p:nvSpPr>
        <p:spPr>
          <a:xfrm>
            <a:off x="411480" y="3392424"/>
            <a:ext cx="594360" cy="402336"/>
          </a:xfrm>
          <a:prstGeom prst="rect">
            <a:avLst/>
          </a:prstGeom>
          <a:noFill/>
          <a:ln/>
        </p:spPr>
        <p:txBody>
          <a:bodyPr wrap="square" rtlCol="0" anchor="ctr"/>
          <a:lstStyle/>
          <a:p>
            <a:pPr marL="0" indent="0" algn="ctr">
              <a:buNone/>
            </a:pPr>
            <a:r>
              <a:rPr lang="en-US" sz="1600" b="1" dirty="0">
                <a:solidFill>
                  <a:srgbClr val="C8A962"/>
                </a:solidFill>
                <a:latin typeface="Arial" pitchFamily="34" charset="0"/>
                <a:ea typeface="Arial" pitchFamily="34" charset="-122"/>
                <a:cs typeface="Arial" pitchFamily="34" charset="-120"/>
              </a:rPr>
              <a:t>04</a:t>
            </a:r>
            <a:endParaRPr lang="en-US" sz="1600" dirty="0"/>
          </a:p>
        </p:txBody>
      </p:sp>
      <p:sp>
        <p:nvSpPr>
          <p:cNvPr id="33" name="Text 31"/>
          <p:cNvSpPr/>
          <p:nvPr/>
        </p:nvSpPr>
        <p:spPr>
          <a:xfrm>
            <a:off x="1188720" y="3328416"/>
            <a:ext cx="5029200" cy="274320"/>
          </a:xfrm>
          <a:prstGeom prst="rect">
            <a:avLst/>
          </a:prstGeom>
          <a:noFill/>
          <a:ln/>
        </p:spPr>
        <p:txBody>
          <a:bodyPr wrap="square" rtlCol="0" anchor="ctr"/>
          <a:lstStyle/>
          <a:p>
            <a:pPr marL="0" indent="0">
              <a:buNone/>
            </a:pPr>
            <a:r>
              <a:rPr lang="en-US" sz="1100" b="1" dirty="0">
                <a:solidFill>
                  <a:srgbClr val="0D1B4C"/>
                </a:solidFill>
                <a:latin typeface="Arial" pitchFamily="34" charset="0"/>
                <a:ea typeface="Arial" pitchFamily="34" charset="-122"/>
                <a:cs typeface="Arial" pitchFamily="34" charset="-120"/>
              </a:rPr>
              <a:t>POC (Proof of Concept)</a:t>
            </a:r>
            <a:endParaRPr lang="en-US" sz="1100" dirty="0"/>
          </a:p>
        </p:txBody>
      </p:sp>
      <p:sp>
        <p:nvSpPr>
          <p:cNvPr id="34" name="Text 32"/>
          <p:cNvSpPr/>
          <p:nvPr/>
        </p:nvSpPr>
        <p:spPr>
          <a:xfrm>
            <a:off x="1188720" y="3602736"/>
            <a:ext cx="5029200" cy="256032"/>
          </a:xfrm>
          <a:prstGeom prst="rect">
            <a:avLst/>
          </a:prstGeom>
          <a:noFill/>
          <a:ln/>
        </p:spPr>
        <p:txBody>
          <a:bodyPr wrap="square" rtlCol="0" anchor="t"/>
          <a:lstStyle/>
          <a:p>
            <a:pPr marL="0" indent="0">
              <a:buNone/>
            </a:pPr>
            <a:r>
              <a:rPr lang="en-US" sz="850" dirty="0">
                <a:solidFill>
                  <a:srgbClr val="6B7280"/>
                </a:solidFill>
                <a:latin typeface="Arial" pitchFamily="34" charset="0"/>
                <a:ea typeface="Arial" pitchFamily="34" charset="-122"/>
                <a:cs typeface="Arial" pitchFamily="34" charset="-120"/>
              </a:rPr>
              <a:t>Triển khai POC với 2-3 hệ thống quan trọng nhất. Demo kết quả thực tế cho leadership NVG.</a:t>
            </a:r>
            <a:endParaRPr lang="en-US" sz="850" dirty="0"/>
          </a:p>
        </p:txBody>
      </p:sp>
      <p:sp>
        <p:nvSpPr>
          <p:cNvPr id="35" name="Shape 33"/>
          <p:cNvSpPr/>
          <p:nvPr/>
        </p:nvSpPr>
        <p:spPr>
          <a:xfrm>
            <a:off x="7498080" y="3419856"/>
            <a:ext cx="1188720" cy="347472"/>
          </a:xfrm>
          <a:prstGeom prst="roundRect">
            <a:avLst>
              <a:gd name="adj" fmla="val 10526"/>
            </a:avLst>
          </a:prstGeom>
          <a:solidFill>
            <a:srgbClr val="EFF6FF"/>
          </a:solidFill>
          <a:ln/>
        </p:spPr>
        <p:txBody>
          <a:bodyPr/>
          <a:lstStyle/>
          <a:p>
            <a:endParaRPr lang="en-VN"/>
          </a:p>
        </p:txBody>
      </p:sp>
      <p:sp>
        <p:nvSpPr>
          <p:cNvPr id="36" name="Text 34"/>
          <p:cNvSpPr/>
          <p:nvPr/>
        </p:nvSpPr>
        <p:spPr>
          <a:xfrm>
            <a:off x="7498080" y="3419856"/>
            <a:ext cx="1188720" cy="347472"/>
          </a:xfrm>
          <a:prstGeom prst="rect">
            <a:avLst/>
          </a:prstGeom>
          <a:noFill/>
          <a:ln/>
        </p:spPr>
        <p:txBody>
          <a:bodyPr wrap="square" rtlCol="0" anchor="ctr"/>
          <a:lstStyle/>
          <a:p>
            <a:pPr marL="0" indent="0" algn="ctr">
              <a:buNone/>
            </a:pPr>
            <a:r>
              <a:rPr lang="en-US" sz="900" b="1" dirty="0">
                <a:solidFill>
                  <a:srgbClr val="2563EB"/>
                </a:solidFill>
                <a:latin typeface="Arial" pitchFamily="34" charset="0"/>
                <a:ea typeface="Arial" pitchFamily="34" charset="-122"/>
                <a:cs typeface="Arial" pitchFamily="34" charset="-120"/>
              </a:rPr>
              <a:t>Tuần 6-8</a:t>
            </a:r>
            <a:endParaRPr lang="en-US" sz="900" dirty="0"/>
          </a:p>
        </p:txBody>
      </p:sp>
      <p:sp>
        <p:nvSpPr>
          <p:cNvPr id="37" name="Shape 35"/>
          <p:cNvSpPr/>
          <p:nvPr/>
        </p:nvSpPr>
        <p:spPr>
          <a:xfrm>
            <a:off x="274320" y="3995928"/>
            <a:ext cx="8595360" cy="621792"/>
          </a:xfrm>
          <a:prstGeom prst="roundRect">
            <a:avLst>
              <a:gd name="adj" fmla="val 8824"/>
            </a:avLst>
          </a:prstGeom>
          <a:solidFill>
            <a:srgbClr val="FFFFFF"/>
          </a:solidFill>
          <a:ln/>
          <a:effectLst>
            <a:outerShdw blurRad="50800" dist="25400" dir="8100000" algn="bl" rotWithShape="0">
              <a:srgbClr val="000000">
                <a:alpha val="8000"/>
              </a:srgbClr>
            </a:outerShdw>
          </a:effectLst>
        </p:spPr>
        <p:txBody>
          <a:bodyPr/>
          <a:lstStyle/>
          <a:p>
            <a:endParaRPr lang="en-VN"/>
          </a:p>
        </p:txBody>
      </p:sp>
      <p:sp>
        <p:nvSpPr>
          <p:cNvPr id="38" name="Shape 36"/>
          <p:cNvSpPr/>
          <p:nvPr/>
        </p:nvSpPr>
        <p:spPr>
          <a:xfrm>
            <a:off x="411480" y="4105656"/>
            <a:ext cx="594360" cy="402336"/>
          </a:xfrm>
          <a:prstGeom prst="roundRect">
            <a:avLst>
              <a:gd name="adj" fmla="val 13636"/>
            </a:avLst>
          </a:prstGeom>
          <a:solidFill>
            <a:srgbClr val="0D1B4C"/>
          </a:solidFill>
          <a:ln/>
        </p:spPr>
        <p:txBody>
          <a:bodyPr/>
          <a:lstStyle/>
          <a:p>
            <a:endParaRPr lang="en-VN"/>
          </a:p>
        </p:txBody>
      </p:sp>
      <p:sp>
        <p:nvSpPr>
          <p:cNvPr id="39" name="Text 37"/>
          <p:cNvSpPr/>
          <p:nvPr/>
        </p:nvSpPr>
        <p:spPr>
          <a:xfrm>
            <a:off x="411480" y="4105656"/>
            <a:ext cx="594360" cy="402336"/>
          </a:xfrm>
          <a:prstGeom prst="rect">
            <a:avLst/>
          </a:prstGeom>
          <a:noFill/>
          <a:ln/>
        </p:spPr>
        <p:txBody>
          <a:bodyPr wrap="square" rtlCol="0" anchor="ctr"/>
          <a:lstStyle/>
          <a:p>
            <a:pPr marL="0" indent="0" algn="ctr">
              <a:buNone/>
            </a:pPr>
            <a:r>
              <a:rPr lang="en-US" sz="1600" b="1" dirty="0">
                <a:solidFill>
                  <a:srgbClr val="C8A962"/>
                </a:solidFill>
                <a:latin typeface="Arial" pitchFamily="34" charset="0"/>
                <a:ea typeface="Arial" pitchFamily="34" charset="-122"/>
                <a:cs typeface="Arial" pitchFamily="34" charset="-120"/>
              </a:rPr>
              <a:t>05</a:t>
            </a:r>
            <a:endParaRPr lang="en-US" sz="1600" dirty="0"/>
          </a:p>
        </p:txBody>
      </p:sp>
      <p:sp>
        <p:nvSpPr>
          <p:cNvPr id="40" name="Text 38"/>
          <p:cNvSpPr/>
          <p:nvPr/>
        </p:nvSpPr>
        <p:spPr>
          <a:xfrm>
            <a:off x="1188720" y="4041648"/>
            <a:ext cx="5029200" cy="274320"/>
          </a:xfrm>
          <a:prstGeom prst="rect">
            <a:avLst/>
          </a:prstGeom>
          <a:noFill/>
          <a:ln/>
        </p:spPr>
        <p:txBody>
          <a:bodyPr wrap="square" rtlCol="0" anchor="ctr"/>
          <a:lstStyle/>
          <a:p>
            <a:pPr marL="0" indent="0">
              <a:buNone/>
            </a:pPr>
            <a:r>
              <a:rPr lang="en-US" sz="1100" b="1" dirty="0">
                <a:solidFill>
                  <a:srgbClr val="0D1B4C"/>
                </a:solidFill>
                <a:latin typeface="Arial" pitchFamily="34" charset="0"/>
                <a:ea typeface="Arial" pitchFamily="34" charset="-122"/>
                <a:cs typeface="Arial" pitchFamily="34" charset="-120"/>
              </a:rPr>
              <a:t>Ký Kết SOW &amp; Triển Khai</a:t>
            </a:r>
            <a:endParaRPr lang="en-US" sz="1100" dirty="0"/>
          </a:p>
        </p:txBody>
      </p:sp>
      <p:sp>
        <p:nvSpPr>
          <p:cNvPr id="41" name="Text 39"/>
          <p:cNvSpPr/>
          <p:nvPr/>
        </p:nvSpPr>
        <p:spPr>
          <a:xfrm>
            <a:off x="1188720" y="4315968"/>
            <a:ext cx="5029200" cy="256032"/>
          </a:xfrm>
          <a:prstGeom prst="rect">
            <a:avLst/>
          </a:prstGeom>
          <a:noFill/>
          <a:ln/>
        </p:spPr>
        <p:txBody>
          <a:bodyPr wrap="square" rtlCol="0" anchor="t"/>
          <a:lstStyle/>
          <a:p>
            <a:pPr marL="0" indent="0">
              <a:buNone/>
            </a:pPr>
            <a:r>
              <a:rPr lang="en-US" sz="850" dirty="0">
                <a:solidFill>
                  <a:srgbClr val="6B7280"/>
                </a:solidFill>
                <a:latin typeface="Arial" pitchFamily="34" charset="0"/>
                <a:ea typeface="Arial" pitchFamily="34" charset="-122"/>
                <a:cs typeface="Arial" pitchFamily="34" charset="-120"/>
              </a:rPr>
              <a:t>Hoàn thiện Statement of Work, timeline, milestones, SLA. Bắt đầu Phase 1 triển khai chính thức.</a:t>
            </a:r>
            <a:endParaRPr lang="en-US" sz="850" dirty="0"/>
          </a:p>
        </p:txBody>
      </p:sp>
      <p:sp>
        <p:nvSpPr>
          <p:cNvPr id="42" name="Shape 40"/>
          <p:cNvSpPr/>
          <p:nvPr/>
        </p:nvSpPr>
        <p:spPr>
          <a:xfrm>
            <a:off x="7498080" y="4133088"/>
            <a:ext cx="1188720" cy="347472"/>
          </a:xfrm>
          <a:prstGeom prst="roundRect">
            <a:avLst>
              <a:gd name="adj" fmla="val 10526"/>
            </a:avLst>
          </a:prstGeom>
          <a:solidFill>
            <a:srgbClr val="EFF6FF"/>
          </a:solidFill>
          <a:ln/>
        </p:spPr>
        <p:txBody>
          <a:bodyPr/>
          <a:lstStyle/>
          <a:p>
            <a:endParaRPr lang="en-VN"/>
          </a:p>
        </p:txBody>
      </p:sp>
      <p:sp>
        <p:nvSpPr>
          <p:cNvPr id="43" name="Text 41"/>
          <p:cNvSpPr/>
          <p:nvPr/>
        </p:nvSpPr>
        <p:spPr>
          <a:xfrm>
            <a:off x="7498080" y="4133088"/>
            <a:ext cx="1188720" cy="347472"/>
          </a:xfrm>
          <a:prstGeom prst="rect">
            <a:avLst/>
          </a:prstGeom>
          <a:noFill/>
          <a:ln/>
        </p:spPr>
        <p:txBody>
          <a:bodyPr wrap="square" rtlCol="0" anchor="ctr"/>
          <a:lstStyle/>
          <a:p>
            <a:pPr marL="0" indent="0" algn="ctr">
              <a:buNone/>
            </a:pPr>
            <a:r>
              <a:rPr lang="en-US" sz="900" b="1" dirty="0">
                <a:solidFill>
                  <a:srgbClr val="2563EB"/>
                </a:solidFill>
                <a:latin typeface="Arial" pitchFamily="34" charset="0"/>
                <a:ea typeface="Arial" pitchFamily="34" charset="-122"/>
                <a:cs typeface="Arial" pitchFamily="34" charset="-120"/>
              </a:rPr>
              <a:t>Tuần 9+</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D1B4C"/>
        </a:solidFill>
        <a:effectLst/>
      </p:bgPr>
    </p:bg>
    <p:spTree>
      <p:nvGrpSpPr>
        <p:cNvPr id="1" name=""/>
        <p:cNvGrpSpPr/>
        <p:nvPr/>
      </p:nvGrpSpPr>
      <p:grpSpPr>
        <a:xfrm>
          <a:off x="0" y="0"/>
          <a:ext cx="0" cy="0"/>
          <a:chOff x="0" y="0"/>
          <a:chExt cx="0" cy="0"/>
        </a:xfrm>
      </p:grpSpPr>
      <p:sp>
        <p:nvSpPr>
          <p:cNvPr id="2" name="Shape 0"/>
          <p:cNvSpPr/>
          <p:nvPr/>
        </p:nvSpPr>
        <p:spPr>
          <a:xfrm rot="-1500000">
            <a:off x="6400800" y="182880"/>
            <a:ext cx="2926080" cy="0"/>
          </a:xfrm>
          <a:prstGeom prst="line">
            <a:avLst/>
          </a:prstGeom>
          <a:noFill/>
          <a:ln w="25400">
            <a:solidFill>
              <a:srgbClr val="C8A962"/>
            </a:solidFill>
            <a:prstDash val="solid"/>
          </a:ln>
        </p:spPr>
        <p:txBody>
          <a:bodyPr/>
          <a:lstStyle/>
          <a:p>
            <a:endParaRPr lang="en-VN"/>
          </a:p>
        </p:txBody>
      </p:sp>
      <p:sp>
        <p:nvSpPr>
          <p:cNvPr id="3" name="Shape 1"/>
          <p:cNvSpPr/>
          <p:nvPr/>
        </p:nvSpPr>
        <p:spPr>
          <a:xfrm rot="-1500000">
            <a:off x="6858000" y="0"/>
            <a:ext cx="2926080" cy="0"/>
          </a:xfrm>
          <a:prstGeom prst="line">
            <a:avLst/>
          </a:prstGeom>
          <a:noFill/>
          <a:ln w="12700">
            <a:solidFill>
              <a:srgbClr val="C8A962"/>
            </a:solidFill>
            <a:prstDash val="solid"/>
          </a:ln>
        </p:spPr>
        <p:txBody>
          <a:bodyPr/>
          <a:lstStyle/>
          <a:p>
            <a:endParaRPr lang="en-VN"/>
          </a:p>
        </p:txBody>
      </p:sp>
      <p:sp>
        <p:nvSpPr>
          <p:cNvPr id="4" name="Shape 2"/>
          <p:cNvSpPr/>
          <p:nvPr/>
        </p:nvSpPr>
        <p:spPr>
          <a:xfrm rot="-1500000">
            <a:off x="182880" y="4206240"/>
            <a:ext cx="2743200" cy="0"/>
          </a:xfrm>
          <a:prstGeom prst="line">
            <a:avLst/>
          </a:prstGeom>
          <a:noFill/>
          <a:ln w="25400">
            <a:solidFill>
              <a:srgbClr val="C8A962"/>
            </a:solidFill>
            <a:prstDash val="solid"/>
          </a:ln>
        </p:spPr>
        <p:txBody>
          <a:bodyPr/>
          <a:lstStyle/>
          <a:p>
            <a:endParaRPr lang="en-VN"/>
          </a:p>
        </p:txBody>
      </p:sp>
      <p:sp>
        <p:nvSpPr>
          <p:cNvPr id="5" name="Text 3"/>
          <p:cNvSpPr/>
          <p:nvPr/>
        </p:nvSpPr>
        <p:spPr>
          <a:xfrm>
            <a:off x="731520" y="731520"/>
            <a:ext cx="7680960" cy="731520"/>
          </a:xfrm>
          <a:prstGeom prst="rect">
            <a:avLst/>
          </a:prstGeom>
          <a:noFill/>
          <a:ln/>
        </p:spPr>
        <p:txBody>
          <a:bodyPr wrap="square" rtlCol="0" anchor="ctr"/>
          <a:lstStyle/>
          <a:p>
            <a:pPr marL="0" indent="0">
              <a:buNone/>
            </a:pPr>
            <a:r>
              <a:rPr lang="en-US" sz="3600" b="1" dirty="0">
                <a:solidFill>
                  <a:srgbClr val="FFFFFF"/>
                </a:solidFill>
                <a:latin typeface="Arial" pitchFamily="34" charset="0"/>
                <a:ea typeface="Arial" pitchFamily="34" charset="-122"/>
                <a:cs typeface="Arial" pitchFamily="34" charset="-120"/>
              </a:rPr>
              <a:t>Kết Luận</a:t>
            </a:r>
            <a:endParaRPr lang="en-US" sz="3600" dirty="0"/>
          </a:p>
        </p:txBody>
      </p:sp>
      <p:sp>
        <p:nvSpPr>
          <p:cNvPr id="6" name="Shape 4"/>
          <p:cNvSpPr/>
          <p:nvPr/>
        </p:nvSpPr>
        <p:spPr>
          <a:xfrm>
            <a:off x="731520" y="1463040"/>
            <a:ext cx="1828800" cy="0"/>
          </a:xfrm>
          <a:prstGeom prst="line">
            <a:avLst/>
          </a:prstGeom>
          <a:noFill/>
          <a:ln w="38100">
            <a:solidFill>
              <a:srgbClr val="C8A962"/>
            </a:solidFill>
            <a:prstDash val="solid"/>
          </a:ln>
        </p:spPr>
        <p:txBody>
          <a:bodyPr/>
          <a:lstStyle/>
          <a:p>
            <a:endParaRPr lang="en-VN"/>
          </a:p>
        </p:txBody>
      </p:sp>
      <p:sp>
        <p:nvSpPr>
          <p:cNvPr id="7" name="Text 5"/>
          <p:cNvSpPr/>
          <p:nvPr/>
        </p:nvSpPr>
        <p:spPr>
          <a:xfrm>
            <a:off x="731520" y="1645920"/>
            <a:ext cx="5029200" cy="1097280"/>
          </a:xfrm>
          <a:prstGeom prst="rect">
            <a:avLst/>
          </a:prstGeom>
          <a:noFill/>
          <a:ln/>
        </p:spPr>
        <p:txBody>
          <a:bodyPr wrap="square" rtlCol="0" anchor="ctr"/>
          <a:lstStyle/>
          <a:p>
            <a:pPr marL="0" indent="0">
              <a:lnSpc>
                <a:spcPct val="150000"/>
              </a:lnSpc>
              <a:buNone/>
            </a:pPr>
            <a:r>
              <a:rPr lang="en-US" sz="1400" dirty="0">
                <a:solidFill>
                  <a:srgbClr val="FFFFFF"/>
                </a:solidFill>
                <a:latin typeface="Arial" pitchFamily="34" charset="0"/>
                <a:ea typeface="Arial" pitchFamily="34" charset="-122"/>
                <a:cs typeface="Arial" pitchFamily="34" charset="-120"/>
              </a:rPr>
              <a:t>Tiên Phong CDS cam kết mang đến giải pháp Hub Integration hiện đại, giúp Novagroup kết nối toàn bộ hệ sinh thái số, tối ưu hóa vận hành, và tạo nền tảng vững chắc cho chiến lược chuyển đổi số dài hạn.</a:t>
            </a:r>
            <a:endParaRPr lang="en-US" sz="1400" dirty="0"/>
          </a:p>
        </p:txBody>
      </p:sp>
      <p:sp>
        <p:nvSpPr>
          <p:cNvPr id="8" name="Text 6"/>
          <p:cNvSpPr/>
          <p:nvPr/>
        </p:nvSpPr>
        <p:spPr>
          <a:xfrm>
            <a:off x="731520" y="3017520"/>
            <a:ext cx="4572000" cy="365760"/>
          </a:xfrm>
          <a:prstGeom prst="rect">
            <a:avLst/>
          </a:prstGeom>
          <a:noFill/>
          <a:ln/>
        </p:spPr>
        <p:txBody>
          <a:bodyPr wrap="square" rtlCol="0" anchor="ctr"/>
          <a:lstStyle/>
          <a:p>
            <a:pPr marL="0" indent="0">
              <a:buNone/>
            </a:pPr>
            <a:r>
              <a:rPr lang="en-US" sz="1400" b="1" dirty="0">
                <a:solidFill>
                  <a:srgbClr val="C8A962"/>
                </a:solidFill>
                <a:latin typeface="Arial" pitchFamily="34" charset="0"/>
                <a:ea typeface="Arial" pitchFamily="34" charset="-122"/>
                <a:cs typeface="Arial" pitchFamily="34" charset="-120"/>
              </a:rPr>
              <a:t>Thông tin liên hệ</a:t>
            </a:r>
            <a:endParaRPr lang="en-US" sz="1400" dirty="0"/>
          </a:p>
        </p:txBody>
      </p:sp>
      <p:sp>
        <p:nvSpPr>
          <p:cNvPr id="9" name="Text 7"/>
          <p:cNvSpPr/>
          <p:nvPr/>
        </p:nvSpPr>
        <p:spPr>
          <a:xfrm>
            <a:off x="731520" y="3383280"/>
            <a:ext cx="4572000" cy="914400"/>
          </a:xfrm>
          <a:prstGeom prst="rect">
            <a:avLst/>
          </a:prstGeom>
          <a:noFill/>
          <a:ln/>
        </p:spPr>
        <p:txBody>
          <a:bodyPr wrap="square" rtlCol="0" anchor="ctr"/>
          <a:lstStyle/>
          <a:p>
            <a:pPr marL="0" indent="0">
              <a:lnSpc>
                <a:spcPct val="150000"/>
              </a:lnSpc>
              <a:buNone/>
            </a:pPr>
            <a:r>
              <a:rPr lang="en-US" sz="1200" dirty="0">
                <a:solidFill>
                  <a:srgbClr val="FFFFFF"/>
                </a:solidFill>
                <a:latin typeface="Arial" pitchFamily="34" charset="0"/>
                <a:ea typeface="Arial" pitchFamily="34" charset="-122"/>
                <a:cs typeface="Arial" pitchFamily="34" charset="-120"/>
              </a:rPr>
              <a:t>+84 975 286 868</a:t>
            </a:r>
            <a:endParaRPr lang="en-US" sz="1200" dirty="0"/>
          </a:p>
          <a:p>
            <a:pPr marL="0" indent="0">
              <a:lnSpc>
                <a:spcPct val="150000"/>
              </a:lnSpc>
              <a:buNone/>
            </a:pPr>
            <a:r>
              <a:rPr lang="en-US" sz="1200" dirty="0">
                <a:solidFill>
                  <a:srgbClr val="FFFFFF"/>
                </a:solidFill>
                <a:latin typeface="Arial" pitchFamily="34" charset="0"/>
                <a:ea typeface="Arial" pitchFamily="34" charset="-122"/>
                <a:cs typeface="Arial" pitchFamily="34" charset="-120"/>
              </a:rPr>
              <a:t>info@tienphongcds.com</a:t>
            </a:r>
            <a:endParaRPr lang="en-US" sz="1200" dirty="0"/>
          </a:p>
          <a:p>
            <a:pPr marL="0" indent="0">
              <a:lnSpc>
                <a:spcPct val="150000"/>
              </a:lnSpc>
              <a:buNone/>
            </a:pPr>
            <a:r>
              <a:rPr lang="en-US" sz="1200" dirty="0">
                <a:solidFill>
                  <a:srgbClr val="FFFFFF"/>
                </a:solidFill>
                <a:latin typeface="Arial" pitchFamily="34" charset="0"/>
                <a:ea typeface="Arial" pitchFamily="34" charset="-122"/>
                <a:cs typeface="Arial" pitchFamily="34" charset="-120"/>
              </a:rPr>
              <a:t>164 Nguyễn Văn Thương, Bình Thạnh, TP.HCM</a:t>
            </a:r>
            <a:endParaRPr lang="en-US" sz="1200" dirty="0"/>
          </a:p>
        </p:txBody>
      </p:sp>
      <p:sp>
        <p:nvSpPr>
          <p:cNvPr id="10" name="Shape 8"/>
          <p:cNvSpPr/>
          <p:nvPr/>
        </p:nvSpPr>
        <p:spPr>
          <a:xfrm>
            <a:off x="0" y="4937760"/>
            <a:ext cx="9144000" cy="205740"/>
          </a:xfrm>
          <a:prstGeom prst="rect">
            <a:avLst/>
          </a:prstGeom>
          <a:solidFill>
            <a:srgbClr val="C8A962"/>
          </a:solidFill>
          <a:ln/>
        </p:spPr>
        <p:txBody>
          <a:bodyPr/>
          <a:lstStyle/>
          <a:p>
            <a:endParaRPr lang="en-VN"/>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2256</Words>
  <Application>Microsoft Macintosh PowerPoint</Application>
  <PresentationFormat>On-screen Show (16:9)</PresentationFormat>
  <Paragraphs>415</Paragraphs>
  <Slides>19</Slides>
  <Notes>19</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19</vt:i4>
      </vt:variant>
    </vt:vector>
  </HeadingPairs>
  <TitlesOfParts>
    <vt:vector size="21"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Đề Xuất Giải Pháp Hub Integration - Novagroup</dc:title>
  <dc:subject>PptxGenJS Presentation</dc:subject>
  <dc:creator>Tiên Phong CDS</dc:creator>
  <cp:lastModifiedBy>Đạt Trần Tiến</cp:lastModifiedBy>
  <cp:revision>1</cp:revision>
  <dcterms:created xsi:type="dcterms:W3CDTF">2026-03-12T07:10:28Z</dcterms:created>
  <dcterms:modified xsi:type="dcterms:W3CDTF">2026-03-12T07:11:28Z</dcterms:modified>
</cp:coreProperties>
</file>