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9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F5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9144000" cy="36576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76809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7" name="Shape 5"/>
          <p:cNvSpPr/>
          <p:nvPr/>
        </p:nvSpPr>
        <p:spPr>
          <a:xfrm>
            <a:off x="731520" y="1188720"/>
            <a:ext cx="91440" cy="256032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BÁO CÁO TIẾN ĐỘ CÔNG VIỆC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2011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DỰA THEO LỘ TRÌNH CÔNG VIỆC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1097280" y="2651760"/>
            <a:ext cx="2743200" cy="0"/>
          </a:xfrm>
          <a:prstGeom prst="line">
            <a:avLst/>
          </a:prstGeom>
          <a:noFill/>
          <a:ln w="254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1097280" y="274320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án: Vietnam's Food Map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97280" y="31089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báo cáo: 12/03/2026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4297680"/>
            <a:ext cx="9144000" cy="36576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0" y="4334256"/>
            <a:ext cx="9144000" cy="809244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ty Cổ phần Tiên Phong CDS  |  Hiệp hội Văn hóa Ẩm thực Việt Nam (VCCA)</a:t>
            </a:r>
            <a:endParaRPr lang="en-US" sz="11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931C248-8EED-6E20-C81A-C80A8B1266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06277"/>
            <a:ext cx="1771650" cy="4349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F367C5-79E6-C099-1562-ADC551B76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200" y="292608"/>
            <a:ext cx="1432560" cy="563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 DỰ ÁN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73152" cy="5486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731520" y="10972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Dự án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77440" y="1097280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Nền tảng Bản Đồ Ẩm Thực Việt Nam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2" name="Shape 10"/>
          <p:cNvSpPr/>
          <p:nvPr/>
        </p:nvSpPr>
        <p:spPr>
          <a:xfrm>
            <a:off x="457200" y="1755648"/>
            <a:ext cx="73152" cy="5486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3" name="Text 11"/>
          <p:cNvSpPr/>
          <p:nvPr/>
        </p:nvSpPr>
        <p:spPr>
          <a:xfrm>
            <a:off x="731520" y="17556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Bắt đầu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77440" y="1755648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01/03/2025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8229600" cy="54864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6" name="Shape 14"/>
          <p:cNvSpPr/>
          <p:nvPr/>
        </p:nvSpPr>
        <p:spPr>
          <a:xfrm>
            <a:off x="457200" y="2414016"/>
            <a:ext cx="73152" cy="5486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731520" y="241401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bên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77440" y="2414016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+ VCCA + Vietravel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072384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0" name="Shape 18"/>
          <p:cNvSpPr/>
          <p:nvPr/>
        </p:nvSpPr>
        <p:spPr>
          <a:xfrm>
            <a:off x="457200" y="3072384"/>
            <a:ext cx="73152" cy="5486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1" name="Text 19"/>
          <p:cNvSpPr/>
          <p:nvPr/>
        </p:nvSpPr>
        <p:spPr>
          <a:xfrm>
            <a:off x="731520" y="307238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Mô hình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377440" y="3072384"/>
            <a:ext cx="6126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 (chia sẻ doanh thu 3 năm)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4 giai đoạn: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160520"/>
            <a:ext cx="1920240" cy="411480"/>
          </a:xfrm>
          <a:prstGeom prst="rect">
            <a:avLst/>
          </a:prstGeom>
          <a:solidFill>
            <a:srgbClr val="2E7D32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Nền Tảng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77440" y="41605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606040" y="4160520"/>
            <a:ext cx="1920240" cy="411480"/>
          </a:xfrm>
          <a:prstGeom prst="rect">
            <a:avLst/>
          </a:prstGeom>
          <a:solidFill>
            <a:srgbClr val="E6510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8" name="Text 26"/>
          <p:cNvSpPr/>
          <p:nvPr/>
        </p:nvSpPr>
        <p:spPr>
          <a:xfrm>
            <a:off x="260604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Xây Dựng Cộng Đồng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26280" y="41605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754880" y="4160520"/>
            <a:ext cx="1920240" cy="411480"/>
          </a:xfrm>
          <a:prstGeom prst="rect">
            <a:avLst/>
          </a:prstGeom>
          <a:solidFill>
            <a:srgbClr val="C6282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475488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Rộng Hệ Sinh Thái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75120" y="41605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903720" y="4160520"/>
            <a:ext cx="1920240" cy="411480"/>
          </a:xfrm>
          <a:prstGeom prst="rect">
            <a:avLst/>
          </a:prstGeom>
          <a:solidFill>
            <a:srgbClr val="C62828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4" name="Text 32"/>
          <p:cNvSpPr/>
          <p:nvPr/>
        </p:nvSpPr>
        <p:spPr>
          <a:xfrm>
            <a:off x="6903720" y="41605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Hệ Thống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TIẾN ĐỘ THEO GIAI ĐOẠN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0175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Giai đoạn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Tiến độ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Trạng thái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Ghi chú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Giai đoạn 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 Nền Tảng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Hoàn thành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Đã nghiệm thu 25/03/2025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Giai đoạn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Xây Dựng Cộng Đồng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Đang triển khai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hoàn thành, 5 đang phát triển, 4 tồn đọng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Giai đoạn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Mở Rộng Hệ Sinh Thái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triển khai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Bị ảnh hưởng bởi Giai đoạn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Giai đoạn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Hoàn Thiện Hệ Thống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Chưa triển khai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Bị ảnh hưởng bởi các giai đoạn trước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1: SETUP NỀN TẢNG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0" y="1828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7315200" y="182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nghiệm thu theo Biên bản nghiệm thu ký ngày 25/03/2025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1" name="Text 9"/>
          <p:cNvSpPr/>
          <p:nvPr/>
        </p:nvSpPr>
        <p:spPr>
          <a:xfrm>
            <a:off x="548640" y="14630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146304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Vietnam's Food Map &amp; Food Guide (Web/App/Admin)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01952"/>
            <a:ext cx="82296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548640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190195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Quyền lợi nhà tài trợ + Gắn banner lên các trang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340864"/>
            <a:ext cx="8229600" cy="36576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7" name="Text 15"/>
          <p:cNvSpPr/>
          <p:nvPr/>
        </p:nvSpPr>
        <p:spPr>
          <a:xfrm>
            <a:off x="548640" y="2340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2340864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tin tức &amp; Quản lý sự kiện ẩm thực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2779776"/>
            <a:ext cx="82296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548640" y="2779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2779776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hệ thống &amp; Tối ưu hiệu suất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18688"/>
            <a:ext cx="8229600" cy="36576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548640" y="32186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218688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bị dữ liệu &amp; Triển khai nội dung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54864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05840" y="3657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&amp; Đào tạo sử dụng hệ thống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096512"/>
            <a:ext cx="8229600" cy="36576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9" name="Text 27"/>
          <p:cNvSpPr/>
          <p:nvPr/>
        </p:nvSpPr>
        <p:spPr>
          <a:xfrm>
            <a:off x="548640" y="40965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09651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&amp; Kế hoạch Launching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GĐ2 HOÀN THÀNH: TRANG CHỦ VIETNAM FOODMAP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98080" y="1828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7498080" y="182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2 - Thiết lập nền tảng &amp; Chuẩn hóa tiêu chuẩn  |  Hoàn thành 13/04/2025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3931920" cy="310896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73152" cy="3108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73152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đích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17830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trực quan giúp người dùng tiếp cận nhanh các tính năng, thông tin nổi bật và quảng bá đối tác, nhà tài trợ.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2377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 sử dụng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26974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dùng cuối, nhà hàng, tổ chức ẩm thực, nhà tài trợ, đối tác thương hiệu.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200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mang lại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Tăng tương tác, truy cập nhanh sự kiện/tin tức/món ăn, nâng cao hiệu quả quảng cáo nhà tài trợ.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14173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Tính năng đã triển khai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1828800"/>
            <a:ext cx="39319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4800600" y="182880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120640" y="18288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Banner giới thiệu &amp; quảng cáo nhà tài trợ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176272"/>
            <a:ext cx="3931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4800600" y="217627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20640" y="217627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tìm kiếm thông minh (món ăn, địa điểm, nhà hàng)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523744"/>
            <a:ext cx="39319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4800600" y="252374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252374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mục chức năng: Bản đồ, Cẩm nang, Sự kiện, Tin tức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871216"/>
            <a:ext cx="3931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9" name="Text 27"/>
          <p:cNvSpPr/>
          <p:nvPr/>
        </p:nvSpPr>
        <p:spPr>
          <a:xfrm>
            <a:off x="4800600" y="2871216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120640" y="2871216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Khối sự kiện sắp diễn ra + đếm ngược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218688"/>
            <a:ext cx="39319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4800600" y="3218688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20640" y="3218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 tức ẩm thực cập nhật liên tục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566160"/>
            <a:ext cx="3931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5" name="Text 33"/>
          <p:cNvSpPr/>
          <p:nvPr/>
        </p:nvSpPr>
        <p:spPr>
          <a:xfrm>
            <a:off x="4800600" y="3566160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120640" y="356616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Thanh điều hướng (Home Bar) rút gọn 5 mục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3913632"/>
            <a:ext cx="3931920" cy="292608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8" name="Text 36"/>
          <p:cNvSpPr/>
          <p:nvPr/>
        </p:nvSpPr>
        <p:spPr>
          <a:xfrm>
            <a:off x="4800600" y="3913632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3913632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Banner động thay thế khối tin tức tĩnh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261104"/>
            <a:ext cx="3931920" cy="292608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1" name="Text 39"/>
          <p:cNvSpPr/>
          <p:nvPr/>
        </p:nvSpPr>
        <p:spPr>
          <a:xfrm>
            <a:off x="4800600" y="4261104"/>
            <a:ext cx="274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120640" y="426110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Khối "Gợi ý hấp dẫn" &amp; "Địa điểm gợi ý"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GĐ2 HOÀN THÀNH: BẢN ĐỒ ẨM THỰC TOÀN QUỐC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98080" y="1828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7498080" y="182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3 - Phát triển Bản đồ ẩm thực nâng cao  |  Hoàn thành 15/08/2025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417320"/>
            <a:ext cx="3931920" cy="155448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1" name="Shape 9"/>
          <p:cNvSpPr/>
          <p:nvPr/>
        </p:nvSpPr>
        <p:spPr>
          <a:xfrm>
            <a:off x="457200" y="1417320"/>
            <a:ext cx="73152" cy="1554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73152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tương tác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17830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Bản đồ toàn bộ Việt Nam với 34 tỉnh/thành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31520" y="20025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Label tên tỉnh chuẩn hóa + Tooltip món đặc trưng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" y="22219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Click tỉnh → phóng to, viền sáng, xem chi tiết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31520" y="2441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Hover → hiện tooltip tên món đặc sản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2660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Auto-highlight vòng lặp mỗi 5-10 giây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108960"/>
            <a:ext cx="3931920" cy="141732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73152" cy="14173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73152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người dùng (Onboarding)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Lần đầu: Chọn ngôn ngữ (VN/EN) + cấp quyền định vị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31520" y="37124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Video Intro giới thiệu 10-15 giây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31520" y="3950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Lần sau: Bỏ qua, vào thẳng bản đồ chính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31520" y="41879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Splash screen 1-2s khi truy cập lại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1417320"/>
            <a:ext cx="3931920" cy="1554480"/>
          </a:xfrm>
          <a:prstGeom prst="rect">
            <a:avLst/>
          </a:prstGeom>
          <a:solidFill>
            <a:srgbClr val="FFF3E0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6" name="Shape 24"/>
          <p:cNvSpPr/>
          <p:nvPr/>
        </p:nvSpPr>
        <p:spPr>
          <a:xfrm>
            <a:off x="4754880" y="1417320"/>
            <a:ext cx="73152" cy="15544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7" name="Text 25"/>
          <p:cNvSpPr/>
          <p:nvPr/>
        </p:nvSpPr>
        <p:spPr>
          <a:xfrm>
            <a:off x="5029200" y="14630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dưới bản đồ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17830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Gợi ý hấp dẫn: Món nổi bật, tìm kiếm nhiều, nghệ nhân tiêu biểu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029200" y="20025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Slide Banner: Sự kiện, món ăn nổi bật, hoạt động đặc sắc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029200" y="22219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Địa điểm gợi ý: Từ nghệ nhân &amp; curated bởi VCCA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0" y="24414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Sự kiện nổi bật: Đang diễn ra + sắp tới (countdown)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0" y="26609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Nút "Xem chi tiết" &amp; "Đăng ký tham gia"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3108960"/>
            <a:ext cx="3931920" cy="141732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4" name="Shape 32"/>
          <p:cNvSpPr/>
          <p:nvPr/>
        </p:nvSpPr>
        <p:spPr>
          <a:xfrm>
            <a:off x="4754880" y="3108960"/>
            <a:ext cx="73152" cy="141732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5" name="Text 33"/>
          <p:cNvSpPr/>
          <p:nvPr/>
        </p:nvSpPr>
        <p:spPr>
          <a:xfrm>
            <a:off x="5029200" y="3154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Hiệu ứng &amp; Tìm kiếm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29200" y="347472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Âm thanh nhẹ nhàng: xèo xèo, lửa, dao thớt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0" y="37124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Zoom in/out trên mobile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0" y="395020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Tìm kiếm nhanh: Món ăn, Địa điểm, Nhà hàng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0" y="41879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Màu nền &amp; hiệu ứng theo vùng miền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GĐ2 HOÀN THÀNH: CMS NỘI BỘ &amp; CẨM NANG ẨM THỰC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498080" y="1828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7498080" y="18288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thành CMS: 08/09/2025  |  Cẩm nang ẩm thực (Module 4): Giai đoạn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Hệ thống CMS quản trị nội bộ — 7 phân hệ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4023360" cy="45720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502920" y="1783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Món ăn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CRUD, phân loại, hình ảnh, video, trạng thái duyệt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502920" y="2331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Nghệ nhân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Hồ sơ, cấp bậc, chứng nhận, liên kết nhà hàng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4023360" cy="45720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502920" y="2880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Nhà hàng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4028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tin, vị trí bản đồ, thực đơn, đánh giá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4" name="Text 22"/>
          <p:cNvSpPr/>
          <p:nvPr/>
        </p:nvSpPr>
        <p:spPr>
          <a:xfrm>
            <a:off x="502920" y="3429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3429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Phiếu đề xuất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24028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 nhận đề xuất món ăn, quy trình duyệt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783080"/>
            <a:ext cx="4023360" cy="45720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8" name="Text 26"/>
          <p:cNvSpPr/>
          <p:nvPr/>
        </p:nvSpPr>
        <p:spPr>
          <a:xfrm>
            <a:off x="4800600" y="17830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74920" y="17830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Bài viết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1783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Blog, công thức, câu chuyện văn hóa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233172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4800600" y="23317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74920" y="23317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Tin tức/Sự kiện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3796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tin, lịch sự kiện, đăng ký tham gia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880360"/>
            <a:ext cx="4023360" cy="45720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6" name="Text 34"/>
          <p:cNvSpPr/>
          <p:nvPr/>
        </p:nvSpPr>
        <p:spPr>
          <a:xfrm>
            <a:off x="4800600" y="2880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074920" y="28803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Video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537960" y="28803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Upload, phân loại, nhúng, kiểm duyệt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3840480"/>
            <a:ext cx="8229600" cy="6858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40" name="Shape 38"/>
          <p:cNvSpPr/>
          <p:nvPr/>
        </p:nvSpPr>
        <p:spPr>
          <a:xfrm>
            <a:off x="457200" y="3840480"/>
            <a:ext cx="73152" cy="6858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41" name="Text 39"/>
          <p:cNvSpPr/>
          <p:nvPr/>
        </p:nvSpPr>
        <p:spPr>
          <a:xfrm>
            <a:off x="73152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Cẩm nang ẩm thực (Module 4)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31520" y="41330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Danh sách món đề xuất • Chi tiết món ăn (nguyên liệu, công thức, các bước) • Đánh giá chuyên gia • Câu chuyện văn hóa nguồn gốc • Video hướng dẫn chế biến • Chia sẻ, yêu thích, đánh giá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GĐ2 ĐANG TRIỂN KHAI: TỔNG QUAN 5 HẠNG MỤC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theo tài liệu Tổng quan Hệ sinh thái Vietnam's Food Map (MSTR v5.0)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310896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Hạng mục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Tiến độ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Đã triển khai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Tồn đọng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Đề xuất món ăn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&amp; Form nhà hàng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 nhập liệu, thông tin chi tiết, ảnh/video, quy trình đề xuất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Hạng mục đề cử đa cấp (huyện, tỉnh, TW, UNESCO)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Bản đồ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địa phương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Bản đồ chi tiết tỉnh, tìm kiếm địa điểm, chi tiết quán ăn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Địa điểm nghệ nhân đề xuất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Đánh giá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món ăn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7-8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scoring tổng quan + chi tiết, phân tích 9 khía cạnh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Kiểm tra chính tả, đạo văn, trùng lặp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ReviewHub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6282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Khung đăng ký, upload video, video dọc TikTok style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Bộ lọc, Thumbnail, Gợi ý video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Nghệ nhân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Module 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Danh sách, hồ sơ chi tiết, video, bộ lọc, chứng chỉ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Tính năng đặt lịch (Booking)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TIẾT: ĐỀ XUẤT MÓN ĂN &amp; BẢN ĐỒ ĐỊA PHƯƠNG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64008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Đề xuất món ăn lên Foodmap (Module 1)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10058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triển khai: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783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Form nhập: Tên món, nguyên liệu, gia vị, cách chế biến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039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Nguồn gốc, câu chuyện &amp; giá trị văn hóa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295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Ảnh đại diện + Bộ sưu tập hình ảnh minh họa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2551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Video hướng dẫn chế biến (nếu có)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807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Quy trình gửi → chuyên gia đánh giá → duyệt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Thông báo trạng thái đề xuất cho người dùng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3383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Tồn đọng: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Hệ thống đề cử đa cấp: Cá nhân → Huyện → Tỉnh → TW → UNESCO → Toàn cầu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95020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Form nhập thông tin làng nghề/nhà hàng nâng cao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931920" cy="3520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4937760" y="10058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Bản đồ địa phương chi tiết (Module 9)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772400" y="10058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15087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triển khai: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17830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Bản đồ chi tiết khi chọn tỉnh từ bản đồ tổng thể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937760" y="203911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Danh sách nhà hàng/quán ăn trên bản đồ (icon)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37760" y="22951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Tìm kiếm món ăn/địa điểm trong khu vực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37760" y="25511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Chi tiết: tên, địa chỉ, ảnh, đánh giá, SĐT, giờ mở cửa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37760" y="280720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Xem thực đơn, chỉ đường (Google Maps)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3063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Đánh giá &amp; lưu địa điểm yêu thích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37760" y="33192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Tin tức/sự kiện + Đặc sản địa phương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0" y="36118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Tồn đọng: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8862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Địa điểm được nghệ nhân đề xuất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414223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Đặt xe (xe máy, ô tô) trực tiếp từ bản đồ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TIẾT: REVIEWHUB — CỘNG ĐỒNG REVIEW ẨM THỰC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6  |  Tiến độ: 50%  |  Đối tượng: End User, Reviewer, KOL/KOC, Nhà sáng tạo nội dung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315468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73152" cy="31546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triển khai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Giao diện video dọc (Full-screen TikTok style)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31520" y="1993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Vuốt/lướt dọc xem video kế tiếp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249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Chi tiết video: caption, thẻ tag, lượt thích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505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Bình luận, chia sẻ, bày tỏ cảm xúc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7614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Tích hợp hiển thị món ăn liên quan + giá bán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31520" y="30175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Nút mua hàng trực tiếp từ video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2735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Giao diện upload video + tiêu đề/nội dung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5295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Liên kết món ăn khi đăng video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7856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Hồ sơ reviewer: thống kê like, follower, bài đăng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0416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Follow reviewer + danh sách video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3931920" cy="1371600"/>
          </a:xfrm>
          <a:prstGeom prst="rect">
            <a:avLst/>
          </a:prstGeom>
          <a:solidFill>
            <a:srgbClr val="FFEB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73152" cy="137160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3" name="Text 21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Tồn đọng cần hoàn thiện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0" y="1737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Bộ lọc: "Nổi bật", "Xem nhiều", "Đã follow"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0" y="197510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Thumbnail tự động cho video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0" y="221284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Gợi ý video liên quan cho người dùng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24505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Tìm kiếm gần đây + món ăn liên quan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2926080"/>
            <a:ext cx="3931920" cy="160020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4754880" y="2926080"/>
            <a:ext cx="73152" cy="160020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0" name="Text 28"/>
          <p:cNvSpPr/>
          <p:nvPr/>
        </p:nvSpPr>
        <p:spPr>
          <a:xfrm>
            <a:off x="5029200" y="2971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Giá trị kinh doanh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0" y="329184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Tăng tương tác &amp; lan tỏa nội dung ẩm thực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029200" y="35295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Cơ hội kiếm tiền cho KOL/KOC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0" y="3767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Thương mại hóa video: mua nguyên liệu, đặt món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0" y="400507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Nền tảng "Chi hội Review ẩm thực" của VCCA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0" y="424281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Kết nối người dùng ↔ địa điểm ↔ món ăn trực quan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TIẾT: AI ĐÁNH GIÁ MÓN ĂN (TỔNG QUAN &amp; CHI TIẾT)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7 + Module 8  |  Tiến độ: 70%  |  AI tự động phân tích, chấm điểm, đánh giá chuyên sâu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3931920" cy="3200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Đánh giá Tổng quan (Module 7)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7556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Điểm tổng thể: Circle Chart, tối đa 100 điểm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40080" y="19568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5 khía cạnh (0-10): Độ phức tạp, Dinh dưỡng, Sáng tạo, Khả năng thực hiện, Sức hấp dẫn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40080" y="21579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Thanh slider trực quan cho mỗi khía cạnh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40080" y="2359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AI tạo nhận xét tổng kết tự động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Lưu kết quả làm cơ sở duyệt/phê duyệt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93192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7" name="Shape 15"/>
          <p:cNvSpPr/>
          <p:nvPr/>
        </p:nvSpPr>
        <p:spPr>
          <a:xfrm>
            <a:off x="4754880" y="1371600"/>
            <a:ext cx="3931920" cy="32004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4937760" y="13716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Đánh giá Chi tiết (Module 8)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17556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Thông tin: Tên, loại, vùng miền, dân tộc, khẩu vị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0" y="195681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Nguyên liệu chính + Gia vị (loại, mức độ, phổ biến)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37760" y="215798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Hương vị cảm nhận: mùi, vị, kết cấu chi tiết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37760" y="23591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Giá trị dinh dưỡng: calo, protein, chất xơ, chất béo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Điểm tổng hợp 1-5 sao (trung bình 6 yếu tố)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57200" y="28803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khía cạnh AI phân tích chi tiết mỗi món ăn: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3931920" cy="10363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Yếu tố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tả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Nguyên liệu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Danh sách kèm số lượng, đơn vị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 vị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Loại, mức độ, độ phổ biến vùng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Độ phức tạp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1-5 sao, yêu cầu kỹ năng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Hương vị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Mùi, vị, kết cấu chi tiết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Tính độc đáo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 sánh món tương đồng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2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108960"/>
          <a:ext cx="3931920" cy="8636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Yếu tố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Mô tả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D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Dinh dưỡng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Calo, protein, chất xơ, khoáng chất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Chế biến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Các bước chi tiết, đúng giai đoạn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Giới thiệu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Đề xuất ngữ nghĩa phù hợp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Câu chuyện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Đánh giá chính tả, mạch lạc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BD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 TIẾT: NGHỆ NHÂN ẨM THỰC VIỆT NAM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10  |  Tiến độ: 80%  |  Danh bạ nghệ nhân được VCCA thẩm định &amp; chứng nhận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931920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73152" cy="31546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73152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triển khai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783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Màn hình danh sách Nghệ nhân: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0574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Danh sách với hình ảnh, tên, thông tin tóm tắt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22860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Bộ lọc: Tỉnh/Thành phố, kinh nghiệm, cấp độ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251460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Sắp xếp A-Z, theo kinh nghiệm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31520" y="28346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Màn hình chi tiết Nghệ nhân: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108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Thông tin cá nhân + Tiểu sử chi tiết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3375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Video giới thiệu nghệ nhân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5661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Chứng chỉ / Bằng cấp đã đạt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31520" y="3794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Kinh nghiệm làm việc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023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Đánh giá (review) từ cộng đồng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42519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Nhà hàng / Món ăn do nghệ nhân đề xuất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54880" y="1371600"/>
            <a:ext cx="3931920" cy="1508760"/>
          </a:xfrm>
          <a:prstGeom prst="rect">
            <a:avLst/>
          </a:prstGeom>
          <a:solidFill>
            <a:srgbClr val="E3F2FD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4754880" y="1371600"/>
            <a:ext cx="73152" cy="150876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4" name="Text 22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 sử dụng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Nhà hàng, khách sạn: Tư vấn, xây dựng thực đơn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029200" y="1993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Tổ chức sự kiện: Mời giám khảo, diễn giả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2249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Cá nhân, gia đình: Đầu bếp riêng, lớp nấu ăn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029200" y="25054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Nhãn hàng F&amp;B: Đại diện, cố vấn, quảng bá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54880" y="3063240"/>
            <a:ext cx="3931920" cy="1463040"/>
          </a:xfrm>
          <a:prstGeom prst="rect">
            <a:avLst/>
          </a:prstGeom>
          <a:solidFill>
            <a:srgbClr val="FFEB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0" name="Shape 28"/>
          <p:cNvSpPr/>
          <p:nvPr/>
        </p:nvSpPr>
        <p:spPr>
          <a:xfrm>
            <a:off x="4754880" y="3063240"/>
            <a:ext cx="73152" cy="14630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1" name="Text 29"/>
          <p:cNvSpPr/>
          <p:nvPr/>
        </p:nvSpPr>
        <p:spPr>
          <a:xfrm>
            <a:off x="5029200" y="3108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Tồn đọng: Tính năng Booking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429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Nút "Liên Hệ Booking" nổi bật trên trang chi tiết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29200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Biểu mẫu: Họ tên, SĐT, Email, nội dung yêu cầu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29200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Hệ thống gửi thông tin đến nghệ nhân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0" y="41970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Nghệ nhân chủ động liên hệ lại người dùng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2: HẠNG MỤC TỒN ĐỌNG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bắt đầu (0%)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931920" cy="411480"/>
          </a:xfrm>
          <a:prstGeom prst="rect">
            <a:avLst/>
          </a:prstGeom>
          <a:solidFill>
            <a:srgbClr val="FFEB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548640" y="146304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14630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chỉnh thiết kế theo layout mới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965960"/>
            <a:ext cx="3931920" cy="411480"/>
          </a:xfrm>
          <a:prstGeom prst="rect">
            <a:avLst/>
          </a:prstGeom>
          <a:solidFill>
            <a:srgbClr val="FFEB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548640" y="196596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96596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Kiểm thử &amp; Triển khai chính thức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3931920" cy="411480"/>
          </a:xfrm>
          <a:prstGeom prst="rect">
            <a:avLst/>
          </a:prstGeom>
          <a:solidFill>
            <a:srgbClr val="FFEB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548640" y="2468880"/>
            <a:ext cx="320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2468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&amp; Kế hoạch Launching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triển khai (thuộc hợp đồng)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3931920" cy="411480"/>
          </a:xfrm>
          <a:prstGeom prst="rect">
            <a:avLst/>
          </a:prstGeom>
          <a:solidFill>
            <a:srgbClr val="FFEB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493776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76656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Sàn giao dịch - Tạo doanh thu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965960"/>
            <a:ext cx="3931920" cy="411480"/>
          </a:xfrm>
          <a:prstGeom prst="rect">
            <a:avLst/>
          </a:prstGeom>
          <a:solidFill>
            <a:srgbClr val="FFEB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2" name="Text 20"/>
          <p:cNvSpPr/>
          <p:nvPr/>
        </p:nvSpPr>
        <p:spPr>
          <a:xfrm>
            <a:off x="493776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Culinary Showcase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766560" y="19659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Biểu diễn ẩm thực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468880"/>
            <a:ext cx="3931920" cy="411480"/>
          </a:xfrm>
          <a:prstGeom prst="rect">
            <a:avLst/>
          </a:prstGeom>
          <a:solidFill>
            <a:srgbClr val="FFEB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493776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Nhà tài trợ &amp; Vinh danh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2468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nâng cao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971800"/>
            <a:ext cx="3931920" cy="411480"/>
          </a:xfrm>
          <a:prstGeom prst="rect">
            <a:avLst/>
          </a:prstGeom>
          <a:solidFill>
            <a:srgbClr val="FFEB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8" name="Text 26"/>
          <p:cNvSpPr/>
          <p:nvPr/>
        </p:nvSpPr>
        <p:spPr>
          <a:xfrm>
            <a:off x="493776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Chứng nhận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66560" y="2971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sách, chứng nhận ngành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3 &amp; 4: CHƯA TRIỂN KHAI (0%)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3 - Mở rộng Hệ sinh thái (01-02/2026)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08760"/>
            <a:ext cx="39319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64008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Bảo tàng ẩm thực số hóa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856232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2" name="Text 10"/>
          <p:cNvSpPr/>
          <p:nvPr/>
        </p:nvSpPr>
        <p:spPr>
          <a:xfrm>
            <a:off x="640080" y="1856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Hợp tác kinh doanh F&amp;B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03704"/>
            <a:ext cx="39319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640080" y="22037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Đầu tư &amp; Khởi nghiệp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51176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6" name="Text 14"/>
          <p:cNvSpPr/>
          <p:nvPr/>
        </p:nvSpPr>
        <p:spPr>
          <a:xfrm>
            <a:off x="640080" y="25511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kết hợp tác liên ngành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98648"/>
            <a:ext cx="39319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8" name="Text 16"/>
          <p:cNvSpPr/>
          <p:nvPr/>
        </p:nvSpPr>
        <p:spPr>
          <a:xfrm>
            <a:off x="640080" y="2898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kết ứng dụng (API)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640080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Thị trường ẩm thực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593592"/>
            <a:ext cx="3931920" cy="2743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2" name="Text 20"/>
          <p:cNvSpPr/>
          <p:nvPr/>
        </p:nvSpPr>
        <p:spPr>
          <a:xfrm>
            <a:off x="640080" y="3593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Chuyện nghệ nhân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41064"/>
            <a:ext cx="393192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4" name="Text 22"/>
          <p:cNvSpPr/>
          <p:nvPr/>
        </p:nvSpPr>
        <p:spPr>
          <a:xfrm>
            <a:off x="640080" y="3941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dự án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8E000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6" name="Text 24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đoạn 4 - Hoàn thiện Hệ thống (02-03/2026)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1508760"/>
            <a:ext cx="3931920" cy="32004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8" name="Text 26"/>
          <p:cNvSpPr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 ân &amp; Tôn vinh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20240"/>
            <a:ext cx="39319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0" name="Text 28"/>
          <p:cNvSpPr/>
          <p:nvPr/>
        </p:nvSpPr>
        <p:spPr>
          <a:xfrm>
            <a:off x="493776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 tạo nghiệp vụ (E-learning)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2331720"/>
            <a:ext cx="3931920" cy="320040"/>
          </a:xfrm>
          <a:prstGeom prst="rect">
            <a:avLst/>
          </a:prstGeom>
          <a:solidFill>
            <a:srgbClr val="FFEBEE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2" name="Text 30"/>
          <p:cNvSpPr/>
          <p:nvPr/>
        </p:nvSpPr>
        <p:spPr>
          <a:xfrm>
            <a:off x="4937760" y="2331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tác xã hội (CSR)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54880" y="2743200"/>
            <a:ext cx="3931920" cy="3200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4" name="Text 32"/>
          <p:cNvSpPr/>
          <p:nvPr/>
        </p:nvSpPr>
        <p:spPr>
          <a:xfrm>
            <a:off x="4937760" y="2743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Grand Event kết thúc dự án (11-12/03/2026)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EBEE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6" name="Shape 34"/>
          <p:cNvSpPr/>
          <p:nvPr/>
        </p:nvSpPr>
        <p:spPr>
          <a:xfrm>
            <a:off x="457200" y="3931920"/>
            <a:ext cx="9144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7" name="Text 35"/>
          <p:cNvSpPr/>
          <p:nvPr/>
        </p:nvSpPr>
        <p:spPr>
          <a:xfrm>
            <a:off x="731520" y="39319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Lý do chậm: Giai đoạn 2 chưa hoàn thành, tạo hiệu ứng block cho toàn bộ giai đoạn 3 và 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THAY ĐỔI ẢNH HƯỞNG TIẾN ĐỘ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thay đổi lớn từ VCCA ảnh hưởng trực tiếp đến khối lượng công việc: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45720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51560" y="1371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Tái cấu trúc ReviewHub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13716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Giao diện video dọc toàn màn hình kiểu TikTok, nhúng video từ TikTok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45720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5" name="Text 13"/>
          <p:cNvSpPr/>
          <p:nvPr/>
        </p:nvSpPr>
        <p:spPr>
          <a:xfrm>
            <a:off x="457200" y="201168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0116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Thay đổi Logic Bản đồ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tỉnh thành mới, hiệu ứng âm thanh, bản đồ rung nhẹ, auto-highlight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9" name="Shape 17"/>
          <p:cNvSpPr/>
          <p:nvPr/>
        </p:nvSpPr>
        <p:spPr>
          <a:xfrm>
            <a:off x="457200" y="2651760"/>
            <a:ext cx="45720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0" name="Text 18"/>
          <p:cNvSpPr/>
          <p:nvPr/>
        </p:nvSpPr>
        <p:spPr>
          <a:xfrm>
            <a:off x="457200" y="26517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51560" y="2651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Luồng người dùng mới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83280" y="26517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Phân luồng Onboarding, Video Intro 10-15 giây, thu thập dữ liệu nhân khẩu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45720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5" name="Text 23"/>
          <p:cNvSpPr/>
          <p:nvPr/>
        </p:nvSpPr>
        <p:spPr>
          <a:xfrm>
            <a:off x="457200" y="329184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32918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Layout Trang chủ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83280" y="32918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rút gọn 5 mục, Slide Banner động, khối Gợi ý, Địa điểm, Cộng đồng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9" name="Shape 27"/>
          <p:cNvSpPr/>
          <p:nvPr/>
        </p:nvSpPr>
        <p:spPr>
          <a:xfrm>
            <a:off x="457200" y="3931920"/>
            <a:ext cx="457200" cy="548640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0" name="Text 28"/>
          <p:cNvSpPr/>
          <p:nvPr/>
        </p:nvSpPr>
        <p:spPr>
          <a:xfrm>
            <a:off x="457200" y="393192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5156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cáo &amp; Modal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383280" y="3931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Modal Video quảng cáo 5-10 giây theo vị trí, hiệu ứng thu phóng (Zoom)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B5E20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457200" y="4709160"/>
            <a:ext cx="64008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Tiên Phong CDS  |  VCCA  |  Vietnam's Food 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709160"/>
            <a:ext cx="9144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KIẾN NGHỊ VÀ ĐỀ XUẤT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41148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457200" cy="411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9" name="Text 7"/>
          <p:cNvSpPr/>
          <p:nvPr/>
        </p:nvSpPr>
        <p:spPr>
          <a:xfrm>
            <a:off x="457200" y="10058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0058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Ưu tiên hoàn thiện 5 hạng mục ra mắt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634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Map, Food Guide, Events, Sự kiện ẩm thực, ReviewHub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3" name="Shape 11"/>
          <p:cNvSpPr/>
          <p:nvPr/>
        </p:nvSpPr>
        <p:spPr>
          <a:xfrm>
            <a:off x="457200" y="1508760"/>
            <a:ext cx="457200" cy="411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4" name="Text 12"/>
          <p:cNvSpPr/>
          <p:nvPr/>
        </p:nvSpPr>
        <p:spPr>
          <a:xfrm>
            <a:off x="457200" y="15087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15087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Rà soát 15 hạng mục cho hợp đồng điều chỉnh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15087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Bổ sung hoặc giảm bớt phù hợp thực tế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18" name="Shape 16"/>
          <p:cNvSpPr/>
          <p:nvPr/>
        </p:nvSpPr>
        <p:spPr>
          <a:xfrm>
            <a:off x="457200" y="2011680"/>
            <a:ext cx="457200" cy="411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19" name="Text 17"/>
          <p:cNvSpPr/>
          <p:nvPr/>
        </p:nvSpPr>
        <p:spPr>
          <a:xfrm>
            <a:off x="457200" y="20116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20116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Chốt layout với các bên liên quan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63440" y="2011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Mr. Quang, Mr. Khánh, Mr. Chiến họp riêng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3" name="Shape 21"/>
          <p:cNvSpPr/>
          <p:nvPr/>
        </p:nvSpPr>
        <p:spPr>
          <a:xfrm>
            <a:off x="457200" y="2514600"/>
            <a:ext cx="457200" cy="411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4" name="Text 22"/>
          <p:cNvSpPr/>
          <p:nvPr/>
        </p:nvSpPr>
        <p:spPr>
          <a:xfrm>
            <a:off x="457200" y="25146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51560" y="251460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bị hồ sơ nghiệm thu Giai đoạn 2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25146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Trình qua Ms. Thúy gửi Mr. Kỳ xét duyệt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28" name="Shape 26"/>
          <p:cNvSpPr/>
          <p:nvPr/>
        </p:nvSpPr>
        <p:spPr>
          <a:xfrm>
            <a:off x="457200" y="3017520"/>
            <a:ext cx="457200" cy="411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29" name="Text 27"/>
          <p:cNvSpPr/>
          <p:nvPr/>
        </p:nvSpPr>
        <p:spPr>
          <a:xfrm>
            <a:off x="457200" y="3017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301752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Thống nhất KPI cho từng giai đoạn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63440" y="30175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tính khả thi, phân tích thị trường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3" name="Shape 31"/>
          <p:cNvSpPr/>
          <p:nvPr/>
        </p:nvSpPr>
        <p:spPr>
          <a:xfrm>
            <a:off x="457200" y="3520440"/>
            <a:ext cx="457200" cy="411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4" name="Text 32"/>
          <p:cNvSpPr/>
          <p:nvPr/>
        </p:nvSpPr>
        <p:spPr>
          <a:xfrm>
            <a:off x="457200" y="35204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1560" y="352044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Đánh giá tính khả thi thương mại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3520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Đảm bảo yếu tố thương mại và marketing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solidFill>
            <a:srgbClr val="E8F5E9"/>
          </a:solidFill>
          <a:ln/>
          <a:effectLst>
            <a:outerShdw blurRad="508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VN"/>
          </a:p>
        </p:txBody>
      </p:sp>
      <p:sp>
        <p:nvSpPr>
          <p:cNvPr id="38" name="Shape 36"/>
          <p:cNvSpPr/>
          <p:nvPr/>
        </p:nvSpPr>
        <p:spPr>
          <a:xfrm>
            <a:off x="457200" y="4023360"/>
            <a:ext cx="457200" cy="411480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9" name="Text 37"/>
          <p:cNvSpPr/>
          <p:nvPr/>
        </p:nvSpPr>
        <p:spPr>
          <a:xfrm>
            <a:off x="457200" y="40233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51560" y="40233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thiện bộ máy vận hành đề án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63440" y="40233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VCCA cử người quản lý trang quản trị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5E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sp>
        <p:nvSpPr>
          <p:cNvPr id="3" name="Text 1"/>
          <p:cNvSpPr/>
          <p:nvPr/>
        </p:nvSpPr>
        <p:spPr>
          <a:xfrm>
            <a:off x="914400" y="10972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200400" y="2286000"/>
            <a:ext cx="274320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6" name="Text 4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Vietnam's Food Map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0" y="3520440"/>
            <a:ext cx="274320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VN"/>
          </a:p>
        </p:txBody>
      </p:sp>
      <p:sp>
        <p:nvSpPr>
          <p:cNvPr id="8" name="Text 6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hệ: Nguyễn Thành Quang - Tổng Giám đốc Tiên Phong CDS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quang@tienphongcds.com  |  Điện thoại: 0985909720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62828"/>
          </a:solidFill>
          <a:ln/>
        </p:spPr>
        <p:txBody>
          <a:bodyPr/>
          <a:lstStyle/>
          <a:p>
            <a:endParaRPr lang="en-V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157B4B3-0C80-B879-78A1-BC6743900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350" y="2422525"/>
            <a:ext cx="1771650" cy="4349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1958964-E67B-2EC4-B11D-3E89E9F12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602" y="2362200"/>
            <a:ext cx="1432560" cy="5638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2908</Words>
  <Application>Microsoft Macintosh PowerPoint</Application>
  <PresentationFormat>On-screen Show (16:9)</PresentationFormat>
  <Paragraphs>411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Báo cáo Tiến độ Công việc - Vietnam's Food Map (Chi tiết)</dc:title>
  <dc:subject>PptxGenJS Presentation</dc:subject>
  <dc:creator>Tiên Phong CDS</dc:creator>
  <cp:lastModifiedBy>Đạt Trần Tiến</cp:lastModifiedBy>
  <cp:revision>3</cp:revision>
  <dcterms:created xsi:type="dcterms:W3CDTF">2026-03-12T05:26:27Z</dcterms:created>
  <dcterms:modified xsi:type="dcterms:W3CDTF">2026-03-12T05:31:27Z</dcterms:modified>
</cp:coreProperties>
</file>